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4"/>
    <p:sldId id="259" r:id="rId5"/>
    <p:sldId id="267" r:id="rId6"/>
    <p:sldId id="268" r:id="rId7"/>
    <p:sldId id="269" r:id="rId8"/>
    <p:sldId id="270" r:id="rId9"/>
    <p:sldId id="271" r:id="rId10"/>
    <p:sldId id="272" r:id="rId11"/>
    <p:sldId id="273" r:id="rId12"/>
    <p:sldId id="274" r:id="rId13"/>
    <p:sldId id="260" r:id="rId14"/>
    <p:sldId id="275" r:id="rId15"/>
    <p:sldId id="261" r:id="rId16"/>
    <p:sldId id="277" r:id="rId17"/>
    <p:sldId id="279" r:id="rId18"/>
    <p:sldId id="276" r:id="rId19"/>
    <p:sldId id="262" r:id="rId20"/>
    <p:sldId id="263" r:id="rId21"/>
    <p:sldId id="264" r:id="rId22"/>
    <p:sldId id="265" r:id="rId23"/>
    <p:sldId id="266" r:id="rId24"/>
    <p:sldId id="278"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9CF9"/>
    <a:srgbClr val="CADCF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020" y="4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7522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FC412-6D0D-5742-C779-2150B0D10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C857F-D132-E2A8-C345-11E252481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3EFD8-E8C9-7C31-FD67-CBCD89199F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31EDA-CDD6-49E6-6D5E-260496C8FEB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20254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175261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588447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AAB1-27AB-4376-E6EA-283F6CCAB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12E3B-2402-B7CD-ACA5-897FE9207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1DAEB-F48B-B215-FC8D-D3EEA0F113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358FDA-FCD1-2DE7-AFC4-961AA6BA820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96183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28495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620119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063913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020060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18953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45"/>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E2761"/>
          </a:solidFill>
          <a:ln w="12700">
            <a:solidFill>
              <a:srgbClr val="1E2761"/>
            </a:solidFill>
            <a:prstDash val="solid"/>
          </a:ln>
        </p:spPr>
        <p:txBody>
          <a:bodyPr/>
          <a:lstStyle/>
          <a:p>
            <a:endParaRPr lang="en-AU"/>
          </a:p>
        </p:txBody>
      </p:sp>
      <p:sp>
        <p:nvSpPr>
          <p:cNvPr id="3" name="Shape 1"/>
          <p:cNvSpPr/>
          <p:nvPr/>
        </p:nvSpPr>
        <p:spPr>
          <a:xfrm>
            <a:off x="3474720" y="0"/>
            <a:ext cx="64008" cy="4855464"/>
          </a:xfrm>
          <a:prstGeom prst="rect">
            <a:avLst/>
          </a:prstGeom>
          <a:solidFill>
            <a:srgbClr val="4F9CF9"/>
          </a:solidFill>
          <a:ln w="12700">
            <a:solidFill>
              <a:srgbClr val="4F9CF9"/>
            </a:solidFill>
            <a:prstDash val="solid"/>
          </a:ln>
        </p:spPr>
        <p:txBody>
          <a:bodyPr/>
          <a:lstStyle/>
          <a:p>
            <a:endParaRPr lang="en-AU"/>
          </a:p>
        </p:txBody>
      </p:sp>
      <p:sp>
        <p:nvSpPr>
          <p:cNvPr id="6" name="Text 4"/>
          <p:cNvSpPr/>
          <p:nvPr/>
        </p:nvSpPr>
        <p:spPr>
          <a:xfrm>
            <a:off x="274320" y="731520"/>
            <a:ext cx="2926080" cy="2194560"/>
          </a:xfrm>
          <a:prstGeom prst="rect">
            <a:avLst/>
          </a:prstGeom>
          <a:noFill/>
          <a:ln/>
        </p:spPr>
        <p:txBody>
          <a:bodyPr wrap="square" rtlCol="0" anchor="t"/>
          <a:lstStyle/>
          <a:p>
            <a:pPr marL="0" indent="0" algn="l">
              <a:buNone/>
            </a:pPr>
            <a:r>
              <a:rPr lang="en-US" sz="2800" b="1" dirty="0">
                <a:solidFill>
                  <a:srgbClr val="FFFFFF"/>
                </a:solidFill>
                <a:latin typeface="Georgia" pitchFamily="34" charset="0"/>
                <a:ea typeface="Georgia" pitchFamily="34" charset="-122"/>
                <a:cs typeface="Georgia" pitchFamily="34" charset="-120"/>
              </a:rPr>
              <a:t>AI AGENT</a:t>
            </a:r>
            <a:endParaRPr lang="en-US" sz="2800" dirty="0"/>
          </a:p>
          <a:p>
            <a:pPr marL="0" indent="0" algn="l">
              <a:buNone/>
            </a:pPr>
            <a:r>
              <a:rPr lang="en-US" sz="2800" b="1" dirty="0">
                <a:solidFill>
                  <a:srgbClr val="FFFFFF"/>
                </a:solidFill>
                <a:latin typeface="Georgia" pitchFamily="34" charset="0"/>
                <a:ea typeface="Georgia" pitchFamily="34" charset="-122"/>
                <a:cs typeface="Georgia" pitchFamily="34" charset="-120"/>
              </a:rPr>
              <a:t>EVALUATION</a:t>
            </a:r>
            <a:endParaRPr lang="en-US" sz="2800" dirty="0"/>
          </a:p>
          <a:p>
            <a:pPr marL="0" indent="0" algn="l">
              <a:buNone/>
            </a:pPr>
            <a:r>
              <a:rPr lang="en-US" sz="2800" b="1" dirty="0">
                <a:solidFill>
                  <a:srgbClr val="FFFFFF"/>
                </a:solidFill>
                <a:latin typeface="Georgia" pitchFamily="34" charset="0"/>
                <a:ea typeface="Georgia" pitchFamily="34" charset="-122"/>
                <a:cs typeface="Georgia" pitchFamily="34" charset="-120"/>
              </a:rPr>
              <a:t>REPORT</a:t>
            </a:r>
            <a:endParaRPr lang="en-US" sz="2800" dirty="0"/>
          </a:p>
        </p:txBody>
      </p:sp>
      <p:sp>
        <p:nvSpPr>
          <p:cNvPr id="7" name="Shape 5"/>
          <p:cNvSpPr/>
          <p:nvPr/>
        </p:nvSpPr>
        <p:spPr>
          <a:xfrm>
            <a:off x="274320" y="3017520"/>
            <a:ext cx="2194560" cy="36576"/>
          </a:xfrm>
          <a:prstGeom prst="rect">
            <a:avLst/>
          </a:prstGeom>
          <a:solidFill>
            <a:srgbClr val="CADCFC"/>
          </a:solidFill>
          <a:ln w="12700">
            <a:solidFill>
              <a:srgbClr val="CADCFC"/>
            </a:solidFill>
            <a:prstDash val="solid"/>
          </a:ln>
        </p:spPr>
        <p:txBody>
          <a:bodyPr/>
          <a:lstStyle/>
          <a:p>
            <a:endParaRPr lang="en-AU"/>
          </a:p>
        </p:txBody>
      </p:sp>
      <p:sp>
        <p:nvSpPr>
          <p:cNvPr id="8" name="Text 6"/>
          <p:cNvSpPr/>
          <p:nvPr/>
        </p:nvSpPr>
        <p:spPr>
          <a:xfrm>
            <a:off x="274320" y="3154680"/>
            <a:ext cx="2926080" cy="45720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Hermes Agent vs OpenClaw</a:t>
            </a:r>
            <a:endParaRPr lang="en-US" sz="1200" dirty="0"/>
          </a:p>
        </p:txBody>
      </p:sp>
      <p:sp>
        <p:nvSpPr>
          <p:cNvPr id="9" name="Text 7"/>
          <p:cNvSpPr/>
          <p:nvPr/>
        </p:nvSpPr>
        <p:spPr>
          <a:xfrm>
            <a:off x="274320" y="3657600"/>
            <a:ext cx="2926080" cy="7315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Platform Selection for Agent-Based</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Workflow Automation</a:t>
            </a:r>
            <a:endParaRPr lang="en-US" sz="1000" dirty="0"/>
          </a:p>
        </p:txBody>
      </p:sp>
      <p:sp>
        <p:nvSpPr>
          <p:cNvPr id="10" name="Text 8"/>
          <p:cNvSpPr/>
          <p:nvPr/>
        </p:nvSpPr>
        <p:spPr>
          <a:xfrm>
            <a:off x="3840480" y="914400"/>
            <a:ext cx="5029200" cy="201168"/>
          </a:xfrm>
          <a:prstGeom prst="rect">
            <a:avLst/>
          </a:prstGeom>
          <a:noFill/>
          <a:ln/>
        </p:spPr>
        <p:txBody>
          <a:bodyPr wrap="square" rtlCol="0" anchor="ctr"/>
          <a:lstStyle/>
          <a:p>
            <a:pPr marL="0" indent="0">
              <a:buNone/>
            </a:pPr>
            <a:r>
              <a:rPr lang="en-US" sz="800" b="1" kern="0" spc="200" dirty="0">
                <a:solidFill>
                  <a:srgbClr val="4F9CF9"/>
                </a:solidFill>
                <a:latin typeface="Calibri" pitchFamily="34" charset="0"/>
                <a:ea typeface="Calibri" pitchFamily="34" charset="-122"/>
                <a:cs typeface="Calibri" pitchFamily="34" charset="-120"/>
              </a:rPr>
              <a:t>PREPARED BY</a:t>
            </a:r>
            <a:endParaRPr lang="en-US" sz="800" dirty="0"/>
          </a:p>
        </p:txBody>
      </p:sp>
      <p:sp>
        <p:nvSpPr>
          <p:cNvPr id="11" name="Text 9"/>
          <p:cNvSpPr/>
          <p:nvPr/>
        </p:nvSpPr>
        <p:spPr>
          <a:xfrm>
            <a:off x="3840480" y="1115568"/>
            <a:ext cx="502920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Tan Dan Feng</a:t>
            </a:r>
            <a:endParaRPr lang="en-US" sz="1200" dirty="0"/>
          </a:p>
        </p:txBody>
      </p:sp>
      <p:sp>
        <p:nvSpPr>
          <p:cNvPr id="12" name="Text 10"/>
          <p:cNvSpPr/>
          <p:nvPr/>
        </p:nvSpPr>
        <p:spPr>
          <a:xfrm>
            <a:off x="3840480" y="1572768"/>
            <a:ext cx="5029200" cy="201168"/>
          </a:xfrm>
          <a:prstGeom prst="rect">
            <a:avLst/>
          </a:prstGeom>
          <a:noFill/>
          <a:ln/>
        </p:spPr>
        <p:txBody>
          <a:bodyPr wrap="square" rtlCol="0" anchor="ctr"/>
          <a:lstStyle/>
          <a:p>
            <a:pPr marL="0" indent="0">
              <a:buNone/>
            </a:pPr>
            <a:r>
              <a:rPr lang="en-US" sz="800" b="1" kern="0" spc="200" dirty="0">
                <a:solidFill>
                  <a:srgbClr val="4F9CF9"/>
                </a:solidFill>
                <a:latin typeface="Calibri" pitchFamily="34" charset="0"/>
                <a:ea typeface="Calibri" pitchFamily="34" charset="-122"/>
                <a:cs typeface="Calibri" pitchFamily="34" charset="-120"/>
              </a:rPr>
              <a:t>DATE</a:t>
            </a:r>
            <a:endParaRPr lang="en-US" sz="800" dirty="0"/>
          </a:p>
        </p:txBody>
      </p:sp>
      <p:sp>
        <p:nvSpPr>
          <p:cNvPr id="13" name="Text 11"/>
          <p:cNvSpPr/>
          <p:nvPr/>
        </p:nvSpPr>
        <p:spPr>
          <a:xfrm>
            <a:off x="3840480" y="1773936"/>
            <a:ext cx="502920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26 May 2026</a:t>
            </a:r>
            <a:endParaRPr lang="en-US" sz="1200" dirty="0"/>
          </a:p>
        </p:txBody>
      </p:sp>
      <p:sp>
        <p:nvSpPr>
          <p:cNvPr id="14" name="Text 12"/>
          <p:cNvSpPr/>
          <p:nvPr/>
        </p:nvSpPr>
        <p:spPr>
          <a:xfrm>
            <a:off x="3840480" y="2231136"/>
            <a:ext cx="5029200" cy="201168"/>
          </a:xfrm>
          <a:prstGeom prst="rect">
            <a:avLst/>
          </a:prstGeom>
          <a:noFill/>
          <a:ln/>
        </p:spPr>
        <p:txBody>
          <a:bodyPr wrap="square" rtlCol="0" anchor="ctr"/>
          <a:lstStyle/>
          <a:p>
            <a:pPr marL="0" indent="0">
              <a:buNone/>
            </a:pPr>
            <a:r>
              <a:rPr lang="en-US" sz="800" b="1" kern="0" spc="200" dirty="0">
                <a:solidFill>
                  <a:srgbClr val="4F9CF9"/>
                </a:solidFill>
                <a:latin typeface="Calibri" pitchFamily="34" charset="0"/>
                <a:ea typeface="Calibri" pitchFamily="34" charset="-122"/>
                <a:cs typeface="Calibri" pitchFamily="34" charset="-120"/>
              </a:rPr>
              <a:t>SCOPE</a:t>
            </a:r>
            <a:endParaRPr lang="en-US" sz="800" dirty="0"/>
          </a:p>
        </p:txBody>
      </p:sp>
      <p:sp>
        <p:nvSpPr>
          <p:cNvPr id="15" name="Text 13"/>
          <p:cNvSpPr/>
          <p:nvPr/>
        </p:nvSpPr>
        <p:spPr>
          <a:xfrm>
            <a:off x="3840480" y="2432304"/>
            <a:ext cx="502920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Research, Security Review &amp; Integration Feasibility (OpenWebUI)</a:t>
            </a:r>
            <a:endParaRPr lang="en-US" sz="1200" dirty="0"/>
          </a:p>
        </p:txBody>
      </p:sp>
      <p:sp>
        <p:nvSpPr>
          <p:cNvPr id="16" name="Text 14"/>
          <p:cNvSpPr/>
          <p:nvPr/>
        </p:nvSpPr>
        <p:spPr>
          <a:xfrm>
            <a:off x="3840480" y="2889504"/>
            <a:ext cx="5029200" cy="201168"/>
          </a:xfrm>
          <a:prstGeom prst="rect">
            <a:avLst/>
          </a:prstGeom>
          <a:noFill/>
          <a:ln/>
        </p:spPr>
        <p:txBody>
          <a:bodyPr wrap="square" rtlCol="0" anchor="ctr"/>
          <a:lstStyle/>
          <a:p>
            <a:pPr marL="0" indent="0">
              <a:buNone/>
            </a:pPr>
            <a:r>
              <a:rPr lang="en-US" sz="800" b="1" kern="0" spc="200" dirty="0">
                <a:solidFill>
                  <a:srgbClr val="4F9CF9"/>
                </a:solidFill>
                <a:latin typeface="Calibri" pitchFamily="34" charset="0"/>
                <a:ea typeface="Calibri" pitchFamily="34" charset="-122"/>
                <a:cs typeface="Calibri" pitchFamily="34" charset="-120"/>
              </a:rPr>
              <a:t>ORGANISATION</a:t>
            </a:r>
            <a:endParaRPr lang="en-US" sz="800" dirty="0"/>
          </a:p>
        </p:txBody>
      </p:sp>
      <p:sp>
        <p:nvSpPr>
          <p:cNvPr id="17" name="Text 15"/>
          <p:cNvSpPr/>
          <p:nvPr/>
        </p:nvSpPr>
        <p:spPr>
          <a:xfrm>
            <a:off x="3840480" y="3090672"/>
            <a:ext cx="502920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DSO National Laboratories</a:t>
            </a:r>
            <a:endParaRPr lang="en-US" sz="1200" dirty="0"/>
          </a:p>
        </p:txBody>
      </p:sp>
      <p:sp>
        <p:nvSpPr>
          <p:cNvPr id="18" name="Shape 16"/>
          <p:cNvSpPr/>
          <p:nvPr/>
        </p:nvSpPr>
        <p:spPr>
          <a:xfrm>
            <a:off x="0" y="4892040"/>
            <a:ext cx="9144000" cy="251460"/>
          </a:xfrm>
          <a:prstGeom prst="rect">
            <a:avLst/>
          </a:prstGeom>
          <a:solidFill>
            <a:srgbClr val="4F9CF9">
              <a:alpha val="15000"/>
            </a:srgbClr>
          </a:solidFill>
          <a:ln w="12700">
            <a:solidFill>
              <a:srgbClr val="4F9CF9">
                <a:alpha val="15000"/>
              </a:srgbClr>
            </a:solidFill>
            <a:prstDash val="solid"/>
          </a:ln>
        </p:spPr>
        <p:txBody>
          <a:bodyPr/>
          <a:lstStyle/>
          <a:p>
            <a:endParaRPr lang="en-AU"/>
          </a:p>
        </p:txBody>
      </p:sp>
      <p:sp>
        <p:nvSpPr>
          <p:cNvPr id="19" name="Text 17"/>
          <p:cNvSpPr/>
          <p:nvPr/>
        </p:nvSpPr>
        <p:spPr>
          <a:xfrm>
            <a:off x="274320" y="4892040"/>
            <a:ext cx="8595360" cy="251460"/>
          </a:xfrm>
          <a:prstGeom prst="rect">
            <a:avLst/>
          </a:prstGeom>
          <a:noFill/>
          <a:ln/>
        </p:spPr>
        <p:txBody>
          <a:bodyPr wrap="square" rtlCol="0" anchor="ctr"/>
          <a:lstStyle/>
          <a:p>
            <a:pPr marL="0" indent="0" algn="l">
              <a:buNone/>
            </a:pPr>
            <a:r>
              <a:rPr lang="en-US" sz="900" dirty="0">
                <a:solidFill>
                  <a:srgbClr val="94A3B8"/>
                </a:solidFill>
                <a:latin typeface="Calibri" pitchFamily="34" charset="0"/>
                <a:ea typeface="Calibri" pitchFamily="34" charset="-122"/>
                <a:cs typeface="Calibri" pitchFamily="34" charset="-120"/>
              </a:rPr>
              <a:t>DSO National Laboratories — Internal Research Report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Executive Summary</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What this report covers and what was concluded</a:t>
            </a:r>
            <a:endParaRPr lang="en-US" sz="1300" dirty="0"/>
          </a:p>
        </p:txBody>
      </p:sp>
      <p:sp>
        <p:nvSpPr>
          <p:cNvPr id="5" name="Shape 3"/>
          <p:cNvSpPr/>
          <p:nvPr/>
        </p:nvSpPr>
        <p:spPr>
          <a:xfrm>
            <a:off x="457200" y="1097280"/>
            <a:ext cx="8229600" cy="960120"/>
          </a:xfrm>
          <a:prstGeom prst="rect">
            <a:avLst/>
          </a:prstGeom>
          <a:solidFill>
            <a:srgbClr val="1E2761"/>
          </a:solidFill>
          <a:ln w="12700">
            <a:solidFill>
              <a:srgbClr val="1E2761"/>
            </a:solidFill>
            <a:prstDash val="solid"/>
          </a:ln>
          <a:effectLst>
            <a:outerShdw blurRad="101600" dist="38100" dir="8100000" algn="bl" rotWithShape="0">
              <a:srgbClr val="000000">
                <a:alpha val="10000"/>
              </a:srgbClr>
            </a:outerShdw>
          </a:effectLst>
        </p:spPr>
        <p:txBody>
          <a:bodyPr/>
          <a:lstStyle/>
          <a:p>
            <a:endParaRPr lang="en-AU"/>
          </a:p>
        </p:txBody>
      </p:sp>
      <p:sp>
        <p:nvSpPr>
          <p:cNvPr id="6" name="Text 4"/>
          <p:cNvSpPr/>
          <p:nvPr/>
        </p:nvSpPr>
        <p:spPr>
          <a:xfrm>
            <a:off x="685800" y="1143000"/>
            <a:ext cx="7772400" cy="320040"/>
          </a:xfrm>
          <a:prstGeom prst="rect">
            <a:avLst/>
          </a:prstGeom>
          <a:noFill/>
          <a:ln/>
        </p:spPr>
        <p:txBody>
          <a:bodyPr wrap="square" rtlCol="0" anchor="ctr"/>
          <a:lstStyle/>
          <a:p>
            <a:pPr marL="0" indent="0">
              <a:buNone/>
            </a:pPr>
            <a:r>
              <a:rPr lang="en-US" sz="1400" b="1" dirty="0">
                <a:solidFill>
                  <a:srgbClr val="CADCFC"/>
                </a:solidFill>
                <a:latin typeface="Georgia" pitchFamily="34" charset="0"/>
                <a:ea typeface="Georgia" pitchFamily="34" charset="-122"/>
                <a:cs typeface="Georgia" pitchFamily="34" charset="-120"/>
              </a:rPr>
              <a:t>Recommendation: Hermes Agent</a:t>
            </a:r>
            <a:endParaRPr lang="en-US" sz="1400" dirty="0"/>
          </a:p>
        </p:txBody>
      </p:sp>
      <p:sp>
        <p:nvSpPr>
          <p:cNvPr id="7" name="Text 5"/>
          <p:cNvSpPr/>
          <p:nvPr/>
        </p:nvSpPr>
        <p:spPr>
          <a:xfrm>
            <a:off x="685800" y="1463040"/>
            <a:ext cx="7772400" cy="50292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Hermes Agent is the preferred platform for DSO to automate data science workflows, selected for its defence-in-depth security architecture enforced by design instead of by configuration.</a:t>
            </a:r>
            <a:endParaRPr lang="en-US" sz="1150" dirty="0"/>
          </a:p>
        </p:txBody>
      </p:sp>
      <p:sp>
        <p:nvSpPr>
          <p:cNvPr id="8" name="Text 6"/>
          <p:cNvSpPr/>
          <p:nvPr/>
        </p:nvSpPr>
        <p:spPr>
          <a:xfrm>
            <a:off x="457200" y="2240280"/>
            <a:ext cx="8229600" cy="274320"/>
          </a:xfrm>
          <a:prstGeom prst="rect">
            <a:avLst/>
          </a:prstGeom>
          <a:noFill/>
          <a:ln/>
        </p:spPr>
        <p:txBody>
          <a:bodyPr wrap="square" rtlCol="0" anchor="ctr"/>
          <a:lstStyle/>
          <a:p>
            <a:pPr marL="0" indent="0">
              <a:buNone/>
            </a:pPr>
            <a:r>
              <a:rPr lang="en-US" sz="1100" b="1" kern="0" spc="100" dirty="0">
                <a:solidFill>
                  <a:srgbClr val="64748B"/>
                </a:solidFill>
                <a:latin typeface="Calibri" pitchFamily="34" charset="0"/>
                <a:ea typeface="Calibri" pitchFamily="34" charset="-122"/>
                <a:cs typeface="Calibri" pitchFamily="34" charset="-120"/>
              </a:rPr>
              <a:t>Five Evaluation Dimensions</a:t>
            </a:r>
            <a:endParaRPr lang="en-US" sz="1100" dirty="0"/>
          </a:p>
        </p:txBody>
      </p:sp>
      <p:sp>
        <p:nvSpPr>
          <p:cNvPr id="9" name="Shape 7"/>
          <p:cNvSpPr/>
          <p:nvPr/>
        </p:nvSpPr>
        <p:spPr>
          <a:xfrm>
            <a:off x="457200" y="2606040"/>
            <a:ext cx="1572768" cy="502920"/>
          </a:xfrm>
          <a:prstGeom prst="rect">
            <a:avLst/>
          </a:prstGeom>
          <a:solidFill>
            <a:srgbClr val="CADCFC">
              <a:alpha val="60000"/>
            </a:srgbClr>
          </a:solidFill>
          <a:ln w="10160">
            <a:solidFill>
              <a:srgbClr val="4F9CF9"/>
            </a:solidFill>
            <a:prstDash val="solid"/>
          </a:ln>
          <a:effectLst>
            <a:outerShdw blurRad="101600" dist="38100" dir="8100000" algn="bl" rotWithShape="0">
              <a:srgbClr val="000000">
                <a:alpha val="10000"/>
              </a:srgbClr>
            </a:outerShdw>
          </a:effectLst>
        </p:spPr>
        <p:txBody>
          <a:bodyPr/>
          <a:lstStyle/>
          <a:p>
            <a:endParaRPr lang="en-AU"/>
          </a:p>
        </p:txBody>
      </p:sp>
      <p:sp>
        <p:nvSpPr>
          <p:cNvPr id="10" name="Text 8"/>
          <p:cNvSpPr/>
          <p:nvPr/>
        </p:nvSpPr>
        <p:spPr>
          <a:xfrm>
            <a:off x="457200" y="2606040"/>
            <a:ext cx="1572768" cy="50292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Architecture</a:t>
            </a:r>
            <a:endParaRPr lang="en-US" sz="1000" dirty="0"/>
          </a:p>
        </p:txBody>
      </p:sp>
      <p:sp>
        <p:nvSpPr>
          <p:cNvPr id="11" name="Shape 9"/>
          <p:cNvSpPr/>
          <p:nvPr/>
        </p:nvSpPr>
        <p:spPr>
          <a:xfrm>
            <a:off x="2176272" y="2606040"/>
            <a:ext cx="1572768" cy="502920"/>
          </a:xfrm>
          <a:prstGeom prst="rect">
            <a:avLst/>
          </a:prstGeom>
          <a:solidFill>
            <a:srgbClr val="CADCFC">
              <a:alpha val="60000"/>
            </a:srgbClr>
          </a:solidFill>
          <a:ln w="10160">
            <a:solidFill>
              <a:srgbClr val="4F9CF9"/>
            </a:solidFill>
            <a:prstDash val="solid"/>
          </a:ln>
          <a:effectLst>
            <a:outerShdw blurRad="101600" dist="38100" dir="8100000" algn="bl" rotWithShape="0">
              <a:srgbClr val="000000">
                <a:alpha val="10000"/>
              </a:srgbClr>
            </a:outerShdw>
          </a:effectLst>
        </p:spPr>
        <p:txBody>
          <a:bodyPr/>
          <a:lstStyle/>
          <a:p>
            <a:endParaRPr lang="en-AU"/>
          </a:p>
        </p:txBody>
      </p:sp>
      <p:sp>
        <p:nvSpPr>
          <p:cNvPr id="12" name="Text 10"/>
          <p:cNvSpPr/>
          <p:nvPr/>
        </p:nvSpPr>
        <p:spPr>
          <a:xfrm>
            <a:off x="2176272" y="2606040"/>
            <a:ext cx="1572768" cy="50292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Security Posture</a:t>
            </a:r>
            <a:endParaRPr lang="en-US" sz="1000" dirty="0"/>
          </a:p>
        </p:txBody>
      </p:sp>
      <p:sp>
        <p:nvSpPr>
          <p:cNvPr id="13" name="Shape 11"/>
          <p:cNvSpPr/>
          <p:nvPr/>
        </p:nvSpPr>
        <p:spPr>
          <a:xfrm>
            <a:off x="3895344" y="2606040"/>
            <a:ext cx="1572768" cy="502920"/>
          </a:xfrm>
          <a:prstGeom prst="rect">
            <a:avLst/>
          </a:prstGeom>
          <a:solidFill>
            <a:srgbClr val="CADCFC">
              <a:alpha val="60000"/>
            </a:srgbClr>
          </a:solidFill>
          <a:ln w="10160">
            <a:solidFill>
              <a:srgbClr val="4F9CF9"/>
            </a:solidFill>
            <a:prstDash val="solid"/>
          </a:ln>
          <a:effectLst>
            <a:outerShdw blurRad="101600" dist="38100" dir="8100000" algn="bl" rotWithShape="0">
              <a:srgbClr val="000000">
                <a:alpha val="10000"/>
              </a:srgbClr>
            </a:outerShdw>
          </a:effectLst>
        </p:spPr>
        <p:txBody>
          <a:bodyPr/>
          <a:lstStyle/>
          <a:p>
            <a:endParaRPr lang="en-AU"/>
          </a:p>
        </p:txBody>
      </p:sp>
      <p:sp>
        <p:nvSpPr>
          <p:cNvPr id="14" name="Text 12"/>
          <p:cNvSpPr/>
          <p:nvPr/>
        </p:nvSpPr>
        <p:spPr>
          <a:xfrm>
            <a:off x="3895344" y="2606040"/>
            <a:ext cx="1572768" cy="50292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Deployment Model</a:t>
            </a:r>
            <a:endParaRPr lang="en-US" sz="1000" dirty="0"/>
          </a:p>
        </p:txBody>
      </p:sp>
      <p:sp>
        <p:nvSpPr>
          <p:cNvPr id="15" name="Shape 13"/>
          <p:cNvSpPr/>
          <p:nvPr/>
        </p:nvSpPr>
        <p:spPr>
          <a:xfrm>
            <a:off x="5614416" y="2606040"/>
            <a:ext cx="1572768" cy="502920"/>
          </a:xfrm>
          <a:prstGeom prst="rect">
            <a:avLst/>
          </a:prstGeom>
          <a:solidFill>
            <a:srgbClr val="CADCFC">
              <a:alpha val="60000"/>
            </a:srgbClr>
          </a:solidFill>
          <a:ln w="10160">
            <a:solidFill>
              <a:srgbClr val="4F9CF9"/>
            </a:solidFill>
            <a:prstDash val="solid"/>
          </a:ln>
          <a:effectLst>
            <a:outerShdw blurRad="101600" dist="38100" dir="8100000" algn="bl" rotWithShape="0">
              <a:srgbClr val="000000">
                <a:alpha val="10000"/>
              </a:srgbClr>
            </a:outerShdw>
          </a:effectLst>
        </p:spPr>
        <p:txBody>
          <a:bodyPr/>
          <a:lstStyle/>
          <a:p>
            <a:endParaRPr lang="en-AU"/>
          </a:p>
        </p:txBody>
      </p:sp>
      <p:sp>
        <p:nvSpPr>
          <p:cNvPr id="16" name="Text 14"/>
          <p:cNvSpPr/>
          <p:nvPr/>
        </p:nvSpPr>
        <p:spPr>
          <a:xfrm>
            <a:off x="5614416" y="2606040"/>
            <a:ext cx="1572768" cy="50292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Multi-User Isolation</a:t>
            </a:r>
            <a:endParaRPr lang="en-US" sz="1000" dirty="0"/>
          </a:p>
        </p:txBody>
      </p:sp>
      <p:sp>
        <p:nvSpPr>
          <p:cNvPr id="17" name="Shape 15"/>
          <p:cNvSpPr/>
          <p:nvPr/>
        </p:nvSpPr>
        <p:spPr>
          <a:xfrm>
            <a:off x="7333488" y="2606040"/>
            <a:ext cx="1572768" cy="502920"/>
          </a:xfrm>
          <a:prstGeom prst="rect">
            <a:avLst/>
          </a:prstGeom>
          <a:solidFill>
            <a:srgbClr val="CADCFC">
              <a:alpha val="60000"/>
            </a:srgbClr>
          </a:solidFill>
          <a:ln w="10160">
            <a:solidFill>
              <a:srgbClr val="4F9CF9"/>
            </a:solidFill>
            <a:prstDash val="solid"/>
          </a:ln>
          <a:effectLst>
            <a:outerShdw blurRad="101600" dist="38100" dir="8100000" algn="bl" rotWithShape="0">
              <a:srgbClr val="000000">
                <a:alpha val="10000"/>
              </a:srgbClr>
            </a:outerShdw>
          </a:effectLst>
        </p:spPr>
        <p:txBody>
          <a:bodyPr/>
          <a:lstStyle/>
          <a:p>
            <a:endParaRPr lang="en-AU"/>
          </a:p>
        </p:txBody>
      </p:sp>
      <p:sp>
        <p:nvSpPr>
          <p:cNvPr id="18" name="Text 16"/>
          <p:cNvSpPr/>
          <p:nvPr/>
        </p:nvSpPr>
        <p:spPr>
          <a:xfrm>
            <a:off x="7333488" y="2606040"/>
            <a:ext cx="1572768" cy="502920"/>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Integration Feasibility</a:t>
            </a:r>
            <a:endParaRPr lang="en-US" sz="1000" dirty="0"/>
          </a:p>
        </p:txBody>
      </p:sp>
      <p:sp>
        <p:nvSpPr>
          <p:cNvPr id="19" name="Shape 17"/>
          <p:cNvSpPr/>
          <p:nvPr/>
        </p:nvSpPr>
        <p:spPr>
          <a:xfrm>
            <a:off x="457200" y="3291840"/>
            <a:ext cx="4114800" cy="713232"/>
          </a:xfrm>
          <a:prstGeom prst="rect">
            <a:avLst/>
          </a:prstGeom>
          <a:solidFill>
            <a:srgbClr val="F8FAFF"/>
          </a:solidFill>
          <a:ln w="1016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0" name="Shape 18"/>
          <p:cNvSpPr/>
          <p:nvPr/>
        </p:nvSpPr>
        <p:spPr>
          <a:xfrm>
            <a:off x="457200" y="3291840"/>
            <a:ext cx="64008" cy="713232"/>
          </a:xfrm>
          <a:prstGeom prst="rect">
            <a:avLst/>
          </a:prstGeom>
          <a:solidFill>
            <a:srgbClr val="4F9CF9"/>
          </a:solidFill>
          <a:ln w="12700">
            <a:solidFill>
              <a:srgbClr val="4F9CF9"/>
            </a:solidFill>
            <a:prstDash val="solid"/>
          </a:ln>
        </p:spPr>
        <p:txBody>
          <a:bodyPr/>
          <a:lstStyle/>
          <a:p>
            <a:endParaRPr lang="en-AU"/>
          </a:p>
        </p:txBody>
      </p:sp>
      <p:sp>
        <p:nvSpPr>
          <p:cNvPr id="21" name="Text 19"/>
          <p:cNvSpPr/>
          <p:nvPr/>
        </p:nvSpPr>
        <p:spPr>
          <a:xfrm>
            <a:off x="621792" y="3328416"/>
            <a:ext cx="3840480" cy="2286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Hermes’ 1 vs </a:t>
            </a:r>
            <a:r>
              <a:rPr lang="en-US" sz="1100" b="1" dirty="0" err="1">
                <a:solidFill>
                  <a:srgbClr val="1E2761"/>
                </a:solidFill>
                <a:latin typeface="Calibri" pitchFamily="34" charset="0"/>
                <a:ea typeface="Calibri" pitchFamily="34" charset="-122"/>
                <a:cs typeface="Calibri" pitchFamily="34" charset="-120"/>
              </a:rPr>
              <a:t>OpenClaw’s</a:t>
            </a:r>
            <a:r>
              <a:rPr lang="en-US" sz="1100" b="1" dirty="0">
                <a:solidFill>
                  <a:srgbClr val="1E2761"/>
                </a:solidFill>
                <a:latin typeface="Calibri" pitchFamily="34" charset="0"/>
                <a:ea typeface="Calibri" pitchFamily="34" charset="-122"/>
                <a:cs typeface="Calibri" pitchFamily="34" charset="-120"/>
              </a:rPr>
              <a:t> 138+ CVEs</a:t>
            </a:r>
            <a:endParaRPr lang="en-US" sz="1100" dirty="0"/>
          </a:p>
        </p:txBody>
      </p:sp>
      <p:sp>
        <p:nvSpPr>
          <p:cNvPr id="22" name="Text 20"/>
          <p:cNvSpPr/>
          <p:nvPr/>
        </p:nvSpPr>
        <p:spPr>
          <a:xfrm>
            <a:off x="621792" y="3547872"/>
            <a:ext cx="3840480" cy="402336"/>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Hermes has only one disclosed vulnerability while </a:t>
            </a:r>
            <a:r>
              <a:rPr lang="en-US" sz="950" dirty="0" err="1">
                <a:solidFill>
                  <a:srgbClr val="64748B"/>
                </a:solidFill>
                <a:latin typeface="Calibri" pitchFamily="34" charset="0"/>
                <a:ea typeface="Calibri" pitchFamily="34" charset="-122"/>
                <a:cs typeface="Calibri" pitchFamily="34" charset="-120"/>
              </a:rPr>
              <a:t>OpenClaw</a:t>
            </a:r>
            <a:r>
              <a:rPr lang="en-US" sz="950" dirty="0">
                <a:solidFill>
                  <a:srgbClr val="64748B"/>
                </a:solidFill>
                <a:latin typeface="Calibri" pitchFamily="34" charset="0"/>
                <a:ea typeface="Calibri" pitchFamily="34" charset="-122"/>
                <a:cs typeface="Calibri" pitchFamily="34" charset="-120"/>
              </a:rPr>
              <a:t> has more than 138, including critical privilege escalation and sandbox escape flaws.</a:t>
            </a:r>
            <a:endParaRPr lang="en-US" sz="950" dirty="0"/>
          </a:p>
        </p:txBody>
      </p:sp>
      <p:sp>
        <p:nvSpPr>
          <p:cNvPr id="23" name="Shape 21"/>
          <p:cNvSpPr/>
          <p:nvPr/>
        </p:nvSpPr>
        <p:spPr>
          <a:xfrm>
            <a:off x="4846320" y="3291840"/>
            <a:ext cx="4114800" cy="713232"/>
          </a:xfrm>
          <a:prstGeom prst="rect">
            <a:avLst/>
          </a:prstGeom>
          <a:solidFill>
            <a:srgbClr val="F8FAFF"/>
          </a:solidFill>
          <a:ln w="1016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4" name="Shape 22"/>
          <p:cNvSpPr/>
          <p:nvPr/>
        </p:nvSpPr>
        <p:spPr>
          <a:xfrm>
            <a:off x="4846320" y="3291840"/>
            <a:ext cx="64008" cy="713232"/>
          </a:xfrm>
          <a:prstGeom prst="rect">
            <a:avLst/>
          </a:prstGeom>
          <a:solidFill>
            <a:srgbClr val="4F9CF9"/>
          </a:solidFill>
          <a:ln w="12700">
            <a:solidFill>
              <a:srgbClr val="4F9CF9"/>
            </a:solidFill>
            <a:prstDash val="solid"/>
          </a:ln>
        </p:spPr>
        <p:txBody>
          <a:bodyPr/>
          <a:lstStyle/>
          <a:p>
            <a:endParaRPr lang="en-AU"/>
          </a:p>
        </p:txBody>
      </p:sp>
      <p:sp>
        <p:nvSpPr>
          <p:cNvPr id="25" name="Text 23"/>
          <p:cNvSpPr/>
          <p:nvPr/>
        </p:nvSpPr>
        <p:spPr>
          <a:xfrm>
            <a:off x="5010912" y="3328416"/>
            <a:ext cx="3840480" cy="2286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Secure by Default</a:t>
            </a:r>
            <a:endParaRPr lang="en-US" sz="1100" dirty="0"/>
          </a:p>
        </p:txBody>
      </p:sp>
      <p:sp>
        <p:nvSpPr>
          <p:cNvPr id="26" name="Text 24"/>
          <p:cNvSpPr/>
          <p:nvPr/>
        </p:nvSpPr>
        <p:spPr>
          <a:xfrm>
            <a:off x="5010912" y="3547872"/>
            <a:ext cx="3840480" cy="402336"/>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Hermes ships with authentication, command approval gates, and credential isolation enabled out of the box, unlike </a:t>
            </a:r>
            <a:r>
              <a:rPr lang="en-US" sz="950" dirty="0" err="1">
                <a:solidFill>
                  <a:srgbClr val="64748B"/>
                </a:solidFill>
                <a:latin typeface="Calibri" pitchFamily="34" charset="0"/>
                <a:ea typeface="Calibri" pitchFamily="34" charset="-122"/>
                <a:cs typeface="Calibri" pitchFamily="34" charset="-120"/>
              </a:rPr>
              <a:t>OpenClaw</a:t>
            </a:r>
            <a:endParaRPr lang="en-US" sz="950" dirty="0"/>
          </a:p>
        </p:txBody>
      </p:sp>
      <p:sp>
        <p:nvSpPr>
          <p:cNvPr id="27" name="Shape 25"/>
          <p:cNvSpPr/>
          <p:nvPr/>
        </p:nvSpPr>
        <p:spPr>
          <a:xfrm>
            <a:off x="457200" y="4096512"/>
            <a:ext cx="4114800" cy="713232"/>
          </a:xfrm>
          <a:prstGeom prst="rect">
            <a:avLst/>
          </a:prstGeom>
          <a:solidFill>
            <a:srgbClr val="F8FAFF"/>
          </a:solidFill>
          <a:ln w="1016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8" name="Shape 26"/>
          <p:cNvSpPr/>
          <p:nvPr/>
        </p:nvSpPr>
        <p:spPr>
          <a:xfrm>
            <a:off x="457200" y="4096512"/>
            <a:ext cx="64008" cy="713232"/>
          </a:xfrm>
          <a:prstGeom prst="rect">
            <a:avLst/>
          </a:prstGeom>
          <a:solidFill>
            <a:srgbClr val="4F9CF9"/>
          </a:solidFill>
          <a:ln w="12700">
            <a:solidFill>
              <a:srgbClr val="4F9CF9"/>
            </a:solidFill>
            <a:prstDash val="solid"/>
          </a:ln>
        </p:spPr>
        <p:txBody>
          <a:bodyPr/>
          <a:lstStyle/>
          <a:p>
            <a:endParaRPr lang="en-AU"/>
          </a:p>
        </p:txBody>
      </p:sp>
      <p:sp>
        <p:nvSpPr>
          <p:cNvPr id="29" name="Text 27"/>
          <p:cNvSpPr/>
          <p:nvPr/>
        </p:nvSpPr>
        <p:spPr>
          <a:xfrm>
            <a:off x="621792" y="4133088"/>
            <a:ext cx="3840480" cy="2286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Air-Gapped Ready</a:t>
            </a:r>
            <a:endParaRPr lang="en-US" sz="1100" dirty="0"/>
          </a:p>
        </p:txBody>
      </p:sp>
      <p:sp>
        <p:nvSpPr>
          <p:cNvPr id="30" name="Text 28"/>
          <p:cNvSpPr/>
          <p:nvPr/>
        </p:nvSpPr>
        <p:spPr>
          <a:xfrm>
            <a:off x="621792" y="4352544"/>
            <a:ext cx="3840480" cy="402336"/>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Hermes fully supports and documents offline deployment, which are essential for DSO's classified environments.</a:t>
            </a:r>
            <a:endParaRPr lang="en-US" sz="950" dirty="0"/>
          </a:p>
        </p:txBody>
      </p:sp>
      <p:sp>
        <p:nvSpPr>
          <p:cNvPr id="31" name="Shape 29"/>
          <p:cNvSpPr/>
          <p:nvPr/>
        </p:nvSpPr>
        <p:spPr>
          <a:xfrm>
            <a:off x="4846320" y="4096512"/>
            <a:ext cx="4114800" cy="713232"/>
          </a:xfrm>
          <a:prstGeom prst="rect">
            <a:avLst/>
          </a:prstGeom>
          <a:solidFill>
            <a:srgbClr val="F8FAFF"/>
          </a:solidFill>
          <a:ln w="1016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32" name="Shape 30"/>
          <p:cNvSpPr/>
          <p:nvPr/>
        </p:nvSpPr>
        <p:spPr>
          <a:xfrm>
            <a:off x="4846320" y="4096512"/>
            <a:ext cx="64008" cy="713232"/>
          </a:xfrm>
          <a:prstGeom prst="rect">
            <a:avLst/>
          </a:prstGeom>
          <a:solidFill>
            <a:srgbClr val="4F9CF9"/>
          </a:solidFill>
          <a:ln w="12700">
            <a:solidFill>
              <a:srgbClr val="4F9CF9"/>
            </a:solidFill>
            <a:prstDash val="solid"/>
          </a:ln>
        </p:spPr>
        <p:txBody>
          <a:bodyPr/>
          <a:lstStyle/>
          <a:p>
            <a:endParaRPr lang="en-AU"/>
          </a:p>
        </p:txBody>
      </p:sp>
      <p:sp>
        <p:nvSpPr>
          <p:cNvPr id="33" name="Text 31"/>
          <p:cNvSpPr/>
          <p:nvPr/>
        </p:nvSpPr>
        <p:spPr>
          <a:xfrm>
            <a:off x="5010912" y="4133088"/>
            <a:ext cx="3840480" cy="2286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Native User Isolation</a:t>
            </a:r>
            <a:endParaRPr lang="en-US" sz="1100" dirty="0"/>
          </a:p>
        </p:txBody>
      </p:sp>
      <p:sp>
        <p:nvSpPr>
          <p:cNvPr id="34" name="Text 32"/>
          <p:cNvSpPr/>
          <p:nvPr/>
        </p:nvSpPr>
        <p:spPr>
          <a:xfrm>
            <a:off x="5010912" y="4352544"/>
            <a:ext cx="3840480" cy="402336"/>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Each analyst gets a structurally isolated session. OpenClaw requires manual opt-in configuration to achieve the same.</a:t>
            </a:r>
            <a:endParaRPr lang="en-US" sz="950" dirty="0"/>
          </a:p>
        </p:txBody>
      </p:sp>
      <p:sp>
        <p:nvSpPr>
          <p:cNvPr id="35" name="Shape 33"/>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6" name="Text 3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7290E-1202-EAE4-E2ED-DCBA9909199F}"/>
            </a:ext>
          </a:extLst>
        </p:cNvPr>
        <p:cNvGrpSpPr/>
        <p:nvPr/>
      </p:nvGrpSpPr>
      <p:grpSpPr>
        <a:xfrm>
          <a:off x="0" y="0"/>
          <a:ext cx="0" cy="0"/>
          <a:chOff x="0" y="0"/>
          <a:chExt cx="0" cy="0"/>
        </a:xfrm>
      </p:grpSpPr>
      <p:sp>
        <p:nvSpPr>
          <p:cNvPr id="34" name="Shape 12">
            <a:extLst>
              <a:ext uri="{FF2B5EF4-FFF2-40B4-BE49-F238E27FC236}">
                <a16:creationId xmlns:a16="http://schemas.microsoft.com/office/drawing/2014/main" id="{DD910A67-C185-1AD7-81CF-F1B8DD3A5DF1}"/>
              </a:ext>
            </a:extLst>
          </p:cNvPr>
          <p:cNvSpPr/>
          <p:nvPr/>
        </p:nvSpPr>
        <p:spPr>
          <a:xfrm>
            <a:off x="640080" y="1561029"/>
            <a:ext cx="3931920" cy="3154680"/>
          </a:xfrm>
          <a:prstGeom prst="rect">
            <a:avLst/>
          </a:prstGeom>
          <a:solidFill>
            <a:srgbClr val="F8FAFF"/>
          </a:solidFill>
          <a:ln w="10160">
            <a:solidFill>
              <a:schemeClr val="accent1">
                <a:lumMod val="75000"/>
              </a:schemeClr>
            </a:solidFill>
            <a:prstDash val="solid"/>
          </a:ln>
          <a:effectLst>
            <a:outerShdw blurRad="101600" dist="38100" dir="8100000" algn="bl" rotWithShape="0">
              <a:srgbClr val="000000">
                <a:alpha val="10000"/>
              </a:srgbClr>
            </a:outerShdw>
          </a:effectLst>
        </p:spPr>
        <p:txBody>
          <a:bodyPr/>
          <a:lstStyle/>
          <a:p>
            <a:endParaRPr lang="en-AU"/>
          </a:p>
        </p:txBody>
      </p:sp>
      <p:sp>
        <p:nvSpPr>
          <p:cNvPr id="43" name="Shape 4">
            <a:extLst>
              <a:ext uri="{FF2B5EF4-FFF2-40B4-BE49-F238E27FC236}">
                <a16:creationId xmlns:a16="http://schemas.microsoft.com/office/drawing/2014/main" id="{BF1C372E-E352-54DD-BD72-D920211434E3}"/>
              </a:ext>
            </a:extLst>
          </p:cNvPr>
          <p:cNvSpPr/>
          <p:nvPr/>
        </p:nvSpPr>
        <p:spPr>
          <a:xfrm>
            <a:off x="640080" y="1186125"/>
            <a:ext cx="3931920" cy="468939"/>
          </a:xfrm>
          <a:prstGeom prst="rect">
            <a:avLst/>
          </a:prstGeom>
          <a:solidFill>
            <a:schemeClr val="accent1">
              <a:lumMod val="75000"/>
            </a:schemeClr>
          </a:solidFill>
          <a:ln w="12700">
            <a:solidFill>
              <a:schemeClr val="accent1">
                <a:lumMod val="75000"/>
              </a:schemeClr>
            </a:solidFill>
            <a:prstDash val="solid"/>
          </a:ln>
        </p:spPr>
        <p:txBody>
          <a:bodyPr/>
          <a:lstStyle/>
          <a:p>
            <a:endParaRPr lang="en-AU" dirty="0"/>
          </a:p>
        </p:txBody>
      </p:sp>
      <p:sp>
        <p:nvSpPr>
          <p:cNvPr id="2" name="Shape 0">
            <a:extLst>
              <a:ext uri="{FF2B5EF4-FFF2-40B4-BE49-F238E27FC236}">
                <a16:creationId xmlns:a16="http://schemas.microsoft.com/office/drawing/2014/main" id="{32D64412-DEE6-041B-6489-F7ED5D25D432}"/>
              </a:ext>
            </a:extLst>
          </p:cNvPr>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a:extLst>
              <a:ext uri="{FF2B5EF4-FFF2-40B4-BE49-F238E27FC236}">
                <a16:creationId xmlns:a16="http://schemas.microsoft.com/office/drawing/2014/main" id="{B8AF97DB-8FB1-EAA6-9AED-6015C723EC73}"/>
              </a:ext>
            </a:extLst>
          </p:cNvPr>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Overview of the Two Platforms</a:t>
            </a:r>
            <a:endParaRPr lang="en-US" sz="2800" dirty="0"/>
          </a:p>
        </p:txBody>
      </p:sp>
      <p:sp>
        <p:nvSpPr>
          <p:cNvPr id="4" name="Text 2">
            <a:extLst>
              <a:ext uri="{FF2B5EF4-FFF2-40B4-BE49-F238E27FC236}">
                <a16:creationId xmlns:a16="http://schemas.microsoft.com/office/drawing/2014/main" id="{6D2C116A-AB76-5C1B-33BC-E02340DBADC3}"/>
              </a:ext>
            </a:extLst>
          </p:cNvPr>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What each agent is and how they differ at a glance</a:t>
            </a:r>
            <a:endParaRPr lang="en-US" sz="1300" dirty="0"/>
          </a:p>
        </p:txBody>
      </p:sp>
      <p:sp>
        <p:nvSpPr>
          <p:cNvPr id="14" name="Shape 12">
            <a:extLst>
              <a:ext uri="{FF2B5EF4-FFF2-40B4-BE49-F238E27FC236}">
                <a16:creationId xmlns:a16="http://schemas.microsoft.com/office/drawing/2014/main" id="{FAAE8BD1-E1EB-DE9E-BC0F-981AE3D8DFE9}"/>
              </a:ext>
            </a:extLst>
          </p:cNvPr>
          <p:cNvSpPr/>
          <p:nvPr/>
        </p:nvSpPr>
        <p:spPr>
          <a:xfrm>
            <a:off x="4846320" y="1195269"/>
            <a:ext cx="3931920" cy="3520440"/>
          </a:xfrm>
          <a:prstGeom prst="rect">
            <a:avLst/>
          </a:prstGeom>
          <a:solidFill>
            <a:srgbClr val="F8FAFF"/>
          </a:solidFill>
          <a:ln w="1016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5" name="Shape 13">
            <a:extLst>
              <a:ext uri="{FF2B5EF4-FFF2-40B4-BE49-F238E27FC236}">
                <a16:creationId xmlns:a16="http://schemas.microsoft.com/office/drawing/2014/main" id="{B2CBBEA5-1AA9-04FA-90B0-C57997964BB4}"/>
              </a:ext>
            </a:extLst>
          </p:cNvPr>
          <p:cNvSpPr/>
          <p:nvPr/>
        </p:nvSpPr>
        <p:spPr>
          <a:xfrm>
            <a:off x="4846320" y="1195269"/>
            <a:ext cx="3931920" cy="468939"/>
          </a:xfrm>
          <a:prstGeom prst="rect">
            <a:avLst/>
          </a:prstGeom>
          <a:solidFill>
            <a:srgbClr val="CADCFC">
              <a:alpha val="70000"/>
            </a:srgbClr>
          </a:solidFill>
          <a:ln w="12700">
            <a:solidFill>
              <a:srgbClr val="CADCFC">
                <a:alpha val="70000"/>
              </a:srgbClr>
            </a:solidFill>
            <a:prstDash val="solid"/>
          </a:ln>
        </p:spPr>
        <p:txBody>
          <a:bodyPr/>
          <a:lstStyle/>
          <a:p>
            <a:endParaRPr lang="en-AU"/>
          </a:p>
        </p:txBody>
      </p:sp>
      <p:sp>
        <p:nvSpPr>
          <p:cNvPr id="16" name="Text 14">
            <a:extLst>
              <a:ext uri="{FF2B5EF4-FFF2-40B4-BE49-F238E27FC236}">
                <a16:creationId xmlns:a16="http://schemas.microsoft.com/office/drawing/2014/main" id="{9BCCDBAE-8D02-A3FA-543A-A594E0321868}"/>
              </a:ext>
            </a:extLst>
          </p:cNvPr>
          <p:cNvSpPr/>
          <p:nvPr/>
        </p:nvSpPr>
        <p:spPr>
          <a:xfrm>
            <a:off x="4937760" y="1195269"/>
            <a:ext cx="3749040" cy="468939"/>
          </a:xfrm>
          <a:prstGeom prst="rect">
            <a:avLst/>
          </a:prstGeom>
          <a:noFill/>
          <a:ln/>
        </p:spPr>
        <p:txBody>
          <a:bodyPr wrap="square"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OPENCLAW</a:t>
            </a:r>
            <a:endParaRPr lang="en-US" sz="1400" dirty="0"/>
          </a:p>
        </p:txBody>
      </p:sp>
      <p:sp>
        <p:nvSpPr>
          <p:cNvPr id="17" name="Text 15">
            <a:extLst>
              <a:ext uri="{FF2B5EF4-FFF2-40B4-BE49-F238E27FC236}">
                <a16:creationId xmlns:a16="http://schemas.microsoft.com/office/drawing/2014/main" id="{BDBCE9D1-FF31-3273-71E8-54DCC7344784}"/>
              </a:ext>
            </a:extLst>
          </p:cNvPr>
          <p:cNvSpPr/>
          <p:nvPr/>
        </p:nvSpPr>
        <p:spPr>
          <a:xfrm>
            <a:off x="4937760" y="1762197"/>
            <a:ext cx="3749040" cy="238733"/>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Peter Steinberger • Nov 2025 • TypeScript/Swift • MIT</a:t>
            </a:r>
            <a:endParaRPr lang="en-US" sz="950" dirty="0"/>
          </a:p>
        </p:txBody>
      </p:sp>
      <p:sp>
        <p:nvSpPr>
          <p:cNvPr id="18" name="Text 16">
            <a:extLst>
              <a:ext uri="{FF2B5EF4-FFF2-40B4-BE49-F238E27FC236}">
                <a16:creationId xmlns:a16="http://schemas.microsoft.com/office/drawing/2014/main" id="{85915079-4C76-128A-61A1-76014512AC76}"/>
              </a:ext>
            </a:extLst>
          </p:cNvPr>
          <p:cNvSpPr/>
          <p:nvPr/>
        </p:nvSpPr>
        <p:spPr>
          <a:xfrm>
            <a:off x="4983480" y="2073093"/>
            <a:ext cx="3657600" cy="443360"/>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 Gateway-oriented architecture </a:t>
            </a:r>
            <a:r>
              <a:rPr lang="en-US" sz="1000" dirty="0">
                <a:solidFill>
                  <a:srgbClr val="64748B"/>
                </a:solidFill>
                <a:latin typeface="Calibri" pitchFamily="34" charset="0"/>
                <a:ea typeface="Calibri" pitchFamily="34" charset="-122"/>
                <a:cs typeface="Calibri" pitchFamily="34" charset="-120"/>
              </a:rPr>
              <a:t>that </a:t>
            </a:r>
            <a:r>
              <a:rPr lang="en-US" sz="1000" b="1" dirty="0">
                <a:solidFill>
                  <a:srgbClr val="64748B"/>
                </a:solidFill>
                <a:latin typeface="Calibri" pitchFamily="34" charset="0"/>
                <a:ea typeface="Calibri" pitchFamily="34" charset="-122"/>
                <a:cs typeface="Calibri" pitchFamily="34" charset="-120"/>
              </a:rPr>
              <a:t>routes</a:t>
            </a:r>
            <a:r>
              <a:rPr lang="en-US" sz="1000" dirty="0">
                <a:solidFill>
                  <a:srgbClr val="64748B"/>
                </a:solidFill>
                <a:latin typeface="Calibri" pitchFamily="34" charset="0"/>
                <a:ea typeface="Calibri" pitchFamily="34" charset="-122"/>
                <a:cs typeface="Calibri" pitchFamily="34" charset="-120"/>
              </a:rPr>
              <a:t> tasks to external services, prioritising interoperability and extensibility over built-in execution.</a:t>
            </a:r>
            <a:endParaRPr lang="en-US" sz="1000" dirty="0"/>
          </a:p>
        </p:txBody>
      </p:sp>
      <p:sp>
        <p:nvSpPr>
          <p:cNvPr id="19" name="Text 17">
            <a:extLst>
              <a:ext uri="{FF2B5EF4-FFF2-40B4-BE49-F238E27FC236}">
                <a16:creationId xmlns:a16="http://schemas.microsoft.com/office/drawing/2014/main" id="{8D73E8E1-7B06-9148-269A-952E312C8AB3}"/>
              </a:ext>
            </a:extLst>
          </p:cNvPr>
          <p:cNvSpPr/>
          <p:nvPr/>
        </p:nvSpPr>
        <p:spPr>
          <a:xfrm>
            <a:off x="4983480" y="2594301"/>
            <a:ext cx="3657600" cy="443360"/>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 Model-agnostic</a:t>
            </a:r>
            <a:r>
              <a:rPr lang="en-US" sz="1000" dirty="0">
                <a:solidFill>
                  <a:srgbClr val="64748B"/>
                </a:solidFill>
                <a:latin typeface="Calibri" pitchFamily="34" charset="0"/>
                <a:ea typeface="Calibri" pitchFamily="34" charset="-122"/>
                <a:cs typeface="Calibri" pitchFamily="34" charset="-120"/>
              </a:rPr>
              <a:t>: works with any external LLM provider, meaning no standardised agentic token format or enforced prompt structure.</a:t>
            </a:r>
            <a:endParaRPr lang="en-US" sz="1000" dirty="0"/>
          </a:p>
        </p:txBody>
      </p:sp>
      <p:sp>
        <p:nvSpPr>
          <p:cNvPr id="20" name="Text 18">
            <a:extLst>
              <a:ext uri="{FF2B5EF4-FFF2-40B4-BE49-F238E27FC236}">
                <a16:creationId xmlns:a16="http://schemas.microsoft.com/office/drawing/2014/main" id="{ACD6B141-EFF5-7064-05DB-9546322CA954}"/>
              </a:ext>
            </a:extLst>
          </p:cNvPr>
          <p:cNvSpPr/>
          <p:nvPr/>
        </p:nvSpPr>
        <p:spPr>
          <a:xfrm>
            <a:off x="4983480" y="3115509"/>
            <a:ext cx="3657600" cy="443360"/>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 </a:t>
            </a:r>
            <a:r>
              <a:rPr lang="en-US" sz="1000" dirty="0">
                <a:solidFill>
                  <a:srgbClr val="64748B"/>
                </a:solidFill>
                <a:latin typeface="Calibri" pitchFamily="34" charset="0"/>
                <a:ea typeface="Calibri" pitchFamily="34" charset="-122"/>
                <a:cs typeface="Calibri" pitchFamily="34" charset="-120"/>
              </a:rPr>
              <a:t>Skills are not automatically created but available in the </a:t>
            </a:r>
            <a:r>
              <a:rPr lang="en-US" sz="1000" b="1" dirty="0">
                <a:solidFill>
                  <a:srgbClr val="64748B"/>
                </a:solidFill>
                <a:latin typeface="Calibri" pitchFamily="34" charset="0"/>
                <a:ea typeface="Calibri" pitchFamily="34" charset="-122"/>
                <a:cs typeface="Calibri" pitchFamily="34" charset="-120"/>
              </a:rPr>
              <a:t>human-curated skill marketplace </a:t>
            </a:r>
            <a:r>
              <a:rPr lang="en-US" sz="1000" dirty="0">
                <a:solidFill>
                  <a:srgbClr val="64748B"/>
                </a:solidFill>
                <a:latin typeface="Calibri" pitchFamily="34" charset="0"/>
                <a:ea typeface="Calibri" pitchFamily="34" charset="-122"/>
                <a:cs typeface="Calibri" pitchFamily="34" charset="-120"/>
              </a:rPr>
              <a:t>(</a:t>
            </a:r>
            <a:r>
              <a:rPr lang="en-US" sz="1000" dirty="0" err="1">
                <a:solidFill>
                  <a:srgbClr val="64748B"/>
                </a:solidFill>
                <a:latin typeface="Calibri" pitchFamily="34" charset="0"/>
                <a:ea typeface="Calibri" pitchFamily="34" charset="-122"/>
                <a:cs typeface="Calibri" pitchFamily="34" charset="-120"/>
              </a:rPr>
              <a:t>ClawHub</a:t>
            </a:r>
            <a:r>
              <a:rPr lang="en-US" sz="1000" dirty="0">
                <a:solidFill>
                  <a:srgbClr val="64748B"/>
                </a:solidFill>
                <a:latin typeface="Calibri" pitchFamily="34" charset="0"/>
                <a:ea typeface="Calibri" pitchFamily="34" charset="-122"/>
                <a:cs typeface="Calibri" pitchFamily="34" charset="-120"/>
              </a:rPr>
              <a:t>). However, its open publishing nature leads to variable trust levels.</a:t>
            </a:r>
            <a:endParaRPr lang="en-US" sz="1000" dirty="0"/>
          </a:p>
        </p:txBody>
      </p:sp>
      <p:sp>
        <p:nvSpPr>
          <p:cNvPr id="21" name="Text 19">
            <a:extLst>
              <a:ext uri="{FF2B5EF4-FFF2-40B4-BE49-F238E27FC236}">
                <a16:creationId xmlns:a16="http://schemas.microsoft.com/office/drawing/2014/main" id="{1B82FF68-D2EE-B203-C79A-FBEBC3F1607E}"/>
              </a:ext>
            </a:extLst>
          </p:cNvPr>
          <p:cNvSpPr/>
          <p:nvPr/>
        </p:nvSpPr>
        <p:spPr>
          <a:xfrm>
            <a:off x="4983480" y="3636717"/>
            <a:ext cx="3657600" cy="443360"/>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 Configuration-dependent security: </a:t>
            </a:r>
            <a:r>
              <a:rPr lang="en-US" sz="1000" dirty="0">
                <a:solidFill>
                  <a:srgbClr val="64748B"/>
                </a:solidFill>
                <a:latin typeface="Calibri" pitchFamily="34" charset="0"/>
                <a:ea typeface="Calibri" pitchFamily="34" charset="-122"/>
                <a:cs typeface="Calibri" pitchFamily="34" charset="-120"/>
              </a:rPr>
              <a:t>critical controls such as session isolation and credential scoping </a:t>
            </a:r>
            <a:r>
              <a:rPr lang="en-US" sz="1000" b="1" dirty="0">
                <a:solidFill>
                  <a:srgbClr val="64748B"/>
                </a:solidFill>
                <a:latin typeface="Calibri" pitchFamily="34" charset="0"/>
                <a:ea typeface="Calibri" pitchFamily="34" charset="-122"/>
                <a:cs typeface="Calibri" pitchFamily="34" charset="-120"/>
              </a:rPr>
              <a:t>require manual opt-in hardening.</a:t>
            </a:r>
            <a:endParaRPr lang="en-US" sz="1000" b="1" dirty="0"/>
          </a:p>
        </p:txBody>
      </p:sp>
      <p:sp>
        <p:nvSpPr>
          <p:cNvPr id="22" name="Text 20">
            <a:extLst>
              <a:ext uri="{FF2B5EF4-FFF2-40B4-BE49-F238E27FC236}">
                <a16:creationId xmlns:a16="http://schemas.microsoft.com/office/drawing/2014/main" id="{12EDDE4C-0636-6331-103F-5FEB52A5D2F3}"/>
              </a:ext>
            </a:extLst>
          </p:cNvPr>
          <p:cNvSpPr/>
          <p:nvPr/>
        </p:nvSpPr>
        <p:spPr>
          <a:xfrm>
            <a:off x="4983480" y="4157925"/>
            <a:ext cx="3657600" cy="443360"/>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 Primarily cloud-first</a:t>
            </a:r>
            <a:r>
              <a:rPr lang="en-US" sz="1000" dirty="0">
                <a:solidFill>
                  <a:srgbClr val="64748B"/>
                </a:solidFill>
                <a:latin typeface="Calibri" pitchFamily="34" charset="0"/>
                <a:ea typeface="Calibri" pitchFamily="34" charset="-122"/>
                <a:cs typeface="Calibri" pitchFamily="34" charset="-120"/>
              </a:rPr>
              <a:t>, with air-gapped deployment requiring </a:t>
            </a:r>
            <a:r>
              <a:rPr lang="en-US" sz="1000" b="1" dirty="0">
                <a:solidFill>
                  <a:srgbClr val="64748B"/>
                </a:solidFill>
                <a:latin typeface="Calibri" pitchFamily="34" charset="0"/>
                <a:ea typeface="Calibri" pitchFamily="34" charset="-122"/>
                <a:cs typeface="Calibri" pitchFamily="34" charset="-120"/>
              </a:rPr>
              <a:t>substantial manual reconfiguration </a:t>
            </a:r>
            <a:r>
              <a:rPr lang="en-US" sz="1000" dirty="0">
                <a:solidFill>
                  <a:srgbClr val="64748B"/>
                </a:solidFill>
                <a:latin typeface="Calibri" pitchFamily="34" charset="0"/>
                <a:ea typeface="Calibri" pitchFamily="34" charset="-122"/>
                <a:cs typeface="Calibri" pitchFamily="34" charset="-120"/>
              </a:rPr>
              <a:t>to remove external dependencies.</a:t>
            </a:r>
            <a:endParaRPr lang="en-US" sz="1000" dirty="0"/>
          </a:p>
        </p:txBody>
      </p:sp>
      <p:sp>
        <p:nvSpPr>
          <p:cNvPr id="23" name="Shape 21">
            <a:extLst>
              <a:ext uri="{FF2B5EF4-FFF2-40B4-BE49-F238E27FC236}">
                <a16:creationId xmlns:a16="http://schemas.microsoft.com/office/drawing/2014/main" id="{27B573D2-3BF8-51B4-8025-4FB77AAFABC1}"/>
              </a:ext>
            </a:extLst>
          </p:cNvPr>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24" name="Text 22">
            <a:extLst>
              <a:ext uri="{FF2B5EF4-FFF2-40B4-BE49-F238E27FC236}">
                <a16:creationId xmlns:a16="http://schemas.microsoft.com/office/drawing/2014/main" id="{0D6D304C-B06E-41C4-DA55-642159127F15}"/>
              </a:ext>
            </a:extLst>
          </p:cNvPr>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
        <p:nvSpPr>
          <p:cNvPr id="36" name="Text 14">
            <a:extLst>
              <a:ext uri="{FF2B5EF4-FFF2-40B4-BE49-F238E27FC236}">
                <a16:creationId xmlns:a16="http://schemas.microsoft.com/office/drawing/2014/main" id="{8F376AD7-483F-FDC4-3000-3CCF0EE6E23C}"/>
              </a:ext>
            </a:extLst>
          </p:cNvPr>
          <p:cNvSpPr/>
          <p:nvPr/>
        </p:nvSpPr>
        <p:spPr>
          <a:xfrm>
            <a:off x="731520" y="1195269"/>
            <a:ext cx="3749040" cy="468939"/>
          </a:xfrm>
          <a:prstGeom prst="rect">
            <a:avLst/>
          </a:prstGeom>
          <a:noFill/>
          <a:ln/>
        </p:spPr>
        <p:txBody>
          <a:bodyPr wrap="square" rtlCol="0" anchor="ctr"/>
          <a:lstStyle/>
          <a:p>
            <a:pPr algn="ctr"/>
            <a:r>
              <a:rPr lang="en-US" sz="1400" b="1" dirty="0">
                <a:solidFill>
                  <a:srgbClr val="FFFFFF"/>
                </a:solidFill>
                <a:latin typeface="Georgia" pitchFamily="34" charset="0"/>
                <a:ea typeface="Georgia" pitchFamily="34" charset="-122"/>
                <a:cs typeface="Georgia" pitchFamily="34" charset="-120"/>
              </a:rPr>
              <a:t>HERMES AGENT</a:t>
            </a:r>
            <a:endParaRPr lang="en-US" sz="1400" dirty="0"/>
          </a:p>
        </p:txBody>
      </p:sp>
      <p:sp>
        <p:nvSpPr>
          <p:cNvPr id="37" name="Text 15">
            <a:extLst>
              <a:ext uri="{FF2B5EF4-FFF2-40B4-BE49-F238E27FC236}">
                <a16:creationId xmlns:a16="http://schemas.microsoft.com/office/drawing/2014/main" id="{01E2560B-17BB-A773-FC74-6C5A7FD233EF}"/>
              </a:ext>
            </a:extLst>
          </p:cNvPr>
          <p:cNvSpPr/>
          <p:nvPr/>
        </p:nvSpPr>
        <p:spPr>
          <a:xfrm>
            <a:off x="731520" y="1762197"/>
            <a:ext cx="3749040" cy="238733"/>
          </a:xfrm>
          <a:prstGeom prst="rect">
            <a:avLst/>
          </a:prstGeom>
          <a:noFill/>
          <a:ln/>
        </p:spPr>
        <p:txBody>
          <a:bodyPr wrap="square" rtlCol="0" anchor="ctr"/>
          <a:lstStyle/>
          <a:p>
            <a:pPr marL="0" indent="0">
              <a:buNone/>
            </a:pPr>
            <a:endParaRPr lang="en-US" sz="950" dirty="0"/>
          </a:p>
        </p:txBody>
      </p:sp>
      <p:sp>
        <p:nvSpPr>
          <p:cNvPr id="44" name="Text 6">
            <a:extLst>
              <a:ext uri="{FF2B5EF4-FFF2-40B4-BE49-F238E27FC236}">
                <a16:creationId xmlns:a16="http://schemas.microsoft.com/office/drawing/2014/main" id="{4E8FDF54-F05D-C0BB-5A2E-4AB81B463B50}"/>
              </a:ext>
            </a:extLst>
          </p:cNvPr>
          <p:cNvSpPr/>
          <p:nvPr/>
        </p:nvSpPr>
        <p:spPr>
          <a:xfrm>
            <a:off x="731520" y="1762197"/>
            <a:ext cx="3749040" cy="238733"/>
          </a:xfrm>
          <a:prstGeom prst="rect">
            <a:avLst/>
          </a:prstGeom>
          <a:noFill/>
          <a:ln/>
        </p:spPr>
        <p:txBody>
          <a:bodyPr wrap="square" rtlCol="0" anchor="ctr"/>
          <a:lstStyle/>
          <a:p>
            <a:pPr marL="0" indent="0">
              <a:buNone/>
            </a:pPr>
            <a:r>
              <a:rPr lang="en-US" sz="950" i="1" dirty="0">
                <a:solidFill>
                  <a:schemeClr val="tx1">
                    <a:lumMod val="50000"/>
                    <a:lumOff val="50000"/>
                  </a:schemeClr>
                </a:solidFill>
                <a:latin typeface="Calibri" pitchFamily="34" charset="0"/>
                <a:ea typeface="Calibri" pitchFamily="34" charset="-122"/>
                <a:cs typeface="Calibri" pitchFamily="34" charset="-120"/>
              </a:rPr>
              <a:t>NousResearch • Feb 2026 • Python • MIT</a:t>
            </a:r>
            <a:endParaRPr lang="en-US" sz="950" dirty="0">
              <a:solidFill>
                <a:schemeClr val="tx1">
                  <a:lumMod val="50000"/>
                  <a:lumOff val="50000"/>
                </a:schemeClr>
              </a:solidFill>
            </a:endParaRPr>
          </a:p>
        </p:txBody>
      </p:sp>
      <p:sp>
        <p:nvSpPr>
          <p:cNvPr id="45" name="Text 7">
            <a:extLst>
              <a:ext uri="{FF2B5EF4-FFF2-40B4-BE49-F238E27FC236}">
                <a16:creationId xmlns:a16="http://schemas.microsoft.com/office/drawing/2014/main" id="{4E12E7A7-B3F0-C8AC-68E4-DAAF4E515A5A}"/>
              </a:ext>
            </a:extLst>
          </p:cNvPr>
          <p:cNvSpPr/>
          <p:nvPr/>
        </p:nvSpPr>
        <p:spPr>
          <a:xfrm>
            <a:off x="777240" y="2073093"/>
            <a:ext cx="3657600" cy="443360"/>
          </a:xfrm>
          <a:prstGeom prst="rect">
            <a:avLst/>
          </a:prstGeom>
          <a:noFill/>
          <a:ln/>
        </p:spPr>
        <p:txBody>
          <a:bodyPr wrap="square" rtlCol="0" anchor="ctr"/>
          <a:lstStyle/>
          <a:p>
            <a:pPr marL="0" indent="0">
              <a:buNone/>
            </a:pPr>
            <a:r>
              <a:rPr lang="en-US" sz="1000" b="1" dirty="0">
                <a:solidFill>
                  <a:sysClr val="windowText" lastClr="000000"/>
                </a:solidFill>
                <a:latin typeface="Calibri" pitchFamily="34" charset="0"/>
                <a:ea typeface="Calibri" pitchFamily="34" charset="-122"/>
                <a:cs typeface="Calibri" pitchFamily="34" charset="-120"/>
              </a:rPr>
              <a:t>• Model-centric framework</a:t>
            </a:r>
            <a:r>
              <a:rPr lang="en-US" sz="1000" dirty="0">
                <a:solidFill>
                  <a:sysClr val="windowText" lastClr="000000"/>
                </a:solidFill>
                <a:latin typeface="Calibri" pitchFamily="34" charset="0"/>
                <a:ea typeface="Calibri" pitchFamily="34" charset="-122"/>
                <a:cs typeface="Calibri" pitchFamily="34" charset="-120"/>
              </a:rPr>
              <a:t> built around Hermes-series open-weight </a:t>
            </a:r>
            <a:r>
              <a:rPr lang="en-US" sz="1000" dirty="0">
                <a:latin typeface="Calibri" pitchFamily="34" charset="0"/>
                <a:ea typeface="Calibri" pitchFamily="34" charset="-122"/>
                <a:cs typeface="Calibri" pitchFamily="34" charset="-120"/>
              </a:rPr>
              <a:t>LLMs, fine-tuned specifically for </a:t>
            </a:r>
            <a:r>
              <a:rPr lang="en-US" sz="1000" b="1" dirty="0">
                <a:latin typeface="Calibri" pitchFamily="34" charset="0"/>
                <a:ea typeface="Calibri" pitchFamily="34" charset="-122"/>
                <a:cs typeface="Calibri" pitchFamily="34" charset="-120"/>
              </a:rPr>
              <a:t>autonomous task execution</a:t>
            </a:r>
            <a:r>
              <a:rPr lang="en-US" sz="1000" dirty="0">
                <a:latin typeface="Calibri" pitchFamily="34" charset="0"/>
                <a:ea typeface="Calibri" pitchFamily="34" charset="-122"/>
                <a:cs typeface="Calibri" pitchFamily="34" charset="-120"/>
              </a:rPr>
              <a:t>.</a:t>
            </a:r>
            <a:endParaRPr lang="en-US" sz="1000" dirty="0"/>
          </a:p>
        </p:txBody>
      </p:sp>
      <p:sp>
        <p:nvSpPr>
          <p:cNvPr id="46" name="Text 8">
            <a:extLst>
              <a:ext uri="{FF2B5EF4-FFF2-40B4-BE49-F238E27FC236}">
                <a16:creationId xmlns:a16="http://schemas.microsoft.com/office/drawing/2014/main" id="{F93BCC71-6002-5497-FAE7-AD4345D15732}"/>
              </a:ext>
            </a:extLst>
          </p:cNvPr>
          <p:cNvSpPr/>
          <p:nvPr/>
        </p:nvSpPr>
        <p:spPr>
          <a:xfrm>
            <a:off x="777240" y="2594301"/>
            <a:ext cx="3657600" cy="443360"/>
          </a:xfrm>
          <a:prstGeom prst="rect">
            <a:avLst/>
          </a:prstGeom>
          <a:noFill/>
          <a:ln/>
        </p:spPr>
        <p:txBody>
          <a:bodyPr wrap="square" rtlCol="0" anchor="ctr"/>
          <a:lstStyle/>
          <a:p>
            <a:pPr marL="0" indent="0">
              <a:buNone/>
            </a:pPr>
            <a:r>
              <a:rPr lang="en-US" sz="1000" b="1" dirty="0">
                <a:solidFill>
                  <a:sysClr val="windowText" lastClr="000000"/>
                </a:solidFill>
                <a:latin typeface="Calibri" pitchFamily="34" charset="0"/>
                <a:ea typeface="Calibri" pitchFamily="34" charset="-122"/>
                <a:cs typeface="Calibri" pitchFamily="34" charset="-120"/>
              </a:rPr>
              <a:t>• Stateful </a:t>
            </a:r>
            <a:r>
              <a:rPr lang="en-US" sz="1000" b="1" dirty="0">
                <a:latin typeface="Calibri" pitchFamily="34" charset="0"/>
                <a:ea typeface="Calibri" pitchFamily="34" charset="-122"/>
                <a:cs typeface="Calibri" pitchFamily="34" charset="-120"/>
              </a:rPr>
              <a:t>persistent agent loop: </a:t>
            </a:r>
            <a:r>
              <a:rPr lang="en-US" sz="1000" dirty="0">
                <a:latin typeface="Calibri" pitchFamily="34" charset="0"/>
                <a:ea typeface="Calibri" pitchFamily="34" charset="-122"/>
                <a:cs typeface="Calibri" pitchFamily="34" charset="-120"/>
              </a:rPr>
              <a:t>retains knowledge across sessions via FTS5 memory and LLM-based summarisation.</a:t>
            </a:r>
            <a:endParaRPr lang="en-US" sz="1000" dirty="0"/>
          </a:p>
        </p:txBody>
      </p:sp>
      <p:sp>
        <p:nvSpPr>
          <p:cNvPr id="47" name="Text 9">
            <a:extLst>
              <a:ext uri="{FF2B5EF4-FFF2-40B4-BE49-F238E27FC236}">
                <a16:creationId xmlns:a16="http://schemas.microsoft.com/office/drawing/2014/main" id="{D473FF27-2890-A402-5BA9-9FF92687D131}"/>
              </a:ext>
            </a:extLst>
          </p:cNvPr>
          <p:cNvSpPr/>
          <p:nvPr/>
        </p:nvSpPr>
        <p:spPr>
          <a:xfrm>
            <a:off x="777240" y="3115509"/>
            <a:ext cx="3657600" cy="443360"/>
          </a:xfrm>
          <a:prstGeom prst="rect">
            <a:avLst/>
          </a:prstGeom>
          <a:noFill/>
          <a:ln/>
        </p:spPr>
        <p:txBody>
          <a:bodyPr wrap="square" rtlCol="0" anchor="ctr"/>
          <a:lstStyle/>
          <a:p>
            <a:pPr marL="0" indent="0">
              <a:buNone/>
            </a:pPr>
            <a:r>
              <a:rPr lang="en-US" sz="1000" b="1" dirty="0">
                <a:solidFill>
                  <a:sysClr val="windowText" lastClr="000000"/>
                </a:solidFill>
                <a:latin typeface="Calibri" pitchFamily="34" charset="0"/>
                <a:ea typeface="Calibri" pitchFamily="34" charset="-122"/>
                <a:cs typeface="Calibri" pitchFamily="34" charset="-120"/>
              </a:rPr>
              <a:t>• Automated skill-creation loop</a:t>
            </a:r>
            <a:r>
              <a:rPr lang="en-US" sz="1000" dirty="0">
                <a:solidFill>
                  <a:sysClr val="windowText" lastClr="000000"/>
                </a:solidFill>
                <a:latin typeface="Calibri" pitchFamily="34" charset="0"/>
                <a:ea typeface="Calibri" pitchFamily="34" charset="-122"/>
                <a:cs typeface="Calibri" pitchFamily="34" charset="-120"/>
              </a:rPr>
              <a:t> that creates, updates and extracts reusable workflows from successful </a:t>
            </a:r>
            <a:r>
              <a:rPr lang="en-US" sz="1000" dirty="0">
                <a:latin typeface="Calibri" pitchFamily="34" charset="0"/>
                <a:ea typeface="Calibri" pitchFamily="34" charset="-122"/>
                <a:cs typeface="Calibri" pitchFamily="34" charset="-120"/>
              </a:rPr>
              <a:t>executions, with </a:t>
            </a:r>
            <a:r>
              <a:rPr lang="en-US" sz="1000" b="1" dirty="0">
                <a:latin typeface="Calibri" pitchFamily="34" charset="0"/>
                <a:ea typeface="Calibri" pitchFamily="34" charset="-122"/>
                <a:cs typeface="Calibri" pitchFamily="34" charset="-120"/>
              </a:rPr>
              <a:t>no manual authoring </a:t>
            </a:r>
            <a:r>
              <a:rPr lang="en-US" sz="1000" dirty="0">
                <a:latin typeface="Calibri" pitchFamily="34" charset="0"/>
                <a:ea typeface="Calibri" pitchFamily="34" charset="-122"/>
                <a:cs typeface="Calibri" pitchFamily="34" charset="-120"/>
              </a:rPr>
              <a:t>needed.</a:t>
            </a:r>
            <a:endParaRPr lang="en-US" sz="1000" dirty="0"/>
          </a:p>
        </p:txBody>
      </p:sp>
      <p:sp>
        <p:nvSpPr>
          <p:cNvPr id="48" name="Text 10">
            <a:extLst>
              <a:ext uri="{FF2B5EF4-FFF2-40B4-BE49-F238E27FC236}">
                <a16:creationId xmlns:a16="http://schemas.microsoft.com/office/drawing/2014/main" id="{F50B670D-AEA0-160D-9960-0797D166EC2E}"/>
              </a:ext>
            </a:extLst>
          </p:cNvPr>
          <p:cNvSpPr/>
          <p:nvPr/>
        </p:nvSpPr>
        <p:spPr>
          <a:xfrm>
            <a:off x="777240" y="3636717"/>
            <a:ext cx="3657600" cy="443360"/>
          </a:xfrm>
          <a:prstGeom prst="rect">
            <a:avLst/>
          </a:prstGeom>
          <a:noFill/>
          <a:ln/>
        </p:spPr>
        <p:txBody>
          <a:bodyPr wrap="square" rtlCol="0" anchor="ctr"/>
          <a:lstStyle/>
          <a:p>
            <a:pPr marL="0" indent="0">
              <a:buNone/>
            </a:pPr>
            <a:r>
              <a:rPr lang="en-US" sz="1000" b="1" dirty="0">
                <a:solidFill>
                  <a:sysClr val="windowText" lastClr="000000"/>
                </a:solidFill>
                <a:latin typeface="Calibri" pitchFamily="34" charset="0"/>
                <a:ea typeface="Calibri" pitchFamily="34" charset="-122"/>
                <a:cs typeface="Calibri" pitchFamily="34" charset="-120"/>
              </a:rPr>
              <a:t>• Security-first </a:t>
            </a:r>
            <a:r>
              <a:rPr lang="en-US" sz="1000" b="1" dirty="0">
                <a:latin typeface="Calibri" pitchFamily="34" charset="0"/>
                <a:ea typeface="Calibri" pitchFamily="34" charset="-122"/>
                <a:cs typeface="Calibri" pitchFamily="34" charset="-120"/>
              </a:rPr>
              <a:t>by design</a:t>
            </a:r>
            <a:r>
              <a:rPr lang="en-US" sz="1000" dirty="0">
                <a:latin typeface="Calibri" pitchFamily="34" charset="0"/>
                <a:ea typeface="Calibri" pitchFamily="34" charset="-122"/>
                <a:cs typeface="Calibri" pitchFamily="34" charset="-120"/>
              </a:rPr>
              <a:t>: seven-layer defence-in-depth, enforced credential isolation, and fail-closed SSRF protection.</a:t>
            </a:r>
            <a:endParaRPr lang="en-US" sz="1000" dirty="0"/>
          </a:p>
        </p:txBody>
      </p:sp>
      <p:sp>
        <p:nvSpPr>
          <p:cNvPr id="49" name="Text 11">
            <a:extLst>
              <a:ext uri="{FF2B5EF4-FFF2-40B4-BE49-F238E27FC236}">
                <a16:creationId xmlns:a16="http://schemas.microsoft.com/office/drawing/2014/main" id="{8F1DBD89-3C11-CB9B-8018-A98F41CCEE0A}"/>
              </a:ext>
            </a:extLst>
          </p:cNvPr>
          <p:cNvSpPr/>
          <p:nvPr/>
        </p:nvSpPr>
        <p:spPr>
          <a:xfrm>
            <a:off x="777240" y="4157925"/>
            <a:ext cx="3657600" cy="443360"/>
          </a:xfrm>
          <a:prstGeom prst="rect">
            <a:avLst/>
          </a:prstGeom>
          <a:noFill/>
          <a:ln/>
        </p:spPr>
        <p:txBody>
          <a:bodyPr wrap="square" rtlCol="0" anchor="ctr"/>
          <a:lstStyle/>
          <a:p>
            <a:pPr marL="0" indent="0">
              <a:buNone/>
            </a:pPr>
            <a:r>
              <a:rPr lang="en-US" sz="1000" b="1" dirty="0">
                <a:solidFill>
                  <a:sysClr val="windowText" lastClr="000000"/>
                </a:solidFill>
                <a:latin typeface="Calibri" pitchFamily="34" charset="0"/>
                <a:ea typeface="Calibri" pitchFamily="34" charset="-122"/>
                <a:cs typeface="Calibri" pitchFamily="34" charset="-120"/>
              </a:rPr>
              <a:t>• </a:t>
            </a:r>
            <a:r>
              <a:rPr lang="en-US" sz="1000" dirty="0">
                <a:solidFill>
                  <a:sysClr val="windowText" lastClr="000000"/>
                </a:solidFill>
                <a:latin typeface="Calibri" pitchFamily="34" charset="0"/>
                <a:ea typeface="Calibri" pitchFamily="34" charset="-122"/>
                <a:cs typeface="Calibri" pitchFamily="34" charset="-120"/>
              </a:rPr>
              <a:t>Supports </a:t>
            </a:r>
            <a:r>
              <a:rPr lang="en-US" sz="1000" b="1" dirty="0">
                <a:solidFill>
                  <a:sysClr val="windowText" lastClr="000000"/>
                </a:solidFill>
                <a:latin typeface="Calibri" pitchFamily="34" charset="0"/>
                <a:ea typeface="Calibri" pitchFamily="34" charset="-122"/>
                <a:cs typeface="Calibri" pitchFamily="34" charset="-120"/>
              </a:rPr>
              <a:t>local, cloud and air-gapped deployments </a:t>
            </a:r>
            <a:r>
              <a:rPr lang="en-US" sz="1000" dirty="0">
                <a:solidFill>
                  <a:sysClr val="windowText" lastClr="000000"/>
                </a:solidFill>
                <a:latin typeface="Calibri" pitchFamily="34" charset="0"/>
                <a:ea typeface="Calibri" pitchFamily="34" charset="-122"/>
                <a:cs typeface="Calibri" pitchFamily="34" charset="-120"/>
              </a:rPr>
              <a:t>with </a:t>
            </a:r>
            <a:r>
              <a:rPr lang="en-US" sz="1000" b="1" dirty="0">
                <a:solidFill>
                  <a:sysClr val="windowText" lastClr="000000"/>
                </a:solidFill>
                <a:latin typeface="Calibri" pitchFamily="34" charset="0"/>
                <a:ea typeface="Calibri" pitchFamily="34" charset="-122"/>
                <a:cs typeface="Calibri" pitchFamily="34" charset="-120"/>
              </a:rPr>
              <a:t>offline modes </a:t>
            </a:r>
            <a:r>
              <a:rPr lang="en-US" sz="1000" dirty="0">
                <a:solidFill>
                  <a:sysClr val="windowText" lastClr="000000"/>
                </a:solidFill>
                <a:latin typeface="Calibri" pitchFamily="34" charset="0"/>
                <a:ea typeface="Calibri" pitchFamily="34" charset="-122"/>
                <a:cs typeface="Calibri" pitchFamily="34" charset="-120"/>
              </a:rPr>
              <a:t>available using </a:t>
            </a:r>
            <a:r>
              <a:rPr lang="en-US" sz="1000" dirty="0" err="1">
                <a:solidFill>
                  <a:sysClr val="windowText" lastClr="000000"/>
                </a:solidFill>
                <a:latin typeface="Calibri" pitchFamily="34" charset="0"/>
                <a:ea typeface="Calibri" pitchFamily="34" charset="-122"/>
                <a:cs typeface="Calibri" pitchFamily="34" charset="-120"/>
              </a:rPr>
              <a:t>Ollama</a:t>
            </a:r>
            <a:r>
              <a:rPr lang="en-US" sz="1000" dirty="0">
                <a:solidFill>
                  <a:sysClr val="windowText" lastClr="000000"/>
                </a:solidFill>
                <a:latin typeface="Calibri" pitchFamily="34" charset="0"/>
                <a:ea typeface="Calibri" pitchFamily="34" charset="-122"/>
                <a:cs typeface="Calibri" pitchFamily="34" charset="-120"/>
              </a:rPr>
              <a:t> and local models.</a:t>
            </a:r>
            <a:endParaRPr lang="en-US" sz="1000" dirty="0"/>
          </a:p>
        </p:txBody>
      </p:sp>
      <p:pic>
        <p:nvPicPr>
          <p:cNvPr id="1026" name="Picture 2" descr="OpenClaw (MoltBot/ClawdBot) Free SVG... · LobeHub">
            <a:extLst>
              <a:ext uri="{FF2B5EF4-FFF2-40B4-BE49-F238E27FC236}">
                <a16:creationId xmlns:a16="http://schemas.microsoft.com/office/drawing/2014/main" id="{DFAF2887-DBEF-6A61-6A9D-9FDBCE2AF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8733" y="1080845"/>
            <a:ext cx="516467" cy="5164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AE685A9-E727-3B4C-8B5D-6BB821AF33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440" y="1072645"/>
            <a:ext cx="524667" cy="524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166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Architecture Comparison</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How each platform is structured and implications on DSO workflows</a:t>
            </a:r>
            <a:endParaRPr lang="en-US" sz="1300" dirty="0"/>
          </a:p>
        </p:txBody>
      </p:sp>
      <p:sp>
        <p:nvSpPr>
          <p:cNvPr id="5" name="Shape 3"/>
          <p:cNvSpPr/>
          <p:nvPr/>
        </p:nvSpPr>
        <p:spPr>
          <a:xfrm>
            <a:off x="3200400" y="1032607"/>
            <a:ext cx="2743200" cy="365760"/>
          </a:xfrm>
          <a:prstGeom prst="rect">
            <a:avLst/>
          </a:prstGeom>
          <a:solidFill>
            <a:schemeClr val="accent1">
              <a:lumMod val="75000"/>
            </a:schemeClr>
          </a:solidFill>
          <a:ln w="12700">
            <a:solidFill>
              <a:schemeClr val="accent1">
                <a:lumMod val="75000"/>
              </a:schemeClr>
            </a:solidFill>
            <a:prstDash val="solid"/>
          </a:ln>
        </p:spPr>
        <p:txBody>
          <a:bodyPr/>
          <a:lstStyle/>
          <a:p>
            <a:endParaRPr lang="en-AU"/>
          </a:p>
        </p:txBody>
      </p:sp>
      <p:sp>
        <p:nvSpPr>
          <p:cNvPr id="6" name="Text 4"/>
          <p:cNvSpPr/>
          <p:nvPr/>
        </p:nvSpPr>
        <p:spPr>
          <a:xfrm>
            <a:off x="3200400" y="1032607"/>
            <a:ext cx="27432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Hermes Agent</a:t>
            </a:r>
            <a:endParaRPr lang="en-US" sz="1100" dirty="0"/>
          </a:p>
        </p:txBody>
      </p:sp>
      <p:sp>
        <p:nvSpPr>
          <p:cNvPr id="7" name="Shape 5"/>
          <p:cNvSpPr/>
          <p:nvPr/>
        </p:nvSpPr>
        <p:spPr>
          <a:xfrm>
            <a:off x="6035040" y="1032607"/>
            <a:ext cx="2743200" cy="365760"/>
          </a:xfrm>
          <a:prstGeom prst="rect">
            <a:avLst/>
          </a:prstGeom>
          <a:solidFill>
            <a:srgbClr val="CADCFC">
              <a:alpha val="70000"/>
            </a:srgbClr>
          </a:solidFill>
          <a:ln w="12700">
            <a:solidFill>
              <a:srgbClr val="CADCFC"/>
            </a:solidFill>
            <a:prstDash val="solid"/>
          </a:ln>
        </p:spPr>
        <p:txBody>
          <a:bodyPr/>
          <a:lstStyle/>
          <a:p>
            <a:endParaRPr lang="en-AU"/>
          </a:p>
        </p:txBody>
      </p:sp>
      <p:sp>
        <p:nvSpPr>
          <p:cNvPr id="8" name="Text 6"/>
          <p:cNvSpPr/>
          <p:nvPr/>
        </p:nvSpPr>
        <p:spPr>
          <a:xfrm>
            <a:off x="6035040" y="1032607"/>
            <a:ext cx="2743200" cy="3657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OpenClaw</a:t>
            </a:r>
            <a:endParaRPr lang="en-US" sz="1100" dirty="0"/>
          </a:p>
        </p:txBody>
      </p:sp>
      <p:sp>
        <p:nvSpPr>
          <p:cNvPr id="9" name="Shape 7"/>
          <p:cNvSpPr/>
          <p:nvPr/>
        </p:nvSpPr>
        <p:spPr>
          <a:xfrm>
            <a:off x="365760" y="1489807"/>
            <a:ext cx="8412480" cy="402336"/>
          </a:xfrm>
          <a:prstGeom prst="rect">
            <a:avLst/>
          </a:prstGeom>
          <a:solidFill>
            <a:srgbClr val="F8FAFF"/>
          </a:solidFill>
          <a:ln w="6350">
            <a:solidFill>
              <a:srgbClr val="CADCFC">
                <a:alpha val="40000"/>
              </a:srgbClr>
            </a:solidFill>
            <a:prstDash val="solid"/>
          </a:ln>
        </p:spPr>
        <p:txBody>
          <a:bodyPr/>
          <a:lstStyle/>
          <a:p>
            <a:endParaRPr lang="en-AU"/>
          </a:p>
        </p:txBody>
      </p:sp>
      <p:sp>
        <p:nvSpPr>
          <p:cNvPr id="10" name="Text 8"/>
          <p:cNvSpPr/>
          <p:nvPr/>
        </p:nvSpPr>
        <p:spPr>
          <a:xfrm>
            <a:off x="457200" y="1526383"/>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Architecture</a:t>
            </a:r>
            <a:endParaRPr lang="en-US" sz="1000" dirty="0"/>
          </a:p>
        </p:txBody>
      </p:sp>
      <p:sp>
        <p:nvSpPr>
          <p:cNvPr id="11" name="Text 9"/>
          <p:cNvSpPr/>
          <p:nvPr/>
        </p:nvSpPr>
        <p:spPr>
          <a:xfrm>
            <a:off x="3200400" y="1526383"/>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Stateful</a:t>
            </a:r>
            <a:r>
              <a:rPr lang="en-US" sz="950" dirty="0">
                <a:solidFill>
                  <a:srgbClr val="64748B"/>
                </a:solidFill>
                <a:latin typeface="Calibri" pitchFamily="34" charset="0"/>
                <a:ea typeface="Calibri" pitchFamily="34" charset="-122"/>
                <a:cs typeface="Calibri" pitchFamily="34" charset="-120"/>
              </a:rPr>
              <a:t>, self-contained persistent agent loop that </a:t>
            </a:r>
            <a:r>
              <a:rPr lang="en-US" sz="950" b="1" dirty="0">
                <a:solidFill>
                  <a:srgbClr val="64748B"/>
                </a:solidFill>
                <a:latin typeface="Calibri" pitchFamily="34" charset="0"/>
                <a:ea typeface="Calibri" pitchFamily="34" charset="-122"/>
                <a:cs typeface="Calibri" pitchFamily="34" charset="-120"/>
              </a:rPr>
              <a:t>stores context and rationale </a:t>
            </a:r>
            <a:r>
              <a:rPr lang="en-US" sz="950" dirty="0">
                <a:solidFill>
                  <a:srgbClr val="64748B"/>
                </a:solidFill>
                <a:latin typeface="Calibri" pitchFamily="34" charset="0"/>
                <a:ea typeface="Calibri" pitchFamily="34" charset="-122"/>
                <a:cs typeface="Calibri" pitchFamily="34" charset="-120"/>
              </a:rPr>
              <a:t>for actions.</a:t>
            </a:r>
            <a:endParaRPr lang="en-US" sz="950" dirty="0"/>
          </a:p>
        </p:txBody>
      </p:sp>
      <p:sp>
        <p:nvSpPr>
          <p:cNvPr id="12" name="Text 10"/>
          <p:cNvSpPr/>
          <p:nvPr/>
        </p:nvSpPr>
        <p:spPr>
          <a:xfrm>
            <a:off x="6035040" y="1526383"/>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Stateless</a:t>
            </a:r>
            <a:r>
              <a:rPr lang="en-US" sz="950" dirty="0">
                <a:solidFill>
                  <a:srgbClr val="64748B"/>
                </a:solidFill>
                <a:latin typeface="Calibri" pitchFamily="34" charset="0"/>
                <a:ea typeface="Calibri" pitchFamily="34" charset="-122"/>
                <a:cs typeface="Calibri" pitchFamily="34" charset="-120"/>
              </a:rPr>
              <a:t> gateway that </a:t>
            </a:r>
            <a:r>
              <a:rPr lang="en-US" sz="950" b="1" dirty="0">
                <a:solidFill>
                  <a:srgbClr val="64748B"/>
                </a:solidFill>
                <a:latin typeface="Calibri" pitchFamily="34" charset="0"/>
                <a:ea typeface="Calibri" pitchFamily="34" charset="-122"/>
                <a:cs typeface="Calibri" pitchFamily="34" charset="-120"/>
              </a:rPr>
              <a:t>routes</a:t>
            </a:r>
            <a:r>
              <a:rPr lang="en-US" sz="950" dirty="0">
                <a:solidFill>
                  <a:srgbClr val="64748B"/>
                </a:solidFill>
                <a:latin typeface="Calibri" pitchFamily="34" charset="0"/>
                <a:ea typeface="Calibri" pitchFamily="34" charset="-122"/>
                <a:cs typeface="Calibri" pitchFamily="34" charset="-120"/>
              </a:rPr>
              <a:t> tasks to external services</a:t>
            </a:r>
            <a:endParaRPr lang="en-US" sz="950" dirty="0"/>
          </a:p>
        </p:txBody>
      </p:sp>
      <p:sp>
        <p:nvSpPr>
          <p:cNvPr id="13" name="Shape 11"/>
          <p:cNvSpPr/>
          <p:nvPr/>
        </p:nvSpPr>
        <p:spPr>
          <a:xfrm>
            <a:off x="365760" y="1919575"/>
            <a:ext cx="8412480" cy="402336"/>
          </a:xfrm>
          <a:prstGeom prst="rect">
            <a:avLst/>
          </a:prstGeom>
          <a:solidFill>
            <a:srgbClr val="FFFFFF"/>
          </a:solidFill>
          <a:ln w="6350">
            <a:solidFill>
              <a:srgbClr val="CADCFC">
                <a:alpha val="40000"/>
              </a:srgbClr>
            </a:solidFill>
            <a:prstDash val="solid"/>
          </a:ln>
        </p:spPr>
        <p:txBody>
          <a:bodyPr/>
          <a:lstStyle/>
          <a:p>
            <a:endParaRPr lang="en-AU"/>
          </a:p>
        </p:txBody>
      </p:sp>
      <p:sp>
        <p:nvSpPr>
          <p:cNvPr id="14" name="Text 12"/>
          <p:cNvSpPr/>
          <p:nvPr/>
        </p:nvSpPr>
        <p:spPr>
          <a:xfrm>
            <a:off x="457200" y="1956151"/>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Language</a:t>
            </a:r>
            <a:endParaRPr lang="en-US" sz="1000" dirty="0"/>
          </a:p>
        </p:txBody>
      </p:sp>
      <p:sp>
        <p:nvSpPr>
          <p:cNvPr id="15" name="Text 13"/>
          <p:cNvSpPr/>
          <p:nvPr/>
        </p:nvSpPr>
        <p:spPr>
          <a:xfrm>
            <a:off x="3200400" y="1956151"/>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Python</a:t>
            </a:r>
            <a:r>
              <a:rPr lang="en-US" sz="950" dirty="0">
                <a:solidFill>
                  <a:srgbClr val="64748B"/>
                </a:solidFill>
                <a:latin typeface="Calibri" pitchFamily="34" charset="0"/>
                <a:ea typeface="Calibri" pitchFamily="34" charset="-122"/>
                <a:cs typeface="Calibri" pitchFamily="34" charset="-120"/>
              </a:rPr>
              <a:t>: native to ML/data science ecosystem</a:t>
            </a:r>
            <a:endParaRPr lang="en-US" sz="950" dirty="0"/>
          </a:p>
        </p:txBody>
      </p:sp>
      <p:sp>
        <p:nvSpPr>
          <p:cNvPr id="16" name="Text 14"/>
          <p:cNvSpPr/>
          <p:nvPr/>
        </p:nvSpPr>
        <p:spPr>
          <a:xfrm>
            <a:off x="6035040" y="1956151"/>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TypeScript &amp; Swift</a:t>
            </a:r>
            <a:r>
              <a:rPr lang="en-US" sz="950" dirty="0">
                <a:solidFill>
                  <a:srgbClr val="64748B"/>
                </a:solidFill>
                <a:latin typeface="Calibri" pitchFamily="34" charset="0"/>
                <a:ea typeface="Calibri" pitchFamily="34" charset="-122"/>
                <a:cs typeface="Calibri" pitchFamily="34" charset="-120"/>
              </a:rPr>
              <a:t>: multiple language boundaries may cause dependency conflicts</a:t>
            </a:r>
            <a:endParaRPr lang="en-US" sz="950" dirty="0"/>
          </a:p>
        </p:txBody>
      </p:sp>
      <p:sp>
        <p:nvSpPr>
          <p:cNvPr id="17" name="Shape 15"/>
          <p:cNvSpPr/>
          <p:nvPr/>
        </p:nvSpPr>
        <p:spPr>
          <a:xfrm>
            <a:off x="365760" y="2349343"/>
            <a:ext cx="8412480" cy="402336"/>
          </a:xfrm>
          <a:prstGeom prst="rect">
            <a:avLst/>
          </a:prstGeom>
          <a:solidFill>
            <a:srgbClr val="F8FAFF"/>
          </a:solidFill>
          <a:ln w="6350">
            <a:solidFill>
              <a:srgbClr val="CADCFC">
                <a:alpha val="40000"/>
              </a:srgbClr>
            </a:solidFill>
            <a:prstDash val="solid"/>
          </a:ln>
        </p:spPr>
        <p:txBody>
          <a:bodyPr/>
          <a:lstStyle/>
          <a:p>
            <a:endParaRPr lang="en-AU"/>
          </a:p>
        </p:txBody>
      </p:sp>
      <p:sp>
        <p:nvSpPr>
          <p:cNvPr id="18" name="Text 16"/>
          <p:cNvSpPr/>
          <p:nvPr/>
        </p:nvSpPr>
        <p:spPr>
          <a:xfrm>
            <a:off x="457200" y="2385919"/>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Memory</a:t>
            </a:r>
            <a:endParaRPr lang="en-US" sz="1000" dirty="0"/>
          </a:p>
        </p:txBody>
      </p:sp>
      <p:sp>
        <p:nvSpPr>
          <p:cNvPr id="19" name="Text 17"/>
          <p:cNvSpPr/>
          <p:nvPr/>
        </p:nvSpPr>
        <p:spPr>
          <a:xfrm>
            <a:off x="3200400" y="2385919"/>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Local persistent memory</a:t>
            </a:r>
            <a:r>
              <a:rPr lang="en-US" sz="950" dirty="0">
                <a:solidFill>
                  <a:srgbClr val="64748B"/>
                </a:solidFill>
                <a:latin typeface="Calibri" pitchFamily="34" charset="0"/>
                <a:ea typeface="Calibri" pitchFamily="34" charset="-122"/>
                <a:cs typeface="Calibri" pitchFamily="34" charset="-120"/>
              </a:rPr>
              <a:t>: Uses FTS5 indexing and LLM summarisation across sessions</a:t>
            </a:r>
            <a:endParaRPr lang="en-US" sz="950" dirty="0"/>
          </a:p>
        </p:txBody>
      </p:sp>
      <p:sp>
        <p:nvSpPr>
          <p:cNvPr id="20" name="Text 18"/>
          <p:cNvSpPr/>
          <p:nvPr/>
        </p:nvSpPr>
        <p:spPr>
          <a:xfrm>
            <a:off x="6035040" y="2385919"/>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External/ file-based memory</a:t>
            </a:r>
            <a:r>
              <a:rPr lang="en-US" sz="950" dirty="0">
                <a:solidFill>
                  <a:srgbClr val="64748B"/>
                </a:solidFill>
                <a:latin typeface="Calibri" pitchFamily="34" charset="0"/>
                <a:ea typeface="Calibri" pitchFamily="34" charset="-122"/>
                <a:cs typeface="Calibri" pitchFamily="34" charset="-120"/>
              </a:rPr>
              <a:t>: Uses YAML/Markdown and no automated summarisation</a:t>
            </a:r>
            <a:endParaRPr lang="en-US" sz="950" dirty="0"/>
          </a:p>
        </p:txBody>
      </p:sp>
      <p:sp>
        <p:nvSpPr>
          <p:cNvPr id="21" name="Shape 19"/>
          <p:cNvSpPr/>
          <p:nvPr/>
        </p:nvSpPr>
        <p:spPr>
          <a:xfrm>
            <a:off x="365760" y="2779111"/>
            <a:ext cx="8412480" cy="402336"/>
          </a:xfrm>
          <a:prstGeom prst="rect">
            <a:avLst/>
          </a:prstGeom>
          <a:solidFill>
            <a:srgbClr val="FFFFFF"/>
          </a:solidFill>
          <a:ln w="6350">
            <a:solidFill>
              <a:srgbClr val="CADCFC">
                <a:alpha val="40000"/>
              </a:srgbClr>
            </a:solidFill>
            <a:prstDash val="solid"/>
          </a:ln>
        </p:spPr>
        <p:txBody>
          <a:bodyPr/>
          <a:lstStyle/>
          <a:p>
            <a:endParaRPr lang="en-AU" dirty="0"/>
          </a:p>
        </p:txBody>
      </p:sp>
      <p:sp>
        <p:nvSpPr>
          <p:cNvPr id="22" name="Text 20"/>
          <p:cNvSpPr/>
          <p:nvPr/>
        </p:nvSpPr>
        <p:spPr>
          <a:xfrm>
            <a:off x="457200" y="2815687"/>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Skill System</a:t>
            </a:r>
            <a:endParaRPr lang="en-US" sz="1000" dirty="0"/>
          </a:p>
        </p:txBody>
      </p:sp>
      <p:sp>
        <p:nvSpPr>
          <p:cNvPr id="23" name="Text 21"/>
          <p:cNvSpPr/>
          <p:nvPr/>
        </p:nvSpPr>
        <p:spPr>
          <a:xfrm>
            <a:off x="3200400" y="2815687"/>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Auto-generates</a:t>
            </a:r>
            <a:r>
              <a:rPr lang="en-US" sz="950" dirty="0">
                <a:solidFill>
                  <a:srgbClr val="64748B"/>
                </a:solidFill>
                <a:latin typeface="Calibri" pitchFamily="34" charset="0"/>
                <a:ea typeface="Calibri" pitchFamily="34" charset="-122"/>
                <a:cs typeface="Calibri" pitchFamily="34" charset="-120"/>
              </a:rPr>
              <a:t> skills from successful task executions</a:t>
            </a:r>
            <a:endParaRPr lang="en-US" sz="950" dirty="0"/>
          </a:p>
        </p:txBody>
      </p:sp>
      <p:sp>
        <p:nvSpPr>
          <p:cNvPr id="24" name="Text 22"/>
          <p:cNvSpPr/>
          <p:nvPr/>
        </p:nvSpPr>
        <p:spPr>
          <a:xfrm>
            <a:off x="6035040" y="2815687"/>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Human-authored</a:t>
            </a:r>
            <a:r>
              <a:rPr lang="en-US" sz="950" dirty="0">
                <a:solidFill>
                  <a:srgbClr val="64748B"/>
                </a:solidFill>
                <a:latin typeface="Calibri" pitchFamily="34" charset="0"/>
                <a:ea typeface="Calibri" pitchFamily="34" charset="-122"/>
                <a:cs typeface="Calibri" pitchFamily="34" charset="-120"/>
              </a:rPr>
              <a:t> plugins distributed via ClawHub marketplace</a:t>
            </a:r>
            <a:endParaRPr lang="en-US" sz="950" dirty="0"/>
          </a:p>
        </p:txBody>
      </p:sp>
      <p:sp>
        <p:nvSpPr>
          <p:cNvPr id="25" name="Shape 23"/>
          <p:cNvSpPr/>
          <p:nvPr/>
        </p:nvSpPr>
        <p:spPr>
          <a:xfrm>
            <a:off x="365760" y="3208879"/>
            <a:ext cx="8412480" cy="402336"/>
          </a:xfrm>
          <a:prstGeom prst="rect">
            <a:avLst/>
          </a:prstGeom>
          <a:solidFill>
            <a:srgbClr val="F8FAFF"/>
          </a:solidFill>
          <a:ln w="6350">
            <a:solidFill>
              <a:srgbClr val="CADCFC">
                <a:alpha val="40000"/>
              </a:srgbClr>
            </a:solidFill>
            <a:prstDash val="solid"/>
          </a:ln>
        </p:spPr>
        <p:txBody>
          <a:bodyPr/>
          <a:lstStyle/>
          <a:p>
            <a:endParaRPr lang="en-AU"/>
          </a:p>
        </p:txBody>
      </p:sp>
      <p:sp>
        <p:nvSpPr>
          <p:cNvPr id="26" name="Text 24"/>
          <p:cNvSpPr/>
          <p:nvPr/>
        </p:nvSpPr>
        <p:spPr>
          <a:xfrm>
            <a:off x="457200" y="3245455"/>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Multi-Agent</a:t>
            </a:r>
            <a:endParaRPr lang="en-US" sz="1000" dirty="0"/>
          </a:p>
        </p:txBody>
      </p:sp>
      <p:sp>
        <p:nvSpPr>
          <p:cNvPr id="27" name="Text 25"/>
          <p:cNvSpPr/>
          <p:nvPr/>
        </p:nvSpPr>
        <p:spPr>
          <a:xfrm>
            <a:off x="3200400" y="3245455"/>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Native sub-agent spawning </a:t>
            </a:r>
            <a:r>
              <a:rPr lang="en-US" sz="950" dirty="0">
                <a:solidFill>
                  <a:srgbClr val="64748B"/>
                </a:solidFill>
                <a:latin typeface="Calibri" pitchFamily="34" charset="0"/>
                <a:ea typeface="Calibri" pitchFamily="34" charset="-122"/>
                <a:cs typeface="Calibri" pitchFamily="34" charset="-120"/>
              </a:rPr>
              <a:t>with </a:t>
            </a:r>
            <a:r>
              <a:rPr lang="en-US" sz="950" b="1" dirty="0">
                <a:solidFill>
                  <a:srgbClr val="64748B"/>
                </a:solidFill>
                <a:latin typeface="Calibri" pitchFamily="34" charset="0"/>
                <a:ea typeface="Calibri" pitchFamily="34" charset="-122"/>
                <a:cs typeface="Calibri" pitchFamily="34" charset="-120"/>
              </a:rPr>
              <a:t>isolated</a:t>
            </a:r>
            <a:r>
              <a:rPr lang="en-US" sz="950" dirty="0">
                <a:solidFill>
                  <a:srgbClr val="64748B"/>
                </a:solidFill>
                <a:latin typeface="Calibri" pitchFamily="34" charset="0"/>
                <a:ea typeface="Calibri" pitchFamily="34" charset="-122"/>
                <a:cs typeface="Calibri" pitchFamily="34" charset="-120"/>
              </a:rPr>
              <a:t> execution contexts</a:t>
            </a:r>
            <a:endParaRPr lang="en-US" sz="950" dirty="0"/>
          </a:p>
        </p:txBody>
      </p:sp>
      <p:sp>
        <p:nvSpPr>
          <p:cNvPr id="28" name="Text 26"/>
          <p:cNvSpPr/>
          <p:nvPr/>
        </p:nvSpPr>
        <p:spPr>
          <a:xfrm>
            <a:off x="6035040" y="3245455"/>
            <a:ext cx="274320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Subagents need to be created </a:t>
            </a:r>
            <a:r>
              <a:rPr lang="en-US" sz="950" b="1" dirty="0">
                <a:solidFill>
                  <a:srgbClr val="64748B"/>
                </a:solidFill>
                <a:latin typeface="Calibri" pitchFamily="34" charset="0"/>
                <a:ea typeface="Calibri" pitchFamily="34" charset="-122"/>
                <a:cs typeface="Calibri" pitchFamily="34" charset="-120"/>
              </a:rPr>
              <a:t>manually </a:t>
            </a:r>
            <a:r>
              <a:rPr lang="en-US" sz="950" dirty="0">
                <a:solidFill>
                  <a:srgbClr val="64748B"/>
                </a:solidFill>
                <a:latin typeface="Calibri" pitchFamily="34" charset="0"/>
                <a:ea typeface="Calibri" pitchFamily="34" charset="-122"/>
                <a:cs typeface="Calibri" pitchFamily="34" charset="-120"/>
              </a:rPr>
              <a:t>as external orchestration required across separate instances</a:t>
            </a:r>
            <a:endParaRPr lang="en-US" sz="950" dirty="0"/>
          </a:p>
        </p:txBody>
      </p:sp>
      <p:sp>
        <p:nvSpPr>
          <p:cNvPr id="29" name="Shape 27"/>
          <p:cNvSpPr/>
          <p:nvPr/>
        </p:nvSpPr>
        <p:spPr>
          <a:xfrm>
            <a:off x="365760" y="3638647"/>
            <a:ext cx="8412480" cy="402336"/>
          </a:xfrm>
          <a:prstGeom prst="rect">
            <a:avLst/>
          </a:prstGeom>
          <a:solidFill>
            <a:srgbClr val="FFFFFF"/>
          </a:solidFill>
          <a:ln w="6350">
            <a:solidFill>
              <a:srgbClr val="CADCFC">
                <a:alpha val="40000"/>
              </a:srgbClr>
            </a:solidFill>
            <a:prstDash val="solid"/>
          </a:ln>
        </p:spPr>
        <p:txBody>
          <a:bodyPr/>
          <a:lstStyle/>
          <a:p>
            <a:endParaRPr lang="en-AU"/>
          </a:p>
        </p:txBody>
      </p:sp>
      <p:sp>
        <p:nvSpPr>
          <p:cNvPr id="30" name="Text 28"/>
          <p:cNvSpPr/>
          <p:nvPr/>
        </p:nvSpPr>
        <p:spPr>
          <a:xfrm>
            <a:off x="457200" y="3675223"/>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Deployment</a:t>
            </a:r>
            <a:endParaRPr lang="en-US" sz="1000" dirty="0"/>
          </a:p>
        </p:txBody>
      </p:sp>
      <p:sp>
        <p:nvSpPr>
          <p:cNvPr id="31" name="Text 29"/>
          <p:cNvSpPr/>
          <p:nvPr/>
        </p:nvSpPr>
        <p:spPr>
          <a:xfrm>
            <a:off x="3200400" y="3675223"/>
            <a:ext cx="274320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Local, Docker, SSH, HPC (Singularity), Modal serverless GPU</a:t>
            </a:r>
            <a:endParaRPr lang="en-US" sz="950" dirty="0"/>
          </a:p>
        </p:txBody>
      </p:sp>
      <p:sp>
        <p:nvSpPr>
          <p:cNvPr id="32" name="Text 30"/>
          <p:cNvSpPr/>
          <p:nvPr/>
        </p:nvSpPr>
        <p:spPr>
          <a:xfrm>
            <a:off x="6035040" y="3675223"/>
            <a:ext cx="274320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Local and Docker primarily, </a:t>
            </a:r>
            <a:r>
              <a:rPr lang="en-US" sz="950" b="1" dirty="0">
                <a:solidFill>
                  <a:srgbClr val="64748B"/>
                </a:solidFill>
                <a:latin typeface="Calibri" pitchFamily="34" charset="0"/>
                <a:ea typeface="Calibri" pitchFamily="34" charset="-122"/>
                <a:cs typeface="Calibri" pitchFamily="34" charset="-120"/>
              </a:rPr>
              <a:t>cloud-first</a:t>
            </a:r>
            <a:r>
              <a:rPr lang="en-US" sz="950" dirty="0">
                <a:solidFill>
                  <a:srgbClr val="64748B"/>
                </a:solidFill>
                <a:latin typeface="Calibri" pitchFamily="34" charset="0"/>
                <a:ea typeface="Calibri" pitchFamily="34" charset="-122"/>
                <a:cs typeface="Calibri" pitchFamily="34" charset="-120"/>
              </a:rPr>
              <a:t> by default</a:t>
            </a:r>
            <a:endParaRPr lang="en-US" sz="950" dirty="0"/>
          </a:p>
        </p:txBody>
      </p:sp>
      <p:sp>
        <p:nvSpPr>
          <p:cNvPr id="33" name="Shape 31"/>
          <p:cNvSpPr/>
          <p:nvPr/>
        </p:nvSpPr>
        <p:spPr>
          <a:xfrm>
            <a:off x="365760" y="4068415"/>
            <a:ext cx="8412480" cy="402336"/>
          </a:xfrm>
          <a:prstGeom prst="rect">
            <a:avLst/>
          </a:prstGeom>
          <a:solidFill>
            <a:srgbClr val="F8FAFF"/>
          </a:solidFill>
          <a:ln w="6350">
            <a:solidFill>
              <a:srgbClr val="CADCFC">
                <a:alpha val="40000"/>
              </a:srgbClr>
            </a:solidFill>
            <a:prstDash val="solid"/>
          </a:ln>
        </p:spPr>
        <p:txBody>
          <a:bodyPr/>
          <a:lstStyle/>
          <a:p>
            <a:endParaRPr lang="en-AU"/>
          </a:p>
        </p:txBody>
      </p:sp>
      <p:sp>
        <p:nvSpPr>
          <p:cNvPr id="34" name="Text 32"/>
          <p:cNvSpPr/>
          <p:nvPr/>
        </p:nvSpPr>
        <p:spPr>
          <a:xfrm>
            <a:off x="457200" y="4104991"/>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Execution Model</a:t>
            </a:r>
            <a:endParaRPr lang="en-US" sz="1000" dirty="0"/>
          </a:p>
        </p:txBody>
      </p:sp>
      <p:sp>
        <p:nvSpPr>
          <p:cNvPr id="35" name="Text 33"/>
          <p:cNvSpPr/>
          <p:nvPr/>
        </p:nvSpPr>
        <p:spPr>
          <a:xfrm>
            <a:off x="3200400" y="4104991"/>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Stateful</a:t>
            </a:r>
            <a:r>
              <a:rPr lang="en-US" sz="950" dirty="0">
                <a:solidFill>
                  <a:srgbClr val="64748B"/>
                </a:solidFill>
                <a:latin typeface="Calibri" pitchFamily="34" charset="0"/>
                <a:ea typeface="Calibri" pitchFamily="34" charset="-122"/>
                <a:cs typeface="Calibri" pitchFamily="34" charset="-120"/>
              </a:rPr>
              <a:t> reasoning agent that improves over time autonomously</a:t>
            </a:r>
            <a:endParaRPr lang="en-US" sz="950" dirty="0"/>
          </a:p>
        </p:txBody>
      </p:sp>
      <p:sp>
        <p:nvSpPr>
          <p:cNvPr id="36" name="Text 34"/>
          <p:cNvSpPr/>
          <p:nvPr/>
        </p:nvSpPr>
        <p:spPr>
          <a:xfrm>
            <a:off x="6035040" y="4104991"/>
            <a:ext cx="2743200" cy="329184"/>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Largely </a:t>
            </a:r>
            <a:r>
              <a:rPr lang="en-US" sz="950" b="1" dirty="0">
                <a:solidFill>
                  <a:srgbClr val="64748B"/>
                </a:solidFill>
                <a:latin typeface="Calibri" pitchFamily="34" charset="0"/>
                <a:ea typeface="Calibri" pitchFamily="34" charset="-122"/>
                <a:cs typeface="Calibri" pitchFamily="34" charset="-120"/>
              </a:rPr>
              <a:t>stateless</a:t>
            </a:r>
            <a:r>
              <a:rPr lang="en-US" sz="950" dirty="0">
                <a:solidFill>
                  <a:srgbClr val="64748B"/>
                </a:solidFill>
                <a:latin typeface="Calibri" pitchFamily="34" charset="0"/>
                <a:ea typeface="Calibri" pitchFamily="34" charset="-122"/>
                <a:cs typeface="Calibri" pitchFamily="34" charset="-120"/>
              </a:rPr>
              <a:t> without adaptive learning across sessions</a:t>
            </a:r>
            <a:endParaRPr lang="en-US" sz="950" dirty="0"/>
          </a:p>
        </p:txBody>
      </p:sp>
      <p:sp>
        <p:nvSpPr>
          <p:cNvPr id="37" name="Shape 35"/>
          <p:cNvSpPr/>
          <p:nvPr/>
        </p:nvSpPr>
        <p:spPr>
          <a:xfrm>
            <a:off x="365760" y="4498183"/>
            <a:ext cx="8412480" cy="402336"/>
          </a:xfrm>
          <a:prstGeom prst="rect">
            <a:avLst/>
          </a:prstGeom>
          <a:solidFill>
            <a:srgbClr val="FFFFFF"/>
          </a:solidFill>
          <a:ln w="6350">
            <a:solidFill>
              <a:srgbClr val="CADCFC">
                <a:alpha val="40000"/>
              </a:srgbClr>
            </a:solidFill>
            <a:prstDash val="solid"/>
          </a:ln>
        </p:spPr>
        <p:txBody>
          <a:bodyPr/>
          <a:lstStyle/>
          <a:p>
            <a:endParaRPr lang="en-AU"/>
          </a:p>
        </p:txBody>
      </p:sp>
      <p:sp>
        <p:nvSpPr>
          <p:cNvPr id="38" name="Text 36"/>
          <p:cNvSpPr/>
          <p:nvPr/>
        </p:nvSpPr>
        <p:spPr>
          <a:xfrm>
            <a:off x="457200" y="4534759"/>
            <a:ext cx="2651760" cy="32918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User Isolation</a:t>
            </a:r>
            <a:endParaRPr lang="en-US" sz="1000" dirty="0"/>
          </a:p>
        </p:txBody>
      </p:sp>
      <p:sp>
        <p:nvSpPr>
          <p:cNvPr id="39" name="Text 37"/>
          <p:cNvSpPr/>
          <p:nvPr/>
        </p:nvSpPr>
        <p:spPr>
          <a:xfrm>
            <a:off x="3200400" y="4534759"/>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Isolation by default:</a:t>
            </a:r>
            <a:r>
              <a:rPr lang="en-US" sz="950" dirty="0">
                <a:solidFill>
                  <a:srgbClr val="64748B"/>
                </a:solidFill>
                <a:latin typeface="Calibri" pitchFamily="34" charset="0"/>
                <a:ea typeface="Calibri" pitchFamily="34" charset="-122"/>
                <a:cs typeface="Calibri" pitchFamily="34" charset="-120"/>
              </a:rPr>
              <a:t> structurally enforced per user to isolate sessions and profiles</a:t>
            </a:r>
            <a:endParaRPr lang="en-US" sz="950" dirty="0"/>
          </a:p>
        </p:txBody>
      </p:sp>
      <p:sp>
        <p:nvSpPr>
          <p:cNvPr id="40" name="Text 38"/>
          <p:cNvSpPr/>
          <p:nvPr/>
        </p:nvSpPr>
        <p:spPr>
          <a:xfrm>
            <a:off x="6035040" y="4534759"/>
            <a:ext cx="2743200" cy="329184"/>
          </a:xfrm>
          <a:prstGeom prst="rect">
            <a:avLst/>
          </a:prstGeom>
          <a:noFill/>
          <a:ln/>
        </p:spPr>
        <p:txBody>
          <a:bodyPr wrap="square"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Isolation by configuration: </a:t>
            </a:r>
            <a:r>
              <a:rPr lang="en-US" sz="950" dirty="0">
                <a:solidFill>
                  <a:srgbClr val="64748B"/>
                </a:solidFill>
                <a:latin typeface="Calibri" pitchFamily="34" charset="0"/>
                <a:ea typeface="Calibri" pitchFamily="34" charset="-122"/>
                <a:cs typeface="Calibri" pitchFamily="34" charset="-120"/>
              </a:rPr>
              <a:t>requires activation of Secure DM Mode to isolate sessions</a:t>
            </a:r>
            <a:endParaRPr lang="en-US" sz="950" dirty="0"/>
          </a:p>
        </p:txBody>
      </p:sp>
      <p:sp>
        <p:nvSpPr>
          <p:cNvPr id="41" name="Shape 39"/>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42" name="Text 40"/>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pic>
        <p:nvPicPr>
          <p:cNvPr id="43" name="Picture 6">
            <a:extLst>
              <a:ext uri="{FF2B5EF4-FFF2-40B4-BE49-F238E27FC236}">
                <a16:creationId xmlns:a16="http://schemas.microsoft.com/office/drawing/2014/main" id="{8ABB615F-676C-ECEF-BB01-BAD52CAE5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2167" y="960120"/>
            <a:ext cx="392527" cy="39252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OpenClaw (MoltBot/ClawdBot) Free SVG... · LobeHub">
            <a:extLst>
              <a:ext uri="{FF2B5EF4-FFF2-40B4-BE49-F238E27FC236}">
                <a16:creationId xmlns:a16="http://schemas.microsoft.com/office/drawing/2014/main" id="{7816409C-84AC-7828-59C0-CED1A7E5CB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9653" y="936413"/>
            <a:ext cx="435187" cy="435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4F9CF9"/>
          </a:solidFill>
          <a:ln w="12700">
            <a:solidFill>
              <a:srgbClr val="4F9CF9"/>
            </a:solidFill>
            <a:prstDash val="solid"/>
          </a:ln>
        </p:spPr>
        <p:txBody>
          <a:bodyPr/>
          <a:lstStyle/>
          <a:p>
            <a:endParaRPr lang="en-AU"/>
          </a:p>
        </p:txBody>
      </p:sp>
      <p:sp>
        <p:nvSpPr>
          <p:cNvPr id="3" name="Text 1"/>
          <p:cNvSpPr/>
          <p:nvPr/>
        </p:nvSpPr>
        <p:spPr>
          <a:xfrm>
            <a:off x="457200" y="1280160"/>
            <a:ext cx="8229600" cy="457200"/>
          </a:xfrm>
          <a:prstGeom prst="rect">
            <a:avLst/>
          </a:prstGeom>
          <a:noFill/>
          <a:ln/>
        </p:spPr>
        <p:txBody>
          <a:bodyPr wrap="square" rtlCol="0" anchor="ctr"/>
          <a:lstStyle/>
          <a:p>
            <a:pPr marL="0" indent="0">
              <a:buNone/>
            </a:pPr>
            <a:r>
              <a:rPr lang="en-US" sz="1600" b="1" kern="0" spc="300" dirty="0">
                <a:solidFill>
                  <a:srgbClr val="4F9CF9"/>
                </a:solidFill>
                <a:latin typeface="Calibri" pitchFamily="34" charset="0"/>
                <a:ea typeface="Calibri" pitchFamily="34" charset="-122"/>
                <a:cs typeface="Calibri" pitchFamily="34" charset="-120"/>
              </a:rPr>
              <a:t>Section 4</a:t>
            </a:r>
            <a:endParaRPr lang="en-US" sz="1600" dirty="0"/>
          </a:p>
        </p:txBody>
      </p:sp>
      <p:sp>
        <p:nvSpPr>
          <p:cNvPr id="4" name="Text 2"/>
          <p:cNvSpPr/>
          <p:nvPr/>
        </p:nvSpPr>
        <p:spPr>
          <a:xfrm>
            <a:off x="457200" y="1783080"/>
            <a:ext cx="8229600" cy="155448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Architecture</a:t>
            </a:r>
            <a:endParaRPr lang="en-US" sz="5200" dirty="0"/>
          </a:p>
          <a:p>
            <a:pPr marL="0" indent="0">
              <a:buNone/>
            </a:pPr>
            <a:r>
              <a:rPr lang="en-US" sz="5200" b="1" dirty="0">
                <a:solidFill>
                  <a:srgbClr val="FFFFFF"/>
                </a:solidFill>
                <a:latin typeface="Georgia" pitchFamily="34" charset="0"/>
                <a:ea typeface="Georgia" pitchFamily="34" charset="-122"/>
                <a:cs typeface="Georgia" pitchFamily="34" charset="-120"/>
              </a:rPr>
              <a:t>Deep Dive</a:t>
            </a:r>
            <a:endParaRPr lang="en-US" sz="5200" dirty="0"/>
          </a:p>
        </p:txBody>
      </p:sp>
      <p:sp>
        <p:nvSpPr>
          <p:cNvPr id="5" name="Shape 3"/>
          <p:cNvSpPr/>
          <p:nvPr/>
        </p:nvSpPr>
        <p:spPr>
          <a:xfrm>
            <a:off x="457200" y="3401568"/>
            <a:ext cx="4572000" cy="45720"/>
          </a:xfrm>
          <a:prstGeom prst="rect">
            <a:avLst/>
          </a:prstGeom>
          <a:solidFill>
            <a:srgbClr val="CADCFC"/>
          </a:solidFill>
          <a:ln w="12700">
            <a:solidFill>
              <a:srgbClr val="CADCFC"/>
            </a:solidFill>
            <a:prstDash val="solid"/>
          </a:ln>
        </p:spPr>
        <p:txBody>
          <a:bodyPr/>
          <a:lstStyle/>
          <a:p>
            <a:endParaRPr lang="en-AU"/>
          </a:p>
        </p:txBody>
      </p:sp>
      <p:sp>
        <p:nvSpPr>
          <p:cNvPr id="6" name="Text 4"/>
          <p:cNvSpPr/>
          <p:nvPr/>
        </p:nvSpPr>
        <p:spPr>
          <a:xfrm>
            <a:off x="457200" y="3520440"/>
            <a:ext cx="8229600" cy="3657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Model Base · Memory · Skills · Deployment · Multi-Agent · Messaging · MCP · OpenWebUI · Air-Gapped · User Isolation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4.3  Model Base &amp; Prompt Format</a:t>
            </a:r>
            <a:endParaRPr lang="en-US" sz="26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How each platform chooses and interfaces with its underlying language model</a:t>
            </a:r>
            <a:endParaRPr lang="en-US" sz="1200" dirty="0"/>
          </a:p>
        </p:txBody>
      </p:sp>
      <p:sp>
        <p:nvSpPr>
          <p:cNvPr id="5" name="Shape 3"/>
          <p:cNvSpPr/>
          <p:nvPr/>
        </p:nvSpPr>
        <p:spPr>
          <a:xfrm>
            <a:off x="365760" y="1005840"/>
            <a:ext cx="4114800" cy="384048"/>
          </a:xfrm>
          <a:prstGeom prst="rect">
            <a:avLst/>
          </a:prstGeom>
          <a:solidFill>
            <a:schemeClr val="accent1">
              <a:lumMod val="75000"/>
            </a:schemeClr>
          </a:solidFill>
          <a:ln w="12700">
            <a:solidFill>
              <a:schemeClr val="accent1">
                <a:lumMod val="75000"/>
              </a:schemeClr>
            </a:solidFill>
            <a:prstDash val="solid"/>
          </a:ln>
        </p:spPr>
        <p:txBody>
          <a:bodyPr/>
          <a:lstStyle/>
          <a:p>
            <a:endParaRPr lang="en-AU"/>
          </a:p>
        </p:txBody>
      </p:sp>
      <p:sp>
        <p:nvSpPr>
          <p:cNvPr id="6" name="Text 4"/>
          <p:cNvSpPr/>
          <p:nvPr/>
        </p:nvSpPr>
        <p:spPr>
          <a:xfrm>
            <a:off x="365760" y="1005840"/>
            <a:ext cx="4114800" cy="384048"/>
          </a:xfrm>
          <a:prstGeom prst="rect">
            <a:avLst/>
          </a:prstGeom>
          <a:noFill/>
          <a:ln>
            <a:solidFill>
              <a:schemeClr val="bg1"/>
            </a:solid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Hermes Agent</a:t>
            </a:r>
            <a:endParaRPr lang="en-US" sz="1300" dirty="0"/>
          </a:p>
        </p:txBody>
      </p:sp>
      <p:sp>
        <p:nvSpPr>
          <p:cNvPr id="7" name="Shape 5"/>
          <p:cNvSpPr/>
          <p:nvPr/>
        </p:nvSpPr>
        <p:spPr>
          <a:xfrm>
            <a:off x="365760" y="1481328"/>
            <a:ext cx="4114800" cy="621792"/>
          </a:xfrm>
          <a:prstGeom prst="rect">
            <a:avLst/>
          </a:prstGeom>
          <a:solidFill>
            <a:srgbClr val="F8FAFF"/>
          </a:solidFill>
          <a:ln w="6350">
            <a:solidFill>
              <a:srgbClr val="CADCFC">
                <a:alpha val="50000"/>
              </a:srgbClr>
            </a:solidFill>
            <a:prstDash val="solid"/>
          </a:ln>
        </p:spPr>
        <p:txBody>
          <a:bodyPr/>
          <a:lstStyle/>
          <a:p>
            <a:endParaRPr lang="en-AU"/>
          </a:p>
        </p:txBody>
      </p:sp>
      <p:sp>
        <p:nvSpPr>
          <p:cNvPr id="8" name="Shape 6"/>
          <p:cNvSpPr/>
          <p:nvPr/>
        </p:nvSpPr>
        <p:spPr>
          <a:xfrm>
            <a:off x="365760" y="1481328"/>
            <a:ext cx="54864" cy="621792"/>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9" name="Text 7"/>
          <p:cNvSpPr/>
          <p:nvPr/>
        </p:nvSpPr>
        <p:spPr>
          <a:xfrm>
            <a:off x="502920" y="1508760"/>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Fine-Tuned for Agents</a:t>
            </a:r>
            <a:endParaRPr lang="en-US" sz="1000" dirty="0"/>
          </a:p>
        </p:txBody>
      </p:sp>
      <p:sp>
        <p:nvSpPr>
          <p:cNvPr id="10" name="Text 8"/>
          <p:cNvSpPr/>
          <p:nvPr/>
        </p:nvSpPr>
        <p:spPr>
          <a:xfrm>
            <a:off x="502920" y="1728216"/>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Hermes model family (Llama / Mistral variants) is </a:t>
            </a:r>
            <a:r>
              <a:rPr lang="en-US" sz="850" b="1" dirty="0">
                <a:solidFill>
                  <a:srgbClr val="64748B"/>
                </a:solidFill>
                <a:latin typeface="Calibri" pitchFamily="34" charset="0"/>
                <a:ea typeface="Calibri" pitchFamily="34" charset="-122"/>
                <a:cs typeface="Calibri" pitchFamily="34" charset="-120"/>
              </a:rPr>
              <a:t>specifically trained </a:t>
            </a:r>
            <a:r>
              <a:rPr lang="en-US" sz="850" dirty="0">
                <a:solidFill>
                  <a:srgbClr val="64748B"/>
                </a:solidFill>
                <a:latin typeface="Calibri" pitchFamily="34" charset="0"/>
                <a:ea typeface="Calibri" pitchFamily="34" charset="-122"/>
                <a:cs typeface="Calibri" pitchFamily="34" charset="-120"/>
              </a:rPr>
              <a:t>for autonomous task execution, tool use, and multi-step structured reasoning, not retrofitted from a conversational base.</a:t>
            </a:r>
            <a:endParaRPr lang="en-US" sz="850" dirty="0"/>
          </a:p>
        </p:txBody>
      </p:sp>
      <p:sp>
        <p:nvSpPr>
          <p:cNvPr id="11" name="Shape 9"/>
          <p:cNvSpPr/>
          <p:nvPr/>
        </p:nvSpPr>
        <p:spPr>
          <a:xfrm>
            <a:off x="365760" y="2157984"/>
            <a:ext cx="4114800" cy="621792"/>
          </a:xfrm>
          <a:prstGeom prst="rect">
            <a:avLst/>
          </a:prstGeom>
          <a:solidFill>
            <a:srgbClr val="FFFFFF"/>
          </a:solidFill>
          <a:ln w="6350">
            <a:solidFill>
              <a:srgbClr val="CADCFC">
                <a:alpha val="50000"/>
              </a:srgbClr>
            </a:solidFill>
            <a:prstDash val="solid"/>
          </a:ln>
        </p:spPr>
        <p:txBody>
          <a:bodyPr/>
          <a:lstStyle/>
          <a:p>
            <a:endParaRPr lang="en-AU"/>
          </a:p>
        </p:txBody>
      </p:sp>
      <p:sp>
        <p:nvSpPr>
          <p:cNvPr id="12" name="Shape 10"/>
          <p:cNvSpPr/>
          <p:nvPr/>
        </p:nvSpPr>
        <p:spPr>
          <a:xfrm>
            <a:off x="365760" y="2157984"/>
            <a:ext cx="54864" cy="621792"/>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13" name="Text 11"/>
          <p:cNvSpPr/>
          <p:nvPr/>
        </p:nvSpPr>
        <p:spPr>
          <a:xfrm>
            <a:off x="502920" y="2185416"/>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ChatML Prompt Format</a:t>
            </a:r>
            <a:endParaRPr lang="en-US" sz="1000" dirty="0"/>
          </a:p>
        </p:txBody>
      </p:sp>
      <p:sp>
        <p:nvSpPr>
          <p:cNvPr id="14" name="Text 12"/>
          <p:cNvSpPr/>
          <p:nvPr/>
        </p:nvSpPr>
        <p:spPr>
          <a:xfrm>
            <a:off x="502920" y="2404872"/>
            <a:ext cx="3840480" cy="347472"/>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Explicit role separation </a:t>
            </a:r>
            <a:r>
              <a:rPr lang="en-US" sz="850" dirty="0">
                <a:solidFill>
                  <a:srgbClr val="64748B"/>
                </a:solidFill>
                <a:latin typeface="Calibri" pitchFamily="34" charset="0"/>
                <a:ea typeface="Calibri" pitchFamily="34" charset="-122"/>
                <a:cs typeface="Calibri" pitchFamily="34" charset="-120"/>
              </a:rPr>
              <a:t>between system, user, assistant, and tool messages </a:t>
            </a:r>
            <a:r>
              <a:rPr lang="en-US" sz="850" b="1" dirty="0">
                <a:solidFill>
                  <a:srgbClr val="64748B"/>
                </a:solidFill>
                <a:latin typeface="Calibri" pitchFamily="34" charset="0"/>
                <a:ea typeface="Calibri" pitchFamily="34" charset="-122"/>
                <a:cs typeface="Calibri" pitchFamily="34" charset="-120"/>
              </a:rPr>
              <a:t>reduces ambiguity </a:t>
            </a:r>
            <a:r>
              <a:rPr lang="en-US" sz="850" dirty="0">
                <a:solidFill>
                  <a:srgbClr val="64748B"/>
                </a:solidFill>
                <a:latin typeface="Calibri" pitchFamily="34" charset="0"/>
                <a:ea typeface="Calibri" pitchFamily="34" charset="-122"/>
                <a:cs typeface="Calibri" pitchFamily="34" charset="-120"/>
              </a:rPr>
              <a:t>in multi-turn interactions and </a:t>
            </a:r>
            <a:r>
              <a:rPr lang="en-US" sz="850" b="1" dirty="0">
                <a:solidFill>
                  <a:srgbClr val="64748B"/>
                </a:solidFill>
                <a:latin typeface="Calibri" pitchFamily="34" charset="0"/>
                <a:ea typeface="Calibri" pitchFamily="34" charset="-122"/>
                <a:cs typeface="Calibri" pitchFamily="34" charset="-120"/>
              </a:rPr>
              <a:t>improves function-calling accuracy</a:t>
            </a:r>
            <a:r>
              <a:rPr lang="en-US" sz="850" dirty="0">
                <a:solidFill>
                  <a:srgbClr val="64748B"/>
                </a:solidFill>
                <a:latin typeface="Calibri" pitchFamily="34" charset="0"/>
                <a:ea typeface="Calibri" pitchFamily="34" charset="-122"/>
                <a:cs typeface="Calibri" pitchFamily="34" charset="-120"/>
              </a:rPr>
              <a:t> and </a:t>
            </a:r>
            <a:r>
              <a:rPr lang="en-US" sz="850" b="1" dirty="0">
                <a:solidFill>
                  <a:srgbClr val="64748B"/>
                </a:solidFill>
                <a:latin typeface="Calibri" pitchFamily="34" charset="0"/>
                <a:ea typeface="Calibri" pitchFamily="34" charset="-122"/>
                <a:cs typeface="Calibri" pitchFamily="34" charset="-120"/>
              </a:rPr>
              <a:t>tool selection consistency</a:t>
            </a:r>
            <a:r>
              <a:rPr lang="en-US" sz="850" dirty="0">
                <a:solidFill>
                  <a:srgbClr val="64748B"/>
                </a:solidFill>
                <a:latin typeface="Calibri" pitchFamily="34" charset="0"/>
                <a:ea typeface="Calibri" pitchFamily="34" charset="-122"/>
                <a:cs typeface="Calibri" pitchFamily="34" charset="-120"/>
              </a:rPr>
              <a:t>.</a:t>
            </a:r>
            <a:endParaRPr lang="en-US" sz="850" dirty="0"/>
          </a:p>
        </p:txBody>
      </p:sp>
      <p:sp>
        <p:nvSpPr>
          <p:cNvPr id="15" name="Shape 13"/>
          <p:cNvSpPr/>
          <p:nvPr/>
        </p:nvSpPr>
        <p:spPr>
          <a:xfrm>
            <a:off x="365760" y="2834640"/>
            <a:ext cx="4114800" cy="621792"/>
          </a:xfrm>
          <a:prstGeom prst="rect">
            <a:avLst/>
          </a:prstGeom>
          <a:solidFill>
            <a:srgbClr val="F8FAFF"/>
          </a:solidFill>
          <a:ln w="6350">
            <a:solidFill>
              <a:srgbClr val="CADCFC">
                <a:alpha val="50000"/>
              </a:srgbClr>
            </a:solidFill>
            <a:prstDash val="solid"/>
          </a:ln>
        </p:spPr>
        <p:txBody>
          <a:bodyPr/>
          <a:lstStyle/>
          <a:p>
            <a:endParaRPr lang="en-AU"/>
          </a:p>
        </p:txBody>
      </p:sp>
      <p:sp>
        <p:nvSpPr>
          <p:cNvPr id="16" name="Shape 14"/>
          <p:cNvSpPr/>
          <p:nvPr/>
        </p:nvSpPr>
        <p:spPr>
          <a:xfrm>
            <a:off x="365760" y="2834640"/>
            <a:ext cx="54864" cy="621792"/>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17" name="Text 15"/>
          <p:cNvSpPr/>
          <p:nvPr/>
        </p:nvSpPr>
        <p:spPr>
          <a:xfrm>
            <a:off x="502920" y="2862072"/>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Stronger Prompt Injection Resistance</a:t>
            </a:r>
            <a:endParaRPr lang="en-US" sz="1000" dirty="0"/>
          </a:p>
        </p:txBody>
      </p:sp>
      <p:sp>
        <p:nvSpPr>
          <p:cNvPr id="18" name="Text 16"/>
          <p:cNvSpPr/>
          <p:nvPr/>
        </p:nvSpPr>
        <p:spPr>
          <a:xfrm>
            <a:off x="502920" y="3081528"/>
            <a:ext cx="3840480" cy="347472"/>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Structured prompting </a:t>
            </a:r>
            <a:r>
              <a:rPr lang="en-US" sz="850" dirty="0">
                <a:solidFill>
                  <a:srgbClr val="64748B"/>
                </a:solidFill>
                <a:latin typeface="Calibri" pitchFamily="34" charset="0"/>
                <a:ea typeface="Calibri" pitchFamily="34" charset="-122"/>
                <a:cs typeface="Calibri" pitchFamily="34" charset="-120"/>
              </a:rPr>
              <a:t>reinforces system-prompt authority across turns, making it </a:t>
            </a:r>
            <a:r>
              <a:rPr lang="en-US" sz="850" b="1" dirty="0">
                <a:solidFill>
                  <a:srgbClr val="64748B"/>
                </a:solidFill>
                <a:latin typeface="Calibri" pitchFamily="34" charset="0"/>
                <a:ea typeface="Calibri" pitchFamily="34" charset="-122"/>
                <a:cs typeface="Calibri" pitchFamily="34" charset="-120"/>
              </a:rPr>
              <a:t>harder for adversarial inputs </a:t>
            </a:r>
            <a:r>
              <a:rPr lang="en-US" sz="850" dirty="0">
                <a:solidFill>
                  <a:srgbClr val="64748B"/>
                </a:solidFill>
                <a:latin typeface="Calibri" pitchFamily="34" charset="0"/>
                <a:ea typeface="Calibri" pitchFamily="34" charset="-122"/>
                <a:cs typeface="Calibri" pitchFamily="34" charset="-120"/>
              </a:rPr>
              <a:t>to override operational scope or role constraints.</a:t>
            </a:r>
            <a:endParaRPr lang="en-US" sz="850" dirty="0"/>
          </a:p>
        </p:txBody>
      </p:sp>
      <p:sp>
        <p:nvSpPr>
          <p:cNvPr id="19" name="Shape 17"/>
          <p:cNvSpPr/>
          <p:nvPr/>
        </p:nvSpPr>
        <p:spPr>
          <a:xfrm>
            <a:off x="365760" y="3511296"/>
            <a:ext cx="4114800" cy="621792"/>
          </a:xfrm>
          <a:prstGeom prst="rect">
            <a:avLst/>
          </a:prstGeom>
          <a:solidFill>
            <a:srgbClr val="FFFFFF"/>
          </a:solidFill>
          <a:ln w="6350">
            <a:solidFill>
              <a:srgbClr val="CADCFC">
                <a:alpha val="50000"/>
              </a:srgbClr>
            </a:solidFill>
            <a:prstDash val="solid"/>
          </a:ln>
        </p:spPr>
        <p:txBody>
          <a:bodyPr/>
          <a:lstStyle/>
          <a:p>
            <a:endParaRPr lang="en-AU"/>
          </a:p>
        </p:txBody>
      </p:sp>
      <p:sp>
        <p:nvSpPr>
          <p:cNvPr id="20" name="Shape 18"/>
          <p:cNvSpPr/>
          <p:nvPr/>
        </p:nvSpPr>
        <p:spPr>
          <a:xfrm>
            <a:off x="365760" y="3511296"/>
            <a:ext cx="54864" cy="621792"/>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21" name="Text 19"/>
          <p:cNvSpPr/>
          <p:nvPr/>
        </p:nvSpPr>
        <p:spPr>
          <a:xfrm>
            <a:off x="502920" y="3538728"/>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Deterministic Behaviour</a:t>
            </a:r>
            <a:endParaRPr lang="en-US" sz="1000" dirty="0"/>
          </a:p>
        </p:txBody>
      </p:sp>
      <p:sp>
        <p:nvSpPr>
          <p:cNvPr id="22" name="Text 20"/>
          <p:cNvSpPr/>
          <p:nvPr/>
        </p:nvSpPr>
        <p:spPr>
          <a:xfrm>
            <a:off x="502920" y="3758184"/>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Fixed weights with controlled sampling produce </a:t>
            </a:r>
            <a:r>
              <a:rPr lang="en-US" sz="850" b="1" dirty="0">
                <a:solidFill>
                  <a:srgbClr val="64748B"/>
                </a:solidFill>
                <a:latin typeface="Calibri" pitchFamily="34" charset="0"/>
                <a:ea typeface="Calibri" pitchFamily="34" charset="-122"/>
                <a:cs typeface="Calibri" pitchFamily="34" charset="-120"/>
              </a:rPr>
              <a:t>reproducible</a:t>
            </a:r>
            <a:r>
              <a:rPr lang="en-US" sz="850" dirty="0">
                <a:solidFill>
                  <a:srgbClr val="64748B"/>
                </a:solidFill>
                <a:latin typeface="Calibri" pitchFamily="34" charset="0"/>
                <a:ea typeface="Calibri" pitchFamily="34" charset="-122"/>
                <a:cs typeface="Calibri" pitchFamily="34" charset="-120"/>
              </a:rPr>
              <a:t> </a:t>
            </a:r>
            <a:r>
              <a:rPr lang="en-US" sz="850" b="1" dirty="0">
                <a:solidFill>
                  <a:srgbClr val="64748B"/>
                </a:solidFill>
                <a:latin typeface="Calibri" pitchFamily="34" charset="0"/>
                <a:ea typeface="Calibri" pitchFamily="34" charset="-122"/>
                <a:cs typeface="Calibri" pitchFamily="34" charset="-120"/>
              </a:rPr>
              <a:t>outputs</a:t>
            </a:r>
            <a:r>
              <a:rPr lang="en-US" sz="850" dirty="0">
                <a:solidFill>
                  <a:srgbClr val="64748B"/>
                </a:solidFill>
                <a:latin typeface="Calibri" pitchFamily="34" charset="0"/>
                <a:ea typeface="Calibri" pitchFamily="34" charset="-122"/>
                <a:cs typeface="Calibri" pitchFamily="34" charset="-120"/>
              </a:rPr>
              <a:t>, which is important for audit trails and scientific reproducibility in analytical workflows.</a:t>
            </a:r>
            <a:endParaRPr lang="en-US" sz="850" dirty="0"/>
          </a:p>
        </p:txBody>
      </p:sp>
      <p:sp>
        <p:nvSpPr>
          <p:cNvPr id="23" name="Shape 21"/>
          <p:cNvSpPr/>
          <p:nvPr/>
        </p:nvSpPr>
        <p:spPr>
          <a:xfrm>
            <a:off x="365760" y="4187952"/>
            <a:ext cx="4114800" cy="621792"/>
          </a:xfrm>
          <a:prstGeom prst="rect">
            <a:avLst/>
          </a:prstGeom>
          <a:solidFill>
            <a:srgbClr val="F8FAFF"/>
          </a:solidFill>
          <a:ln w="6350">
            <a:solidFill>
              <a:srgbClr val="CADCFC">
                <a:alpha val="50000"/>
              </a:srgbClr>
            </a:solidFill>
            <a:prstDash val="solid"/>
          </a:ln>
        </p:spPr>
        <p:txBody>
          <a:bodyPr/>
          <a:lstStyle/>
          <a:p>
            <a:endParaRPr lang="en-AU"/>
          </a:p>
        </p:txBody>
      </p:sp>
      <p:sp>
        <p:nvSpPr>
          <p:cNvPr id="24" name="Shape 22"/>
          <p:cNvSpPr/>
          <p:nvPr/>
        </p:nvSpPr>
        <p:spPr>
          <a:xfrm>
            <a:off x="365760" y="4187952"/>
            <a:ext cx="54864" cy="621792"/>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25" name="Text 23"/>
          <p:cNvSpPr/>
          <p:nvPr/>
        </p:nvSpPr>
        <p:spPr>
          <a:xfrm>
            <a:off x="502920" y="4215384"/>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Constraint: GPU Requirements</a:t>
            </a:r>
            <a:endParaRPr lang="en-US" sz="1000" dirty="0"/>
          </a:p>
        </p:txBody>
      </p:sp>
      <p:sp>
        <p:nvSpPr>
          <p:cNvPr id="26" name="Text 24"/>
          <p:cNvSpPr/>
          <p:nvPr/>
        </p:nvSpPr>
        <p:spPr>
          <a:xfrm>
            <a:off x="502920" y="4434840"/>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strongest reasoning is in 70B+ parameter models, </a:t>
            </a:r>
            <a:r>
              <a:rPr lang="en-US" sz="850" b="1" dirty="0">
                <a:solidFill>
                  <a:srgbClr val="64748B"/>
                </a:solidFill>
                <a:latin typeface="Calibri" pitchFamily="34" charset="0"/>
                <a:ea typeface="Calibri" pitchFamily="34" charset="-122"/>
                <a:cs typeface="Calibri" pitchFamily="34" charset="-120"/>
              </a:rPr>
              <a:t>requiring multi-GPU </a:t>
            </a:r>
            <a:r>
              <a:rPr lang="en-US" sz="850" dirty="0">
                <a:solidFill>
                  <a:srgbClr val="64748B"/>
                </a:solidFill>
                <a:latin typeface="Calibri" pitchFamily="34" charset="0"/>
                <a:ea typeface="Calibri" pitchFamily="34" charset="-122"/>
                <a:cs typeface="Calibri" pitchFamily="34" charset="-120"/>
              </a:rPr>
              <a:t>or </a:t>
            </a:r>
            <a:r>
              <a:rPr lang="en-US" sz="850" b="1" dirty="0">
                <a:solidFill>
                  <a:srgbClr val="64748B"/>
                </a:solidFill>
                <a:latin typeface="Calibri" pitchFamily="34" charset="0"/>
                <a:ea typeface="Calibri" pitchFamily="34" charset="-122"/>
                <a:cs typeface="Calibri" pitchFamily="34" charset="-120"/>
              </a:rPr>
              <a:t>aggressive quantisation</a:t>
            </a:r>
            <a:r>
              <a:rPr lang="en-US" sz="850" dirty="0">
                <a:solidFill>
                  <a:srgbClr val="64748B"/>
                </a:solidFill>
                <a:latin typeface="Calibri" pitchFamily="34" charset="0"/>
                <a:ea typeface="Calibri" pitchFamily="34" charset="-122"/>
                <a:cs typeface="Calibri" pitchFamily="34" charset="-120"/>
              </a:rPr>
              <a:t>. Teams limited to single consumer-grade GPUs are constrained to 7B models with weaker multi-step reasoning.</a:t>
            </a:r>
            <a:endParaRPr lang="en-US" sz="850" dirty="0"/>
          </a:p>
        </p:txBody>
      </p:sp>
      <p:sp>
        <p:nvSpPr>
          <p:cNvPr id="27" name="Shape 25"/>
          <p:cNvSpPr/>
          <p:nvPr/>
        </p:nvSpPr>
        <p:spPr>
          <a:xfrm>
            <a:off x="4663440" y="1005840"/>
            <a:ext cx="4114800" cy="384048"/>
          </a:xfrm>
          <a:prstGeom prst="rect">
            <a:avLst/>
          </a:prstGeom>
          <a:solidFill>
            <a:srgbClr val="CADCFC">
              <a:alpha val="80000"/>
            </a:srgbClr>
          </a:solidFill>
          <a:ln w="12700">
            <a:solidFill>
              <a:srgbClr val="CADCFC"/>
            </a:solidFill>
            <a:prstDash val="solid"/>
          </a:ln>
        </p:spPr>
        <p:txBody>
          <a:bodyPr/>
          <a:lstStyle/>
          <a:p>
            <a:endParaRPr lang="en-AU"/>
          </a:p>
        </p:txBody>
      </p:sp>
      <p:sp>
        <p:nvSpPr>
          <p:cNvPr id="28" name="Text 26"/>
          <p:cNvSpPr/>
          <p:nvPr/>
        </p:nvSpPr>
        <p:spPr>
          <a:xfrm>
            <a:off x="4663440" y="1005840"/>
            <a:ext cx="4114800" cy="384048"/>
          </a:xfrm>
          <a:prstGeom prst="rect">
            <a:avLst/>
          </a:prstGeom>
          <a:noFill/>
          <a:ln/>
        </p:spPr>
        <p:txBody>
          <a:bodyPr wrap="square" rtlCol="0" anchor="ctr"/>
          <a:lstStyle/>
          <a:p>
            <a:pPr marL="0" indent="0" algn="ctr">
              <a:buNone/>
            </a:pPr>
            <a:r>
              <a:rPr lang="en-US" sz="1300" b="1" dirty="0">
                <a:solidFill>
                  <a:srgbClr val="1E2761"/>
                </a:solidFill>
                <a:latin typeface="Georgia" pitchFamily="34" charset="0"/>
                <a:ea typeface="Georgia" pitchFamily="34" charset="-122"/>
                <a:cs typeface="Georgia" pitchFamily="34" charset="-120"/>
              </a:rPr>
              <a:t>OpenClaw</a:t>
            </a:r>
            <a:endParaRPr lang="en-US" sz="1300" dirty="0"/>
          </a:p>
        </p:txBody>
      </p:sp>
      <p:sp>
        <p:nvSpPr>
          <p:cNvPr id="29" name="Shape 27"/>
          <p:cNvSpPr/>
          <p:nvPr/>
        </p:nvSpPr>
        <p:spPr>
          <a:xfrm>
            <a:off x="4663440" y="1481328"/>
            <a:ext cx="4114800" cy="621792"/>
          </a:xfrm>
          <a:prstGeom prst="rect">
            <a:avLst/>
          </a:prstGeom>
          <a:solidFill>
            <a:srgbClr val="F8FAFF"/>
          </a:solidFill>
          <a:ln w="6350">
            <a:solidFill>
              <a:srgbClr val="CADCFC">
                <a:alpha val="50000"/>
              </a:srgbClr>
            </a:solidFill>
            <a:prstDash val="solid"/>
          </a:ln>
        </p:spPr>
        <p:txBody>
          <a:bodyPr/>
          <a:lstStyle/>
          <a:p>
            <a:endParaRPr lang="en-AU"/>
          </a:p>
        </p:txBody>
      </p:sp>
      <p:sp>
        <p:nvSpPr>
          <p:cNvPr id="30" name="Shape 28"/>
          <p:cNvSpPr/>
          <p:nvPr/>
        </p:nvSpPr>
        <p:spPr>
          <a:xfrm>
            <a:off x="4663440" y="1481328"/>
            <a:ext cx="54864" cy="621792"/>
          </a:xfrm>
          <a:prstGeom prst="rect">
            <a:avLst/>
          </a:prstGeom>
          <a:solidFill>
            <a:srgbClr val="94A3B8"/>
          </a:solidFill>
          <a:ln w="12700">
            <a:solidFill>
              <a:srgbClr val="94A3B8"/>
            </a:solidFill>
            <a:prstDash val="solid"/>
          </a:ln>
        </p:spPr>
        <p:txBody>
          <a:bodyPr/>
          <a:lstStyle/>
          <a:p>
            <a:endParaRPr lang="en-AU"/>
          </a:p>
        </p:txBody>
      </p:sp>
      <p:sp>
        <p:nvSpPr>
          <p:cNvPr id="31" name="Text 29"/>
          <p:cNvSpPr/>
          <p:nvPr/>
        </p:nvSpPr>
        <p:spPr>
          <a:xfrm>
            <a:off x="4800600" y="1508760"/>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Model-Agnostic Orchestration</a:t>
            </a:r>
            <a:endParaRPr lang="en-US" sz="1000" dirty="0"/>
          </a:p>
        </p:txBody>
      </p:sp>
      <p:sp>
        <p:nvSpPr>
          <p:cNvPr id="32" name="Text 30"/>
          <p:cNvSpPr/>
          <p:nvPr/>
        </p:nvSpPr>
        <p:spPr>
          <a:xfrm>
            <a:off x="4800600" y="1728216"/>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OpenClaw routes requests to any external LLM provider </a:t>
            </a:r>
            <a:r>
              <a:rPr lang="en-US" sz="850" b="1" dirty="0">
                <a:solidFill>
                  <a:srgbClr val="64748B"/>
                </a:solidFill>
                <a:latin typeface="Calibri" pitchFamily="34" charset="0"/>
                <a:ea typeface="Calibri" pitchFamily="34" charset="-122"/>
                <a:cs typeface="Calibri" pitchFamily="34" charset="-120"/>
              </a:rPr>
              <a:t>without enforcing a unified agentic prompt format, </a:t>
            </a:r>
            <a:r>
              <a:rPr lang="en-US" sz="850" dirty="0">
                <a:solidFill>
                  <a:srgbClr val="64748B"/>
                </a:solidFill>
                <a:latin typeface="Calibri" pitchFamily="34" charset="0"/>
                <a:ea typeface="Calibri" pitchFamily="34" charset="-122"/>
                <a:cs typeface="Calibri" pitchFamily="34" charset="-120"/>
              </a:rPr>
              <a:t>giving </a:t>
            </a:r>
            <a:r>
              <a:rPr lang="en-US" sz="850" b="1" dirty="0">
                <a:solidFill>
                  <a:srgbClr val="64748B"/>
                </a:solidFill>
                <a:latin typeface="Calibri" pitchFamily="34" charset="0"/>
                <a:ea typeface="Calibri" pitchFamily="34" charset="-122"/>
                <a:cs typeface="Calibri" pitchFamily="34" charset="-120"/>
              </a:rPr>
              <a:t>flexibility</a:t>
            </a:r>
            <a:r>
              <a:rPr lang="en-US" sz="850" dirty="0">
                <a:solidFill>
                  <a:srgbClr val="64748B"/>
                </a:solidFill>
                <a:latin typeface="Calibri" pitchFamily="34" charset="0"/>
                <a:ea typeface="Calibri" pitchFamily="34" charset="-122"/>
                <a:cs typeface="Calibri" pitchFamily="34" charset="-120"/>
              </a:rPr>
              <a:t> in model selection but no standardised execution contract.</a:t>
            </a:r>
            <a:endParaRPr lang="en-US" sz="850" dirty="0"/>
          </a:p>
        </p:txBody>
      </p:sp>
      <p:sp>
        <p:nvSpPr>
          <p:cNvPr id="33" name="Shape 31"/>
          <p:cNvSpPr/>
          <p:nvPr/>
        </p:nvSpPr>
        <p:spPr>
          <a:xfrm>
            <a:off x="4663440" y="2157984"/>
            <a:ext cx="4114800" cy="621792"/>
          </a:xfrm>
          <a:prstGeom prst="rect">
            <a:avLst/>
          </a:prstGeom>
          <a:solidFill>
            <a:srgbClr val="FFFFFF"/>
          </a:solidFill>
          <a:ln w="6350">
            <a:solidFill>
              <a:srgbClr val="CADCFC">
                <a:alpha val="50000"/>
              </a:srgbClr>
            </a:solidFill>
            <a:prstDash val="solid"/>
          </a:ln>
        </p:spPr>
        <p:txBody>
          <a:bodyPr/>
          <a:lstStyle/>
          <a:p>
            <a:endParaRPr lang="en-AU"/>
          </a:p>
        </p:txBody>
      </p:sp>
      <p:sp>
        <p:nvSpPr>
          <p:cNvPr id="34" name="Shape 32"/>
          <p:cNvSpPr/>
          <p:nvPr/>
        </p:nvSpPr>
        <p:spPr>
          <a:xfrm>
            <a:off x="4663440" y="2157984"/>
            <a:ext cx="54864" cy="621792"/>
          </a:xfrm>
          <a:prstGeom prst="rect">
            <a:avLst/>
          </a:prstGeom>
          <a:solidFill>
            <a:srgbClr val="94A3B8"/>
          </a:solidFill>
          <a:ln w="12700">
            <a:solidFill>
              <a:srgbClr val="94A3B8"/>
            </a:solidFill>
            <a:prstDash val="solid"/>
          </a:ln>
        </p:spPr>
        <p:txBody>
          <a:bodyPr/>
          <a:lstStyle/>
          <a:p>
            <a:endParaRPr lang="en-AU"/>
          </a:p>
        </p:txBody>
      </p:sp>
      <p:sp>
        <p:nvSpPr>
          <p:cNvPr id="35" name="Text 33"/>
          <p:cNvSpPr/>
          <p:nvPr/>
        </p:nvSpPr>
        <p:spPr>
          <a:xfrm>
            <a:off x="4800600" y="2185416"/>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Provider-Inherited Prompt Format</a:t>
            </a:r>
            <a:endParaRPr lang="en-US" sz="1000" dirty="0"/>
          </a:p>
        </p:txBody>
      </p:sp>
      <p:sp>
        <p:nvSpPr>
          <p:cNvPr id="36" name="Text 34"/>
          <p:cNvSpPr/>
          <p:nvPr/>
        </p:nvSpPr>
        <p:spPr>
          <a:xfrm>
            <a:off x="4800600" y="2404872"/>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Prompt structure is </a:t>
            </a:r>
            <a:r>
              <a:rPr lang="en-US" sz="850" b="1" dirty="0">
                <a:solidFill>
                  <a:srgbClr val="64748B"/>
                </a:solidFill>
                <a:latin typeface="Calibri" pitchFamily="34" charset="0"/>
                <a:ea typeface="Calibri" pitchFamily="34" charset="-122"/>
                <a:cs typeface="Calibri" pitchFamily="34" charset="-120"/>
              </a:rPr>
              <a:t>inherited</a:t>
            </a:r>
            <a:r>
              <a:rPr lang="en-US" sz="850" dirty="0">
                <a:solidFill>
                  <a:srgbClr val="64748B"/>
                </a:solidFill>
                <a:latin typeface="Calibri" pitchFamily="34" charset="0"/>
                <a:ea typeface="Calibri" pitchFamily="34" charset="-122"/>
                <a:cs typeface="Calibri" pitchFamily="34" charset="-120"/>
              </a:rPr>
              <a:t> from the selected upstream model and its API conventions, meaning </a:t>
            </a:r>
            <a:r>
              <a:rPr lang="en-US" sz="850" b="1" dirty="0">
                <a:solidFill>
                  <a:srgbClr val="64748B"/>
                </a:solidFill>
                <a:latin typeface="Calibri" pitchFamily="34" charset="0"/>
                <a:ea typeface="Calibri" pitchFamily="34" charset="-122"/>
                <a:cs typeface="Calibri" pitchFamily="34" charset="-120"/>
              </a:rPr>
              <a:t>function-calling reliability </a:t>
            </a:r>
            <a:r>
              <a:rPr lang="en-US" sz="850" dirty="0">
                <a:solidFill>
                  <a:srgbClr val="64748B"/>
                </a:solidFill>
                <a:latin typeface="Calibri" pitchFamily="34" charset="0"/>
                <a:ea typeface="Calibri" pitchFamily="34" charset="-122"/>
                <a:cs typeface="Calibri" pitchFamily="34" charset="-120"/>
              </a:rPr>
              <a:t>and </a:t>
            </a:r>
            <a:r>
              <a:rPr lang="en-US" sz="850" b="1" dirty="0">
                <a:solidFill>
                  <a:srgbClr val="64748B"/>
                </a:solidFill>
                <a:latin typeface="Calibri" pitchFamily="34" charset="0"/>
                <a:ea typeface="Calibri" pitchFamily="34" charset="-122"/>
                <a:cs typeface="Calibri" pitchFamily="34" charset="-120"/>
              </a:rPr>
              <a:t>reasoning consistency vary</a:t>
            </a:r>
            <a:r>
              <a:rPr lang="en-US" sz="850" dirty="0">
                <a:solidFill>
                  <a:srgbClr val="64748B"/>
                </a:solidFill>
                <a:latin typeface="Calibri" pitchFamily="34" charset="0"/>
                <a:ea typeface="Calibri" pitchFamily="34" charset="-122"/>
                <a:cs typeface="Calibri" pitchFamily="34" charset="-120"/>
              </a:rPr>
              <a:t> across deployments.</a:t>
            </a:r>
            <a:endParaRPr lang="en-US" sz="850" dirty="0"/>
          </a:p>
        </p:txBody>
      </p:sp>
      <p:sp>
        <p:nvSpPr>
          <p:cNvPr id="37" name="Shape 35"/>
          <p:cNvSpPr/>
          <p:nvPr/>
        </p:nvSpPr>
        <p:spPr>
          <a:xfrm>
            <a:off x="4663440" y="2834640"/>
            <a:ext cx="4114800" cy="621792"/>
          </a:xfrm>
          <a:prstGeom prst="rect">
            <a:avLst/>
          </a:prstGeom>
          <a:solidFill>
            <a:srgbClr val="F8FAFF"/>
          </a:solidFill>
          <a:ln w="6350">
            <a:solidFill>
              <a:srgbClr val="CADCFC">
                <a:alpha val="50000"/>
              </a:srgbClr>
            </a:solidFill>
            <a:prstDash val="solid"/>
          </a:ln>
        </p:spPr>
        <p:txBody>
          <a:bodyPr/>
          <a:lstStyle/>
          <a:p>
            <a:endParaRPr lang="en-AU"/>
          </a:p>
        </p:txBody>
      </p:sp>
      <p:sp>
        <p:nvSpPr>
          <p:cNvPr id="38" name="Shape 36"/>
          <p:cNvSpPr/>
          <p:nvPr/>
        </p:nvSpPr>
        <p:spPr>
          <a:xfrm>
            <a:off x="4663440" y="2834640"/>
            <a:ext cx="54864" cy="621792"/>
          </a:xfrm>
          <a:prstGeom prst="rect">
            <a:avLst/>
          </a:prstGeom>
          <a:solidFill>
            <a:srgbClr val="94A3B8"/>
          </a:solidFill>
          <a:ln w="12700">
            <a:solidFill>
              <a:srgbClr val="94A3B8"/>
            </a:solidFill>
            <a:prstDash val="solid"/>
          </a:ln>
        </p:spPr>
        <p:txBody>
          <a:bodyPr/>
          <a:lstStyle/>
          <a:p>
            <a:endParaRPr lang="en-AU"/>
          </a:p>
        </p:txBody>
      </p:sp>
      <p:sp>
        <p:nvSpPr>
          <p:cNvPr id="39" name="Text 37"/>
          <p:cNvSpPr/>
          <p:nvPr/>
        </p:nvSpPr>
        <p:spPr>
          <a:xfrm>
            <a:off x="4800600" y="2862072"/>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Security Guarantees Depend on the Provider</a:t>
            </a:r>
            <a:endParaRPr lang="en-US" sz="1000" dirty="0"/>
          </a:p>
        </p:txBody>
      </p:sp>
      <p:sp>
        <p:nvSpPr>
          <p:cNvPr id="40" name="Text 38"/>
          <p:cNvSpPr/>
          <p:nvPr/>
        </p:nvSpPr>
        <p:spPr>
          <a:xfrm>
            <a:off x="4800600" y="3081528"/>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Since there is no enforced prompt schema at the orchestration layer, the robustness of prompt-level security depends on whichever underlying model provider is selected. This also makes it </a:t>
            </a:r>
            <a:r>
              <a:rPr lang="en-US" sz="850" b="1" dirty="0">
                <a:solidFill>
                  <a:srgbClr val="64748B"/>
                </a:solidFill>
                <a:latin typeface="Calibri" pitchFamily="34" charset="0"/>
                <a:ea typeface="Calibri" pitchFamily="34" charset="-122"/>
                <a:cs typeface="Calibri" pitchFamily="34" charset="-120"/>
              </a:rPr>
              <a:t>more vulnerable </a:t>
            </a:r>
            <a:r>
              <a:rPr lang="en-US" sz="850" dirty="0">
                <a:solidFill>
                  <a:srgbClr val="64748B"/>
                </a:solidFill>
                <a:latin typeface="Calibri" pitchFamily="34" charset="0"/>
                <a:ea typeface="Calibri" pitchFamily="34" charset="-122"/>
                <a:cs typeface="Calibri" pitchFamily="34" charset="-120"/>
              </a:rPr>
              <a:t>to injection attacks.</a:t>
            </a:r>
            <a:endParaRPr lang="en-US" sz="850" dirty="0"/>
          </a:p>
        </p:txBody>
      </p:sp>
      <p:sp>
        <p:nvSpPr>
          <p:cNvPr id="41" name="Shape 39"/>
          <p:cNvSpPr/>
          <p:nvPr/>
        </p:nvSpPr>
        <p:spPr>
          <a:xfrm>
            <a:off x="4663440" y="3511296"/>
            <a:ext cx="4114800" cy="621792"/>
          </a:xfrm>
          <a:prstGeom prst="rect">
            <a:avLst/>
          </a:prstGeom>
          <a:solidFill>
            <a:srgbClr val="FFFFFF"/>
          </a:solidFill>
          <a:ln w="6350">
            <a:solidFill>
              <a:srgbClr val="CADCFC">
                <a:alpha val="50000"/>
              </a:srgbClr>
            </a:solidFill>
            <a:prstDash val="solid"/>
          </a:ln>
        </p:spPr>
        <p:txBody>
          <a:bodyPr/>
          <a:lstStyle/>
          <a:p>
            <a:endParaRPr lang="en-AU"/>
          </a:p>
        </p:txBody>
      </p:sp>
      <p:sp>
        <p:nvSpPr>
          <p:cNvPr id="42" name="Shape 40"/>
          <p:cNvSpPr/>
          <p:nvPr/>
        </p:nvSpPr>
        <p:spPr>
          <a:xfrm>
            <a:off x="4663440" y="3511296"/>
            <a:ext cx="54864" cy="621792"/>
          </a:xfrm>
          <a:prstGeom prst="rect">
            <a:avLst/>
          </a:prstGeom>
          <a:solidFill>
            <a:srgbClr val="94A3B8"/>
          </a:solidFill>
          <a:ln w="12700">
            <a:solidFill>
              <a:srgbClr val="94A3B8"/>
            </a:solidFill>
            <a:prstDash val="solid"/>
          </a:ln>
        </p:spPr>
        <p:txBody>
          <a:bodyPr/>
          <a:lstStyle/>
          <a:p>
            <a:endParaRPr lang="en-AU"/>
          </a:p>
        </p:txBody>
      </p:sp>
      <p:sp>
        <p:nvSpPr>
          <p:cNvPr id="43" name="Text 41"/>
          <p:cNvSpPr/>
          <p:nvPr/>
        </p:nvSpPr>
        <p:spPr>
          <a:xfrm>
            <a:off x="4800600" y="3538728"/>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Advantage: Minimal Local GPU Needs</a:t>
            </a:r>
            <a:endParaRPr lang="en-US" sz="1000" dirty="0"/>
          </a:p>
        </p:txBody>
      </p:sp>
      <p:sp>
        <p:nvSpPr>
          <p:cNvPr id="44" name="Text 42"/>
          <p:cNvSpPr/>
          <p:nvPr/>
        </p:nvSpPr>
        <p:spPr>
          <a:xfrm>
            <a:off x="4800600" y="3758184"/>
            <a:ext cx="3840480" cy="34747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When cloud-hosted models are used, inference is fully delegated externally. This is useful for benchmarking across providers or where local GPU resources are unavailable.</a:t>
            </a:r>
            <a:endParaRPr lang="en-US" sz="850" dirty="0"/>
          </a:p>
        </p:txBody>
      </p:sp>
      <p:sp>
        <p:nvSpPr>
          <p:cNvPr id="45" name="Shape 43"/>
          <p:cNvSpPr/>
          <p:nvPr/>
        </p:nvSpPr>
        <p:spPr>
          <a:xfrm>
            <a:off x="4663440" y="4187952"/>
            <a:ext cx="4114800" cy="621792"/>
          </a:xfrm>
          <a:prstGeom prst="rect">
            <a:avLst/>
          </a:prstGeom>
          <a:solidFill>
            <a:srgbClr val="F8FAFF"/>
          </a:solidFill>
          <a:ln w="6350">
            <a:solidFill>
              <a:srgbClr val="CADCFC">
                <a:alpha val="50000"/>
              </a:srgbClr>
            </a:solidFill>
            <a:prstDash val="solid"/>
          </a:ln>
        </p:spPr>
        <p:txBody>
          <a:bodyPr/>
          <a:lstStyle/>
          <a:p>
            <a:endParaRPr lang="en-AU"/>
          </a:p>
        </p:txBody>
      </p:sp>
      <p:sp>
        <p:nvSpPr>
          <p:cNvPr id="46" name="Shape 44"/>
          <p:cNvSpPr/>
          <p:nvPr/>
        </p:nvSpPr>
        <p:spPr>
          <a:xfrm>
            <a:off x="4663440" y="4187952"/>
            <a:ext cx="54864" cy="621792"/>
          </a:xfrm>
          <a:prstGeom prst="rect">
            <a:avLst/>
          </a:prstGeom>
          <a:solidFill>
            <a:srgbClr val="94A3B8"/>
          </a:solidFill>
          <a:ln w="12700">
            <a:solidFill>
              <a:srgbClr val="94A3B8"/>
            </a:solidFill>
            <a:prstDash val="solid"/>
          </a:ln>
        </p:spPr>
        <p:txBody>
          <a:bodyPr/>
          <a:lstStyle/>
          <a:p>
            <a:endParaRPr lang="en-AU"/>
          </a:p>
        </p:txBody>
      </p:sp>
      <p:sp>
        <p:nvSpPr>
          <p:cNvPr id="47" name="Text 45"/>
          <p:cNvSpPr/>
          <p:nvPr/>
        </p:nvSpPr>
        <p:spPr>
          <a:xfrm>
            <a:off x="4800600" y="4215384"/>
            <a:ext cx="384048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Constraint: Reproducibility Risk</a:t>
            </a:r>
            <a:endParaRPr lang="en-US" sz="1000" dirty="0"/>
          </a:p>
        </p:txBody>
      </p:sp>
      <p:sp>
        <p:nvSpPr>
          <p:cNvPr id="48" name="Text 46"/>
          <p:cNvSpPr/>
          <p:nvPr/>
        </p:nvSpPr>
        <p:spPr>
          <a:xfrm>
            <a:off x="4800600" y="4434840"/>
            <a:ext cx="3840480" cy="347472"/>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Additional orchestration and validation </a:t>
            </a:r>
            <a:r>
              <a:rPr lang="en-US" sz="850" dirty="0">
                <a:solidFill>
                  <a:srgbClr val="64748B"/>
                </a:solidFill>
                <a:latin typeface="Calibri" pitchFamily="34" charset="0"/>
                <a:ea typeface="Calibri" pitchFamily="34" charset="-122"/>
                <a:cs typeface="Calibri" pitchFamily="34" charset="-120"/>
              </a:rPr>
              <a:t>logic is required to maintain reproducibility and output consistency across providers in ML or data-processing pipelines.</a:t>
            </a:r>
            <a:endParaRPr lang="en-US" sz="850" dirty="0"/>
          </a:p>
        </p:txBody>
      </p:sp>
      <p:sp>
        <p:nvSpPr>
          <p:cNvPr id="49" name="Shape 47"/>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50" name="Text 48"/>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pic>
        <p:nvPicPr>
          <p:cNvPr id="51" name="Picture 6">
            <a:extLst>
              <a:ext uri="{FF2B5EF4-FFF2-40B4-BE49-F238E27FC236}">
                <a16:creationId xmlns:a16="http://schemas.microsoft.com/office/drawing/2014/main" id="{13257402-CD47-AA79-1E4D-3450A8B6B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745" y="947401"/>
            <a:ext cx="392527" cy="39252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OpenClaw (MoltBot/ClawdBot) Free SVG... · LobeHub">
            <a:extLst>
              <a:ext uri="{FF2B5EF4-FFF2-40B4-BE49-F238E27FC236}">
                <a16:creationId xmlns:a16="http://schemas.microsoft.com/office/drawing/2014/main" id="{BDD74959-2ACE-F536-32B3-5100A4493D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2824" y="897128"/>
            <a:ext cx="435187" cy="435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4.4  Memory System</a:t>
            </a:r>
            <a:endParaRPr lang="en-US" sz="26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How each platform retains and retrieves knowledge across sessions</a:t>
            </a:r>
            <a:endParaRPr lang="en-US" sz="1200" dirty="0"/>
          </a:p>
        </p:txBody>
      </p:sp>
      <p:sp>
        <p:nvSpPr>
          <p:cNvPr id="5" name="Shape 3"/>
          <p:cNvSpPr/>
          <p:nvPr/>
        </p:nvSpPr>
        <p:spPr>
          <a:xfrm>
            <a:off x="365760" y="1005840"/>
            <a:ext cx="5029200" cy="347472"/>
          </a:xfrm>
          <a:prstGeom prst="rect">
            <a:avLst/>
          </a:prstGeom>
          <a:solidFill>
            <a:schemeClr val="accent1">
              <a:lumMod val="75000"/>
            </a:schemeClr>
          </a:solidFill>
          <a:ln w="12700">
            <a:solidFill>
              <a:schemeClr val="accent1">
                <a:lumMod val="75000"/>
              </a:schemeClr>
            </a:solidFill>
            <a:prstDash val="solid"/>
          </a:ln>
        </p:spPr>
        <p:txBody>
          <a:bodyPr/>
          <a:lstStyle/>
          <a:p>
            <a:endParaRPr lang="en-AU"/>
          </a:p>
        </p:txBody>
      </p:sp>
      <p:sp>
        <p:nvSpPr>
          <p:cNvPr id="6" name="Text 4"/>
          <p:cNvSpPr/>
          <p:nvPr/>
        </p:nvSpPr>
        <p:spPr>
          <a:xfrm>
            <a:off x="457200" y="1005840"/>
            <a:ext cx="4846320" cy="347472"/>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Hermes Agent: Four-Layer Persistent Memory</a:t>
            </a:r>
            <a:endParaRPr lang="en-US" sz="1200" dirty="0"/>
          </a:p>
        </p:txBody>
      </p:sp>
      <p:sp>
        <p:nvSpPr>
          <p:cNvPr id="7" name="Shape 5"/>
          <p:cNvSpPr/>
          <p:nvPr/>
        </p:nvSpPr>
        <p:spPr>
          <a:xfrm>
            <a:off x="365760" y="1426464"/>
            <a:ext cx="5029200" cy="548640"/>
          </a:xfrm>
          <a:prstGeom prst="rect">
            <a:avLst/>
          </a:prstGeom>
          <a:solidFill>
            <a:srgbClr val="F8FAFF"/>
          </a:solidFill>
          <a:ln w="6350">
            <a:solidFill>
              <a:srgbClr val="CADCFC">
                <a:alpha val="50000"/>
              </a:srgbClr>
            </a:solidFill>
            <a:prstDash val="solid"/>
          </a:ln>
        </p:spPr>
        <p:txBody>
          <a:bodyPr/>
          <a:lstStyle/>
          <a:p>
            <a:endParaRPr lang="en-AU"/>
          </a:p>
        </p:txBody>
      </p:sp>
      <p:sp>
        <p:nvSpPr>
          <p:cNvPr id="8" name="Shape 6"/>
          <p:cNvSpPr/>
          <p:nvPr/>
        </p:nvSpPr>
        <p:spPr>
          <a:xfrm>
            <a:off x="365760" y="1426464"/>
            <a:ext cx="1097280" cy="548640"/>
          </a:xfrm>
          <a:prstGeom prst="rect">
            <a:avLst/>
          </a:prstGeom>
          <a:solidFill>
            <a:srgbClr val="1E2761">
              <a:alpha val="12000"/>
            </a:srgbClr>
          </a:solidFill>
          <a:ln w="12700">
            <a:solidFill>
              <a:srgbClr val="1E2761">
                <a:alpha val="12000"/>
              </a:srgbClr>
            </a:solidFill>
            <a:prstDash val="solid"/>
          </a:ln>
        </p:spPr>
        <p:txBody>
          <a:bodyPr/>
          <a:lstStyle/>
          <a:p>
            <a:endParaRPr lang="en-AU"/>
          </a:p>
        </p:txBody>
      </p:sp>
      <p:sp>
        <p:nvSpPr>
          <p:cNvPr id="9" name="Text 7"/>
          <p:cNvSpPr/>
          <p:nvPr/>
        </p:nvSpPr>
        <p:spPr>
          <a:xfrm>
            <a:off x="438912" y="1463040"/>
            <a:ext cx="1005840" cy="457200"/>
          </a:xfrm>
          <a:prstGeom prst="rect">
            <a:avLst/>
          </a:prstGeom>
          <a:noFill/>
          <a:ln/>
        </p:spPr>
        <p:txBody>
          <a:bodyPr wrap="square" rtlCol="0" anchor="ctr"/>
          <a:lstStyle/>
          <a:p>
            <a:pPr marL="0" indent="0" algn="ctr">
              <a:buNone/>
            </a:pPr>
            <a:r>
              <a:rPr lang="en-US" sz="900" b="1" dirty="0">
                <a:solidFill>
                  <a:srgbClr val="1E2761"/>
                </a:solidFill>
                <a:latin typeface="Calibri" pitchFamily="34" charset="0"/>
                <a:ea typeface="Calibri" pitchFamily="34" charset="-122"/>
                <a:cs typeface="Calibri" pitchFamily="34" charset="-120"/>
              </a:rPr>
              <a:t>MEMORY.md</a:t>
            </a:r>
            <a:endParaRPr lang="en-US" sz="900" dirty="0"/>
          </a:p>
        </p:txBody>
      </p:sp>
      <p:sp>
        <p:nvSpPr>
          <p:cNvPr id="10" name="Text 8"/>
          <p:cNvSpPr/>
          <p:nvPr/>
        </p:nvSpPr>
        <p:spPr>
          <a:xfrm>
            <a:off x="1536192" y="1481328"/>
            <a:ext cx="3794760" cy="438912"/>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Long-term system memory</a:t>
            </a:r>
            <a:r>
              <a:rPr lang="en-US" sz="900" dirty="0">
                <a:solidFill>
                  <a:srgbClr val="64748B"/>
                </a:solidFill>
                <a:latin typeface="Calibri" pitchFamily="34" charset="0"/>
                <a:ea typeface="Calibri" pitchFamily="34" charset="-122"/>
                <a:cs typeface="Calibri" pitchFamily="34" charset="-120"/>
              </a:rPr>
              <a:t>: persistent facts, workflow patterns, and agent-level knowledge stored in structured Markdown/YAML formats.</a:t>
            </a:r>
            <a:endParaRPr lang="en-US" sz="900" dirty="0"/>
          </a:p>
        </p:txBody>
      </p:sp>
      <p:sp>
        <p:nvSpPr>
          <p:cNvPr id="11" name="Shape 9"/>
          <p:cNvSpPr/>
          <p:nvPr/>
        </p:nvSpPr>
        <p:spPr>
          <a:xfrm>
            <a:off x="365760" y="2029968"/>
            <a:ext cx="5029200" cy="548640"/>
          </a:xfrm>
          <a:prstGeom prst="rect">
            <a:avLst/>
          </a:prstGeom>
          <a:solidFill>
            <a:srgbClr val="FFFFFF"/>
          </a:solidFill>
          <a:ln w="6350">
            <a:solidFill>
              <a:srgbClr val="CADCFC">
                <a:alpha val="50000"/>
              </a:srgbClr>
            </a:solidFill>
            <a:prstDash val="solid"/>
          </a:ln>
        </p:spPr>
        <p:txBody>
          <a:bodyPr/>
          <a:lstStyle/>
          <a:p>
            <a:endParaRPr lang="en-AU"/>
          </a:p>
        </p:txBody>
      </p:sp>
      <p:sp>
        <p:nvSpPr>
          <p:cNvPr id="12" name="Shape 10"/>
          <p:cNvSpPr/>
          <p:nvPr/>
        </p:nvSpPr>
        <p:spPr>
          <a:xfrm>
            <a:off x="365760" y="2029968"/>
            <a:ext cx="1097280" cy="548640"/>
          </a:xfrm>
          <a:prstGeom prst="rect">
            <a:avLst/>
          </a:prstGeom>
          <a:solidFill>
            <a:srgbClr val="1E2761">
              <a:alpha val="12000"/>
            </a:srgbClr>
          </a:solidFill>
          <a:ln w="12700">
            <a:solidFill>
              <a:srgbClr val="1E2761">
                <a:alpha val="12000"/>
              </a:srgbClr>
            </a:solidFill>
            <a:prstDash val="solid"/>
          </a:ln>
        </p:spPr>
        <p:txBody>
          <a:bodyPr/>
          <a:lstStyle/>
          <a:p>
            <a:endParaRPr lang="en-AU"/>
          </a:p>
        </p:txBody>
      </p:sp>
      <p:sp>
        <p:nvSpPr>
          <p:cNvPr id="13" name="Text 11"/>
          <p:cNvSpPr/>
          <p:nvPr/>
        </p:nvSpPr>
        <p:spPr>
          <a:xfrm>
            <a:off x="438912" y="2066544"/>
            <a:ext cx="1005840" cy="457200"/>
          </a:xfrm>
          <a:prstGeom prst="rect">
            <a:avLst/>
          </a:prstGeom>
          <a:noFill/>
          <a:ln/>
        </p:spPr>
        <p:txBody>
          <a:bodyPr wrap="square" rtlCol="0" anchor="ctr"/>
          <a:lstStyle/>
          <a:p>
            <a:pPr marL="0" indent="0" algn="ctr">
              <a:buNone/>
            </a:pPr>
            <a:r>
              <a:rPr lang="en-US" sz="900" b="1" dirty="0">
                <a:solidFill>
                  <a:srgbClr val="1E2761"/>
                </a:solidFill>
                <a:latin typeface="Calibri" pitchFamily="34" charset="0"/>
                <a:ea typeface="Calibri" pitchFamily="34" charset="-122"/>
                <a:cs typeface="Calibri" pitchFamily="34" charset="-120"/>
              </a:rPr>
              <a:t>USER.md</a:t>
            </a:r>
            <a:endParaRPr lang="en-US" sz="900" dirty="0"/>
          </a:p>
        </p:txBody>
      </p:sp>
      <p:sp>
        <p:nvSpPr>
          <p:cNvPr id="14" name="Text 12"/>
          <p:cNvSpPr/>
          <p:nvPr/>
        </p:nvSpPr>
        <p:spPr>
          <a:xfrm>
            <a:off x="1536192" y="2084832"/>
            <a:ext cx="3794760" cy="438912"/>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User-specific persistent state</a:t>
            </a:r>
            <a:r>
              <a:rPr lang="en-US" sz="900" dirty="0">
                <a:solidFill>
                  <a:srgbClr val="64748B"/>
                </a:solidFill>
                <a:latin typeface="Calibri" pitchFamily="34" charset="0"/>
                <a:ea typeface="Calibri" pitchFamily="34" charset="-122"/>
                <a:cs typeface="Calibri" pitchFamily="34" charset="-120"/>
              </a:rPr>
              <a:t>: preferences, interaction style, and task history accumulated across sessions.</a:t>
            </a:r>
            <a:endParaRPr lang="en-US" sz="900" dirty="0"/>
          </a:p>
        </p:txBody>
      </p:sp>
      <p:sp>
        <p:nvSpPr>
          <p:cNvPr id="15" name="Shape 13"/>
          <p:cNvSpPr/>
          <p:nvPr/>
        </p:nvSpPr>
        <p:spPr>
          <a:xfrm>
            <a:off x="365760" y="2633472"/>
            <a:ext cx="5029200" cy="548640"/>
          </a:xfrm>
          <a:prstGeom prst="rect">
            <a:avLst/>
          </a:prstGeom>
          <a:solidFill>
            <a:srgbClr val="F8FAFF"/>
          </a:solidFill>
          <a:ln w="6350">
            <a:solidFill>
              <a:srgbClr val="CADCFC">
                <a:alpha val="50000"/>
              </a:srgbClr>
            </a:solidFill>
            <a:prstDash val="solid"/>
          </a:ln>
        </p:spPr>
        <p:txBody>
          <a:bodyPr/>
          <a:lstStyle/>
          <a:p>
            <a:endParaRPr lang="en-AU"/>
          </a:p>
        </p:txBody>
      </p:sp>
      <p:sp>
        <p:nvSpPr>
          <p:cNvPr id="16" name="Shape 14"/>
          <p:cNvSpPr/>
          <p:nvPr/>
        </p:nvSpPr>
        <p:spPr>
          <a:xfrm>
            <a:off x="365760" y="2633472"/>
            <a:ext cx="1097280" cy="548640"/>
          </a:xfrm>
          <a:prstGeom prst="rect">
            <a:avLst/>
          </a:prstGeom>
          <a:solidFill>
            <a:srgbClr val="1E2761">
              <a:alpha val="12000"/>
            </a:srgbClr>
          </a:solidFill>
          <a:ln w="12700">
            <a:solidFill>
              <a:srgbClr val="1E2761">
                <a:alpha val="12000"/>
              </a:srgbClr>
            </a:solidFill>
            <a:prstDash val="solid"/>
          </a:ln>
        </p:spPr>
        <p:txBody>
          <a:bodyPr/>
          <a:lstStyle/>
          <a:p>
            <a:endParaRPr lang="en-AU"/>
          </a:p>
        </p:txBody>
      </p:sp>
      <p:sp>
        <p:nvSpPr>
          <p:cNvPr id="17" name="Text 15"/>
          <p:cNvSpPr/>
          <p:nvPr/>
        </p:nvSpPr>
        <p:spPr>
          <a:xfrm>
            <a:off x="438912" y="2670048"/>
            <a:ext cx="1005840" cy="457200"/>
          </a:xfrm>
          <a:prstGeom prst="rect">
            <a:avLst/>
          </a:prstGeom>
          <a:noFill/>
          <a:ln/>
        </p:spPr>
        <p:txBody>
          <a:bodyPr wrap="square" rtlCol="0" anchor="ctr"/>
          <a:lstStyle/>
          <a:p>
            <a:pPr marL="0" indent="0" algn="ctr">
              <a:buNone/>
            </a:pPr>
            <a:r>
              <a:rPr lang="en-US" sz="900" b="1" dirty="0">
                <a:solidFill>
                  <a:srgbClr val="1E2761"/>
                </a:solidFill>
                <a:latin typeface="Calibri" pitchFamily="34" charset="0"/>
                <a:ea typeface="Calibri" pitchFamily="34" charset="-122"/>
                <a:cs typeface="Calibri" pitchFamily="34" charset="-120"/>
              </a:rPr>
              <a:t>Session Summaries</a:t>
            </a:r>
            <a:endParaRPr lang="en-US" sz="900" dirty="0"/>
          </a:p>
        </p:txBody>
      </p:sp>
      <p:sp>
        <p:nvSpPr>
          <p:cNvPr id="18" name="Text 16"/>
          <p:cNvSpPr/>
          <p:nvPr/>
        </p:nvSpPr>
        <p:spPr>
          <a:xfrm>
            <a:off x="1536192" y="2688336"/>
            <a:ext cx="3794760" cy="43891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Runtime-generated context snapshots injected into the active context window to </a:t>
            </a:r>
            <a:r>
              <a:rPr lang="en-US" sz="900" b="1" dirty="0">
                <a:solidFill>
                  <a:srgbClr val="64748B"/>
                </a:solidFill>
                <a:latin typeface="Calibri" pitchFamily="34" charset="0"/>
                <a:ea typeface="Calibri" pitchFamily="34" charset="-122"/>
                <a:cs typeface="Calibri" pitchFamily="34" charset="-120"/>
              </a:rPr>
              <a:t>restore continuity </a:t>
            </a:r>
            <a:r>
              <a:rPr lang="en-US" sz="900" dirty="0">
                <a:solidFill>
                  <a:srgbClr val="64748B"/>
                </a:solidFill>
                <a:latin typeface="Calibri" pitchFamily="34" charset="0"/>
                <a:ea typeface="Calibri" pitchFamily="34" charset="-122"/>
                <a:cs typeface="Calibri" pitchFamily="34" charset="-120"/>
              </a:rPr>
              <a:t>without re-reading full history.</a:t>
            </a:r>
            <a:endParaRPr lang="en-US" sz="900" dirty="0"/>
          </a:p>
        </p:txBody>
      </p:sp>
      <p:sp>
        <p:nvSpPr>
          <p:cNvPr id="19" name="Shape 17"/>
          <p:cNvSpPr/>
          <p:nvPr/>
        </p:nvSpPr>
        <p:spPr>
          <a:xfrm>
            <a:off x="365760" y="3236976"/>
            <a:ext cx="5029200" cy="548640"/>
          </a:xfrm>
          <a:prstGeom prst="rect">
            <a:avLst/>
          </a:prstGeom>
          <a:solidFill>
            <a:srgbClr val="FFFFFF"/>
          </a:solidFill>
          <a:ln w="6350">
            <a:solidFill>
              <a:srgbClr val="CADCFC">
                <a:alpha val="50000"/>
              </a:srgbClr>
            </a:solidFill>
            <a:prstDash val="solid"/>
          </a:ln>
        </p:spPr>
        <p:txBody>
          <a:bodyPr/>
          <a:lstStyle/>
          <a:p>
            <a:endParaRPr lang="en-AU"/>
          </a:p>
        </p:txBody>
      </p:sp>
      <p:sp>
        <p:nvSpPr>
          <p:cNvPr id="20" name="Shape 18"/>
          <p:cNvSpPr/>
          <p:nvPr/>
        </p:nvSpPr>
        <p:spPr>
          <a:xfrm>
            <a:off x="365760" y="3236976"/>
            <a:ext cx="1097280" cy="548640"/>
          </a:xfrm>
          <a:prstGeom prst="rect">
            <a:avLst/>
          </a:prstGeom>
          <a:solidFill>
            <a:srgbClr val="1E2761">
              <a:alpha val="12000"/>
            </a:srgbClr>
          </a:solidFill>
          <a:ln w="12700">
            <a:solidFill>
              <a:srgbClr val="1E2761">
                <a:alpha val="12000"/>
              </a:srgbClr>
            </a:solidFill>
            <a:prstDash val="solid"/>
          </a:ln>
        </p:spPr>
        <p:txBody>
          <a:bodyPr/>
          <a:lstStyle/>
          <a:p>
            <a:endParaRPr lang="en-AU"/>
          </a:p>
        </p:txBody>
      </p:sp>
      <p:sp>
        <p:nvSpPr>
          <p:cNvPr id="21" name="Text 19"/>
          <p:cNvSpPr/>
          <p:nvPr/>
        </p:nvSpPr>
        <p:spPr>
          <a:xfrm>
            <a:off x="438912" y="3273552"/>
            <a:ext cx="1005840" cy="457200"/>
          </a:xfrm>
          <a:prstGeom prst="rect">
            <a:avLst/>
          </a:prstGeom>
          <a:noFill/>
          <a:ln/>
        </p:spPr>
        <p:txBody>
          <a:bodyPr wrap="square" rtlCol="0" anchor="ctr"/>
          <a:lstStyle/>
          <a:p>
            <a:pPr marL="0" indent="0" algn="ctr">
              <a:buNone/>
            </a:pPr>
            <a:r>
              <a:rPr lang="en-US" sz="900" b="1" dirty="0">
                <a:solidFill>
                  <a:srgbClr val="1E2761"/>
                </a:solidFill>
                <a:latin typeface="Calibri" pitchFamily="34" charset="0"/>
                <a:ea typeface="Calibri" pitchFamily="34" charset="-122"/>
                <a:cs typeface="Calibri" pitchFamily="34" charset="-120"/>
              </a:rPr>
              <a:t>Periodic Nudge</a:t>
            </a:r>
            <a:endParaRPr lang="en-US" sz="900" dirty="0"/>
          </a:p>
        </p:txBody>
      </p:sp>
      <p:sp>
        <p:nvSpPr>
          <p:cNvPr id="22" name="Text 20"/>
          <p:cNvSpPr/>
          <p:nvPr/>
        </p:nvSpPr>
        <p:spPr>
          <a:xfrm>
            <a:off x="1536192" y="3291840"/>
            <a:ext cx="3794760" cy="43891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Background process that </a:t>
            </a:r>
            <a:r>
              <a:rPr lang="en-US" sz="900" b="1" dirty="0">
                <a:solidFill>
                  <a:srgbClr val="64748B"/>
                </a:solidFill>
                <a:latin typeface="Calibri" pitchFamily="34" charset="0"/>
                <a:ea typeface="Calibri" pitchFamily="34" charset="-122"/>
                <a:cs typeface="Calibri" pitchFamily="34" charset="-120"/>
              </a:rPr>
              <a:t>autonomously evaluates </a:t>
            </a:r>
            <a:r>
              <a:rPr lang="en-US" sz="900" dirty="0">
                <a:solidFill>
                  <a:srgbClr val="64748B"/>
                </a:solidFill>
                <a:latin typeface="Calibri" pitchFamily="34" charset="0"/>
                <a:ea typeface="Calibri" pitchFamily="34" charset="-122"/>
                <a:cs typeface="Calibri" pitchFamily="34" charset="-120"/>
              </a:rPr>
              <a:t>recent interactions, summarises persistable content above a relevance threshold, and writes it to memory files without requiring any user intervention.</a:t>
            </a:r>
            <a:endParaRPr lang="en-US" sz="900" dirty="0"/>
          </a:p>
        </p:txBody>
      </p:sp>
      <p:sp>
        <p:nvSpPr>
          <p:cNvPr id="23" name="Shape 21"/>
          <p:cNvSpPr/>
          <p:nvPr/>
        </p:nvSpPr>
        <p:spPr>
          <a:xfrm>
            <a:off x="365760" y="3858768"/>
            <a:ext cx="5029200" cy="749808"/>
          </a:xfrm>
          <a:prstGeom prst="rect">
            <a:avLst/>
          </a:prstGeom>
          <a:solidFill>
            <a:srgbClr val="CADCFC">
              <a:alpha val="45000"/>
            </a:srgbClr>
          </a:solidFill>
          <a:ln w="10160">
            <a:solidFill>
              <a:srgbClr val="4F9CF9"/>
            </a:solidFill>
            <a:prstDash val="solid"/>
          </a:ln>
        </p:spPr>
        <p:txBody>
          <a:bodyPr/>
          <a:lstStyle/>
          <a:p>
            <a:endParaRPr lang="en-AU"/>
          </a:p>
        </p:txBody>
      </p:sp>
      <p:sp>
        <p:nvSpPr>
          <p:cNvPr id="24" name="Text 22"/>
          <p:cNvSpPr/>
          <p:nvPr/>
        </p:nvSpPr>
        <p:spPr>
          <a:xfrm>
            <a:off x="548640" y="3886200"/>
            <a:ext cx="3657600" cy="256032"/>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 Honcho Dialectic Memory Layer</a:t>
            </a:r>
            <a:endParaRPr lang="en-US" sz="1050" dirty="0"/>
          </a:p>
        </p:txBody>
      </p:sp>
      <p:sp>
        <p:nvSpPr>
          <p:cNvPr id="25" name="Text 23"/>
          <p:cNvSpPr/>
          <p:nvPr/>
        </p:nvSpPr>
        <p:spPr>
          <a:xfrm>
            <a:off x="548640" y="4114800"/>
            <a:ext cx="4754880" cy="45720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An optional </a:t>
            </a:r>
            <a:r>
              <a:rPr lang="en-US" sz="850" b="1" dirty="0">
                <a:solidFill>
                  <a:srgbClr val="64748B"/>
                </a:solidFill>
                <a:latin typeface="Calibri" pitchFamily="34" charset="0"/>
                <a:ea typeface="Calibri" pitchFamily="34" charset="-122"/>
                <a:cs typeface="Calibri" pitchFamily="34" charset="-120"/>
              </a:rPr>
              <a:t>external memory provider </a:t>
            </a:r>
            <a:r>
              <a:rPr lang="en-US" sz="850" dirty="0">
                <a:solidFill>
                  <a:srgbClr val="64748B"/>
                </a:solidFill>
                <a:latin typeface="Calibri" pitchFamily="34" charset="0"/>
                <a:ea typeface="Calibri" pitchFamily="34" charset="-122"/>
                <a:cs typeface="Calibri" pitchFamily="34" charset="-120"/>
              </a:rPr>
              <a:t>that builds evolving user representations via multi-pass reasoning (1-3 passes) over past interactions. It also adds </a:t>
            </a:r>
            <a:r>
              <a:rPr lang="en-US" sz="850" b="1" dirty="0">
                <a:solidFill>
                  <a:srgbClr val="64748B"/>
                </a:solidFill>
                <a:latin typeface="Calibri" pitchFamily="34" charset="0"/>
                <a:ea typeface="Calibri" pitchFamily="34" charset="-122"/>
                <a:cs typeface="Calibri" pitchFamily="34" charset="-120"/>
              </a:rPr>
              <a:t>session-scoped context injection</a:t>
            </a:r>
            <a:r>
              <a:rPr lang="en-US" sz="850" dirty="0">
                <a:solidFill>
                  <a:srgbClr val="64748B"/>
                </a:solidFill>
                <a:latin typeface="Calibri" pitchFamily="34" charset="0"/>
                <a:ea typeface="Calibri" pitchFamily="34" charset="-122"/>
                <a:cs typeface="Calibri" pitchFamily="34" charset="-120"/>
              </a:rPr>
              <a:t>, per-agent profile isolation, and behavioural pattern inference, all of which are beyond what raw logs provide.</a:t>
            </a:r>
            <a:endParaRPr lang="en-US" sz="850" dirty="0"/>
          </a:p>
        </p:txBody>
      </p:sp>
      <p:sp>
        <p:nvSpPr>
          <p:cNvPr id="26" name="Shape 24"/>
          <p:cNvSpPr/>
          <p:nvPr/>
        </p:nvSpPr>
        <p:spPr>
          <a:xfrm>
            <a:off x="5577840" y="1005840"/>
            <a:ext cx="3200400" cy="347472"/>
          </a:xfrm>
          <a:prstGeom prst="rect">
            <a:avLst/>
          </a:prstGeom>
          <a:solidFill>
            <a:srgbClr val="CADCFC">
              <a:alpha val="80000"/>
            </a:srgbClr>
          </a:solidFill>
          <a:ln w="12700">
            <a:solidFill>
              <a:srgbClr val="CADCFC"/>
            </a:solidFill>
            <a:prstDash val="solid"/>
          </a:ln>
        </p:spPr>
        <p:txBody>
          <a:bodyPr/>
          <a:lstStyle/>
          <a:p>
            <a:endParaRPr lang="en-AU"/>
          </a:p>
        </p:txBody>
      </p:sp>
      <p:sp>
        <p:nvSpPr>
          <p:cNvPr id="27" name="Text 25"/>
          <p:cNvSpPr/>
          <p:nvPr/>
        </p:nvSpPr>
        <p:spPr>
          <a:xfrm>
            <a:off x="5623560" y="1005840"/>
            <a:ext cx="3108960" cy="347472"/>
          </a:xfrm>
          <a:prstGeom prst="rect">
            <a:avLst/>
          </a:prstGeom>
          <a:noFill/>
          <a:ln/>
        </p:spPr>
        <p:txBody>
          <a:bodyPr wrap="square" rtlCol="0" anchor="ctr"/>
          <a:lstStyle/>
          <a:p>
            <a:pPr marL="0" indent="0">
              <a:buNone/>
            </a:pPr>
            <a:r>
              <a:rPr lang="en-US" sz="1200" b="1" dirty="0" err="1">
                <a:solidFill>
                  <a:srgbClr val="1E2761"/>
                </a:solidFill>
                <a:latin typeface="Georgia" pitchFamily="34" charset="0"/>
                <a:ea typeface="Georgia" pitchFamily="34" charset="-122"/>
                <a:cs typeface="Georgia" pitchFamily="34" charset="-120"/>
              </a:rPr>
              <a:t>OpenClaw</a:t>
            </a:r>
            <a:r>
              <a:rPr lang="en-US" sz="1200" b="1" dirty="0">
                <a:solidFill>
                  <a:srgbClr val="1E2761"/>
                </a:solidFill>
                <a:latin typeface="Georgia" pitchFamily="34" charset="0"/>
                <a:ea typeface="Georgia" pitchFamily="34" charset="-122"/>
                <a:cs typeface="Georgia" pitchFamily="34" charset="-120"/>
              </a:rPr>
              <a:t>: File-Based Memory</a:t>
            </a:r>
            <a:endParaRPr lang="en-US" sz="1200" dirty="0"/>
          </a:p>
        </p:txBody>
      </p:sp>
      <p:sp>
        <p:nvSpPr>
          <p:cNvPr id="28" name="Shape 26"/>
          <p:cNvSpPr/>
          <p:nvPr/>
        </p:nvSpPr>
        <p:spPr>
          <a:xfrm>
            <a:off x="5577840" y="1426464"/>
            <a:ext cx="3200400" cy="640080"/>
          </a:xfrm>
          <a:prstGeom prst="rect">
            <a:avLst/>
          </a:prstGeom>
          <a:solidFill>
            <a:srgbClr val="F8FAFF"/>
          </a:solidFill>
          <a:ln w="6350">
            <a:solidFill>
              <a:srgbClr val="CADCFC">
                <a:alpha val="50000"/>
              </a:srgbClr>
            </a:solidFill>
            <a:prstDash val="solid"/>
          </a:ln>
        </p:spPr>
        <p:txBody>
          <a:bodyPr/>
          <a:lstStyle/>
          <a:p>
            <a:endParaRPr lang="en-AU"/>
          </a:p>
        </p:txBody>
      </p:sp>
      <p:sp>
        <p:nvSpPr>
          <p:cNvPr id="29" name="Shape 27"/>
          <p:cNvSpPr/>
          <p:nvPr/>
        </p:nvSpPr>
        <p:spPr>
          <a:xfrm>
            <a:off x="5577840" y="1426464"/>
            <a:ext cx="54864" cy="640080"/>
          </a:xfrm>
          <a:prstGeom prst="rect">
            <a:avLst/>
          </a:prstGeom>
          <a:solidFill>
            <a:srgbClr val="94A3B8"/>
          </a:solidFill>
          <a:ln w="12700">
            <a:solidFill>
              <a:srgbClr val="94A3B8"/>
            </a:solidFill>
            <a:prstDash val="solid"/>
          </a:ln>
        </p:spPr>
        <p:txBody>
          <a:bodyPr/>
          <a:lstStyle/>
          <a:p>
            <a:endParaRPr lang="en-AU"/>
          </a:p>
        </p:txBody>
      </p:sp>
      <p:sp>
        <p:nvSpPr>
          <p:cNvPr id="30" name="Text 28"/>
          <p:cNvSpPr/>
          <p:nvPr/>
        </p:nvSpPr>
        <p:spPr>
          <a:xfrm>
            <a:off x="5687568" y="1463040"/>
            <a:ext cx="3017520" cy="219456"/>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Markdown &amp; YAML Storage</a:t>
            </a:r>
            <a:endParaRPr lang="en-US" sz="950" dirty="0"/>
          </a:p>
        </p:txBody>
      </p:sp>
      <p:sp>
        <p:nvSpPr>
          <p:cNvPr id="31" name="Text 29"/>
          <p:cNvSpPr/>
          <p:nvPr/>
        </p:nvSpPr>
        <p:spPr>
          <a:xfrm>
            <a:off x="5687568" y="1673352"/>
            <a:ext cx="3017520" cy="36576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Conversation history, config state, and tool routing preferences </a:t>
            </a:r>
            <a:r>
              <a:rPr lang="en-US" sz="850" b="1" dirty="0">
                <a:solidFill>
                  <a:srgbClr val="64748B"/>
                </a:solidFill>
                <a:latin typeface="Calibri" pitchFamily="34" charset="0"/>
                <a:ea typeface="Calibri" pitchFamily="34" charset="-122"/>
                <a:cs typeface="Calibri" pitchFamily="34" charset="-120"/>
              </a:rPr>
              <a:t>persisted in local files</a:t>
            </a:r>
            <a:r>
              <a:rPr lang="en-US" sz="850" dirty="0">
                <a:solidFill>
                  <a:srgbClr val="64748B"/>
                </a:solidFill>
                <a:latin typeface="Calibri" pitchFamily="34" charset="0"/>
                <a:ea typeface="Calibri" pitchFamily="34" charset="-122"/>
                <a:cs typeface="Calibri" pitchFamily="34" charset="-120"/>
              </a:rPr>
              <a:t>, which is transparent but manually managed.</a:t>
            </a:r>
            <a:endParaRPr lang="en-US" sz="850" dirty="0"/>
          </a:p>
        </p:txBody>
      </p:sp>
      <p:sp>
        <p:nvSpPr>
          <p:cNvPr id="32" name="Shape 30"/>
          <p:cNvSpPr/>
          <p:nvPr/>
        </p:nvSpPr>
        <p:spPr>
          <a:xfrm>
            <a:off x="5577840" y="2121408"/>
            <a:ext cx="3200400" cy="640080"/>
          </a:xfrm>
          <a:prstGeom prst="rect">
            <a:avLst/>
          </a:prstGeom>
          <a:solidFill>
            <a:srgbClr val="FFFFFF"/>
          </a:solidFill>
          <a:ln w="6350">
            <a:solidFill>
              <a:srgbClr val="CADCFC">
                <a:alpha val="50000"/>
              </a:srgbClr>
            </a:solidFill>
            <a:prstDash val="solid"/>
          </a:ln>
        </p:spPr>
        <p:txBody>
          <a:bodyPr/>
          <a:lstStyle/>
          <a:p>
            <a:endParaRPr lang="en-AU"/>
          </a:p>
        </p:txBody>
      </p:sp>
      <p:sp>
        <p:nvSpPr>
          <p:cNvPr id="33" name="Shape 31"/>
          <p:cNvSpPr/>
          <p:nvPr/>
        </p:nvSpPr>
        <p:spPr>
          <a:xfrm>
            <a:off x="5577840" y="2121408"/>
            <a:ext cx="54864" cy="640080"/>
          </a:xfrm>
          <a:prstGeom prst="rect">
            <a:avLst/>
          </a:prstGeom>
          <a:solidFill>
            <a:srgbClr val="94A3B8"/>
          </a:solidFill>
          <a:ln w="12700">
            <a:solidFill>
              <a:srgbClr val="94A3B8"/>
            </a:solidFill>
            <a:prstDash val="solid"/>
          </a:ln>
        </p:spPr>
        <p:txBody>
          <a:bodyPr/>
          <a:lstStyle/>
          <a:p>
            <a:endParaRPr lang="en-AU"/>
          </a:p>
        </p:txBody>
      </p:sp>
      <p:sp>
        <p:nvSpPr>
          <p:cNvPr id="34" name="Text 32"/>
          <p:cNvSpPr/>
          <p:nvPr/>
        </p:nvSpPr>
        <p:spPr>
          <a:xfrm>
            <a:off x="5687568" y="2157984"/>
            <a:ext cx="3017520" cy="219456"/>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No Automated Summarisation</a:t>
            </a:r>
            <a:endParaRPr lang="en-US" sz="950" dirty="0"/>
          </a:p>
        </p:txBody>
      </p:sp>
      <p:sp>
        <p:nvSpPr>
          <p:cNvPr id="35" name="Text 33"/>
          <p:cNvSpPr/>
          <p:nvPr/>
        </p:nvSpPr>
        <p:spPr>
          <a:xfrm>
            <a:off x="5687568" y="2368296"/>
            <a:ext cx="3017520" cy="36576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All memory updates must be </a:t>
            </a:r>
            <a:r>
              <a:rPr lang="en-US" sz="850" b="1" dirty="0">
                <a:solidFill>
                  <a:srgbClr val="64748B"/>
                </a:solidFill>
                <a:latin typeface="Calibri" pitchFamily="34" charset="0"/>
                <a:ea typeface="Calibri" pitchFamily="34" charset="-122"/>
                <a:cs typeface="Calibri" pitchFamily="34" charset="-120"/>
              </a:rPr>
              <a:t>explicitly defined or externally scripted</a:t>
            </a:r>
            <a:r>
              <a:rPr lang="en-US" sz="850" dirty="0">
                <a:solidFill>
                  <a:srgbClr val="64748B"/>
                </a:solidFill>
                <a:latin typeface="Calibri" pitchFamily="34" charset="0"/>
                <a:ea typeface="Calibri" pitchFamily="34" charset="-122"/>
                <a:cs typeface="Calibri" pitchFamily="34" charset="-120"/>
              </a:rPr>
              <a:t>. Context management responsibility sits with the operator, not the agent.</a:t>
            </a:r>
            <a:endParaRPr lang="en-US" sz="850" dirty="0"/>
          </a:p>
        </p:txBody>
      </p:sp>
      <p:sp>
        <p:nvSpPr>
          <p:cNvPr id="36" name="Shape 34"/>
          <p:cNvSpPr/>
          <p:nvPr/>
        </p:nvSpPr>
        <p:spPr>
          <a:xfrm>
            <a:off x="5577840" y="2816352"/>
            <a:ext cx="3200400" cy="640080"/>
          </a:xfrm>
          <a:prstGeom prst="rect">
            <a:avLst/>
          </a:prstGeom>
          <a:solidFill>
            <a:srgbClr val="F8FAFF"/>
          </a:solidFill>
          <a:ln w="6350">
            <a:solidFill>
              <a:srgbClr val="CADCFC">
                <a:alpha val="50000"/>
              </a:srgbClr>
            </a:solidFill>
            <a:prstDash val="solid"/>
          </a:ln>
        </p:spPr>
        <p:txBody>
          <a:bodyPr/>
          <a:lstStyle/>
          <a:p>
            <a:endParaRPr lang="en-AU"/>
          </a:p>
        </p:txBody>
      </p:sp>
      <p:sp>
        <p:nvSpPr>
          <p:cNvPr id="37" name="Shape 35"/>
          <p:cNvSpPr/>
          <p:nvPr/>
        </p:nvSpPr>
        <p:spPr>
          <a:xfrm>
            <a:off x="5577840" y="2816352"/>
            <a:ext cx="54864" cy="640080"/>
          </a:xfrm>
          <a:prstGeom prst="rect">
            <a:avLst/>
          </a:prstGeom>
          <a:solidFill>
            <a:srgbClr val="94A3B8"/>
          </a:solidFill>
          <a:ln w="12700">
            <a:solidFill>
              <a:srgbClr val="94A3B8"/>
            </a:solidFill>
            <a:prstDash val="solid"/>
          </a:ln>
        </p:spPr>
        <p:txBody>
          <a:bodyPr/>
          <a:lstStyle/>
          <a:p>
            <a:endParaRPr lang="en-AU"/>
          </a:p>
        </p:txBody>
      </p:sp>
      <p:sp>
        <p:nvSpPr>
          <p:cNvPr id="38" name="Text 36"/>
          <p:cNvSpPr/>
          <p:nvPr/>
        </p:nvSpPr>
        <p:spPr>
          <a:xfrm>
            <a:off x="5687568" y="2852928"/>
            <a:ext cx="3017520" cy="219456"/>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Soul.md Identity Layer</a:t>
            </a:r>
            <a:endParaRPr lang="en-US" sz="950" dirty="0"/>
          </a:p>
        </p:txBody>
      </p:sp>
      <p:sp>
        <p:nvSpPr>
          <p:cNvPr id="39" name="Text 37"/>
          <p:cNvSpPr/>
          <p:nvPr/>
        </p:nvSpPr>
        <p:spPr>
          <a:xfrm>
            <a:off x="5687568" y="3063240"/>
            <a:ext cx="3182112" cy="36576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 </a:t>
            </a:r>
            <a:r>
              <a:rPr lang="en-US" sz="850" b="1" dirty="0">
                <a:solidFill>
                  <a:srgbClr val="64748B"/>
                </a:solidFill>
                <a:latin typeface="Calibri" pitchFamily="34" charset="0"/>
                <a:ea typeface="Calibri" pitchFamily="34" charset="-122"/>
                <a:cs typeface="Calibri" pitchFamily="34" charset="-120"/>
              </a:rPr>
              <a:t>static human-authored file </a:t>
            </a:r>
            <a:r>
              <a:rPr lang="en-US" sz="850" dirty="0">
                <a:solidFill>
                  <a:srgbClr val="64748B"/>
                </a:solidFill>
                <a:latin typeface="Calibri" pitchFamily="34" charset="0"/>
                <a:ea typeface="Calibri" pitchFamily="34" charset="-122"/>
                <a:cs typeface="Calibri" pitchFamily="34" charset="-120"/>
              </a:rPr>
              <a:t>defining the agent's personality, communication style, operational constraints, and tool preferences so that they are </a:t>
            </a:r>
            <a:r>
              <a:rPr lang="en-US" sz="850" b="1" dirty="0">
                <a:solidFill>
                  <a:srgbClr val="64748B"/>
                </a:solidFill>
                <a:latin typeface="Calibri" pitchFamily="34" charset="0"/>
                <a:ea typeface="Calibri" pitchFamily="34" charset="-122"/>
                <a:cs typeface="Calibri" pitchFamily="34" charset="-120"/>
              </a:rPr>
              <a:t>consistent</a:t>
            </a:r>
            <a:r>
              <a:rPr lang="en-US" sz="850" dirty="0">
                <a:solidFill>
                  <a:srgbClr val="64748B"/>
                </a:solidFill>
                <a:latin typeface="Calibri" pitchFamily="34" charset="0"/>
                <a:ea typeface="Calibri" pitchFamily="34" charset="-122"/>
                <a:cs typeface="Calibri" pitchFamily="34" charset="-120"/>
              </a:rPr>
              <a:t> across sessions unless manually edited.</a:t>
            </a:r>
            <a:endParaRPr lang="en-US" sz="850" dirty="0"/>
          </a:p>
        </p:txBody>
      </p:sp>
      <p:sp>
        <p:nvSpPr>
          <p:cNvPr id="40" name="Shape 38"/>
          <p:cNvSpPr/>
          <p:nvPr/>
        </p:nvSpPr>
        <p:spPr>
          <a:xfrm>
            <a:off x="5577840" y="3511296"/>
            <a:ext cx="3200400" cy="640080"/>
          </a:xfrm>
          <a:prstGeom prst="rect">
            <a:avLst/>
          </a:prstGeom>
          <a:solidFill>
            <a:srgbClr val="FFFFFF"/>
          </a:solidFill>
          <a:ln w="6350">
            <a:solidFill>
              <a:srgbClr val="CADCFC">
                <a:alpha val="50000"/>
              </a:srgbClr>
            </a:solidFill>
            <a:prstDash val="solid"/>
          </a:ln>
        </p:spPr>
        <p:txBody>
          <a:bodyPr/>
          <a:lstStyle/>
          <a:p>
            <a:endParaRPr lang="en-AU"/>
          </a:p>
        </p:txBody>
      </p:sp>
      <p:sp>
        <p:nvSpPr>
          <p:cNvPr id="41" name="Shape 39"/>
          <p:cNvSpPr/>
          <p:nvPr/>
        </p:nvSpPr>
        <p:spPr>
          <a:xfrm>
            <a:off x="5577840" y="3511296"/>
            <a:ext cx="54864" cy="640080"/>
          </a:xfrm>
          <a:prstGeom prst="rect">
            <a:avLst/>
          </a:prstGeom>
          <a:solidFill>
            <a:srgbClr val="94A3B8"/>
          </a:solidFill>
          <a:ln w="12700">
            <a:solidFill>
              <a:srgbClr val="94A3B8"/>
            </a:solidFill>
            <a:prstDash val="solid"/>
          </a:ln>
        </p:spPr>
        <p:txBody>
          <a:bodyPr/>
          <a:lstStyle/>
          <a:p>
            <a:endParaRPr lang="en-AU"/>
          </a:p>
        </p:txBody>
      </p:sp>
      <p:sp>
        <p:nvSpPr>
          <p:cNvPr id="42" name="Text 40"/>
          <p:cNvSpPr/>
          <p:nvPr/>
        </p:nvSpPr>
        <p:spPr>
          <a:xfrm>
            <a:off x="5687568" y="3547872"/>
            <a:ext cx="3017520" cy="219456"/>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ClawHub Skills</a:t>
            </a:r>
            <a:endParaRPr lang="en-US" sz="950" dirty="0"/>
          </a:p>
        </p:txBody>
      </p:sp>
      <p:sp>
        <p:nvSpPr>
          <p:cNvPr id="43" name="Text 41"/>
          <p:cNvSpPr/>
          <p:nvPr/>
        </p:nvSpPr>
        <p:spPr>
          <a:xfrm>
            <a:off x="5687568" y="3758184"/>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Community-contributed </a:t>
            </a:r>
            <a:r>
              <a:rPr lang="en-US" sz="850" dirty="0">
                <a:solidFill>
                  <a:srgbClr val="64748B"/>
                </a:solidFill>
                <a:latin typeface="Calibri" pitchFamily="34" charset="0"/>
                <a:ea typeface="Calibri" pitchFamily="34" charset="-122"/>
                <a:cs typeface="Calibri" pitchFamily="34" charset="-120"/>
              </a:rPr>
              <a:t>SKILL.md modules distributed via marketplace, with composable plugin architecture but external dependency on contributor integrity.</a:t>
            </a:r>
            <a:endParaRPr lang="en-US" sz="850" dirty="0"/>
          </a:p>
        </p:txBody>
      </p:sp>
      <p:sp>
        <p:nvSpPr>
          <p:cNvPr id="44" name="Shape 42"/>
          <p:cNvSpPr/>
          <p:nvPr/>
        </p:nvSpPr>
        <p:spPr>
          <a:xfrm>
            <a:off x="5577840" y="4206240"/>
            <a:ext cx="3200400" cy="640080"/>
          </a:xfrm>
          <a:prstGeom prst="rect">
            <a:avLst/>
          </a:prstGeom>
          <a:solidFill>
            <a:srgbClr val="F8FAFF"/>
          </a:solidFill>
          <a:ln w="6350">
            <a:solidFill>
              <a:srgbClr val="CADCFC">
                <a:alpha val="50000"/>
              </a:srgbClr>
            </a:solidFill>
            <a:prstDash val="solid"/>
          </a:ln>
        </p:spPr>
        <p:txBody>
          <a:bodyPr/>
          <a:lstStyle/>
          <a:p>
            <a:endParaRPr lang="en-AU"/>
          </a:p>
        </p:txBody>
      </p:sp>
      <p:sp>
        <p:nvSpPr>
          <p:cNvPr id="45" name="Shape 43"/>
          <p:cNvSpPr/>
          <p:nvPr/>
        </p:nvSpPr>
        <p:spPr>
          <a:xfrm>
            <a:off x="5577840" y="4206240"/>
            <a:ext cx="54864" cy="640080"/>
          </a:xfrm>
          <a:prstGeom prst="rect">
            <a:avLst/>
          </a:prstGeom>
          <a:solidFill>
            <a:srgbClr val="94A3B8"/>
          </a:solidFill>
          <a:ln w="12700">
            <a:solidFill>
              <a:srgbClr val="94A3B8"/>
            </a:solidFill>
            <a:prstDash val="solid"/>
          </a:ln>
        </p:spPr>
        <p:txBody>
          <a:bodyPr/>
          <a:lstStyle/>
          <a:p>
            <a:endParaRPr lang="en-AU"/>
          </a:p>
        </p:txBody>
      </p:sp>
      <p:sp>
        <p:nvSpPr>
          <p:cNvPr id="46" name="Text 44"/>
          <p:cNvSpPr/>
          <p:nvPr/>
        </p:nvSpPr>
        <p:spPr>
          <a:xfrm>
            <a:off x="5687568" y="4242816"/>
            <a:ext cx="3017520" cy="219456"/>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Implication for DSO</a:t>
            </a:r>
            <a:endParaRPr lang="en-US" sz="950" dirty="0"/>
          </a:p>
        </p:txBody>
      </p:sp>
      <p:sp>
        <p:nvSpPr>
          <p:cNvPr id="47" name="Text 45"/>
          <p:cNvSpPr/>
          <p:nvPr/>
        </p:nvSpPr>
        <p:spPr>
          <a:xfrm>
            <a:off x="5687568" y="4453128"/>
            <a:ext cx="3200400" cy="36576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Long-running analytical workflows require dataset schemas, preprocessing decisions, and model configs to be </a:t>
            </a:r>
            <a:r>
              <a:rPr lang="en-US" sz="850" b="1" dirty="0">
                <a:solidFill>
                  <a:srgbClr val="64748B"/>
                </a:solidFill>
                <a:latin typeface="Calibri" pitchFamily="34" charset="0"/>
                <a:ea typeface="Calibri" pitchFamily="34" charset="-122"/>
                <a:cs typeface="Calibri" pitchFamily="34" charset="-120"/>
              </a:rPr>
              <a:t>manually encoded </a:t>
            </a:r>
            <a:r>
              <a:rPr lang="en-US" sz="850" dirty="0">
                <a:solidFill>
                  <a:srgbClr val="64748B"/>
                </a:solidFill>
                <a:latin typeface="Calibri" pitchFamily="34" charset="0"/>
                <a:ea typeface="Calibri" pitchFamily="34" charset="-122"/>
                <a:cs typeface="Calibri" pitchFamily="34" charset="-120"/>
              </a:rPr>
              <a:t>into files, introducing </a:t>
            </a:r>
            <a:r>
              <a:rPr lang="en-US" sz="850" b="1" dirty="0">
                <a:solidFill>
                  <a:srgbClr val="64748B"/>
                </a:solidFill>
                <a:latin typeface="Calibri" pitchFamily="34" charset="0"/>
                <a:ea typeface="Calibri" pitchFamily="34" charset="-122"/>
                <a:cs typeface="Calibri" pitchFamily="34" charset="-120"/>
              </a:rPr>
              <a:t>overhead</a:t>
            </a:r>
            <a:r>
              <a:rPr lang="en-US" sz="850" dirty="0">
                <a:solidFill>
                  <a:srgbClr val="64748B"/>
                </a:solidFill>
                <a:latin typeface="Calibri" pitchFamily="34" charset="0"/>
                <a:ea typeface="Calibri" pitchFamily="34" charset="-122"/>
                <a:cs typeface="Calibri" pitchFamily="34" charset="-120"/>
              </a:rPr>
              <a:t> in iterative experimentation.</a:t>
            </a:r>
            <a:endParaRPr lang="en-US" sz="850" dirty="0"/>
          </a:p>
        </p:txBody>
      </p:sp>
      <p:sp>
        <p:nvSpPr>
          <p:cNvPr id="48" name="Shape 46"/>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49" name="Text 47"/>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4.5  Skill System</a:t>
            </a:r>
            <a:endParaRPr lang="en-US" sz="26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How reusable procedures are created, distributed, and governed on each platform</a:t>
            </a:r>
            <a:endParaRPr lang="en-US" sz="1200" dirty="0"/>
          </a:p>
        </p:txBody>
      </p:sp>
      <p:sp>
        <p:nvSpPr>
          <p:cNvPr id="5" name="Shape 3"/>
          <p:cNvSpPr/>
          <p:nvPr/>
        </p:nvSpPr>
        <p:spPr>
          <a:xfrm>
            <a:off x="365760" y="1005840"/>
            <a:ext cx="4114800" cy="347472"/>
          </a:xfrm>
          <a:prstGeom prst="rect">
            <a:avLst/>
          </a:prstGeom>
          <a:solidFill>
            <a:schemeClr val="accent1">
              <a:lumMod val="75000"/>
            </a:schemeClr>
          </a:solidFill>
          <a:ln w="12700">
            <a:solidFill>
              <a:schemeClr val="accent1">
                <a:lumMod val="75000"/>
              </a:schemeClr>
            </a:solidFill>
            <a:prstDash val="solid"/>
          </a:ln>
        </p:spPr>
        <p:txBody>
          <a:bodyPr/>
          <a:lstStyle/>
          <a:p>
            <a:endParaRPr lang="en-AU"/>
          </a:p>
        </p:txBody>
      </p:sp>
      <p:sp>
        <p:nvSpPr>
          <p:cNvPr id="6" name="Text 4"/>
          <p:cNvSpPr/>
          <p:nvPr/>
        </p:nvSpPr>
        <p:spPr>
          <a:xfrm>
            <a:off x="457200" y="1005840"/>
            <a:ext cx="3931920" cy="347472"/>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Hermes: Automated Skill Generation Loop</a:t>
            </a:r>
            <a:endParaRPr lang="en-US" sz="1200" dirty="0"/>
          </a:p>
        </p:txBody>
      </p:sp>
      <p:sp>
        <p:nvSpPr>
          <p:cNvPr id="7" name="Shape 5"/>
          <p:cNvSpPr/>
          <p:nvPr/>
        </p:nvSpPr>
        <p:spPr>
          <a:xfrm>
            <a:off x="365760" y="1426464"/>
            <a:ext cx="4114800" cy="603504"/>
          </a:xfrm>
          <a:prstGeom prst="rect">
            <a:avLst/>
          </a:prstGeom>
          <a:solidFill>
            <a:srgbClr val="F8FAFF"/>
          </a:solidFill>
          <a:ln w="6350">
            <a:solidFill>
              <a:srgbClr val="CADCFC">
                <a:alpha val="50000"/>
              </a:srgbClr>
            </a:solidFill>
            <a:prstDash val="solid"/>
          </a:ln>
        </p:spPr>
        <p:txBody>
          <a:bodyPr/>
          <a:lstStyle/>
          <a:p>
            <a:endParaRPr lang="en-AU"/>
          </a:p>
        </p:txBody>
      </p:sp>
      <p:sp>
        <p:nvSpPr>
          <p:cNvPr id="8" name="Shape 6"/>
          <p:cNvSpPr/>
          <p:nvPr/>
        </p:nvSpPr>
        <p:spPr>
          <a:xfrm>
            <a:off x="365760" y="1426464"/>
            <a:ext cx="274320" cy="603504"/>
          </a:xfrm>
          <a:prstGeom prst="rect">
            <a:avLst/>
          </a:prstGeom>
          <a:solidFill>
            <a:schemeClr val="accent1">
              <a:lumMod val="60000"/>
              <a:lumOff val="40000"/>
            </a:schemeClr>
          </a:solidFill>
          <a:ln w="12700">
            <a:solidFill>
              <a:srgbClr val="4F9CF9">
                <a:alpha val="30000"/>
              </a:srgbClr>
            </a:solidFill>
            <a:prstDash val="solid"/>
          </a:ln>
        </p:spPr>
        <p:txBody>
          <a:bodyPr/>
          <a:lstStyle/>
          <a:p>
            <a:endParaRPr lang="en-AU"/>
          </a:p>
        </p:txBody>
      </p:sp>
      <p:sp>
        <p:nvSpPr>
          <p:cNvPr id="9" name="Text 7"/>
          <p:cNvSpPr/>
          <p:nvPr/>
        </p:nvSpPr>
        <p:spPr>
          <a:xfrm>
            <a:off x="365760" y="1426464"/>
            <a:ext cx="274320" cy="603504"/>
          </a:xfrm>
          <a:prstGeom prst="rect">
            <a:avLst/>
          </a:prstGeom>
          <a:solidFill>
            <a:schemeClr val="accent1">
              <a:lumMod val="60000"/>
              <a:lumOff val="40000"/>
            </a:schemeClr>
          </a:solid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1</a:t>
            </a:r>
            <a:endParaRPr lang="en-US" sz="1100" dirty="0"/>
          </a:p>
        </p:txBody>
      </p:sp>
      <p:sp>
        <p:nvSpPr>
          <p:cNvPr id="10" name="Text 8"/>
          <p:cNvSpPr/>
          <p:nvPr/>
        </p:nvSpPr>
        <p:spPr>
          <a:xfrm>
            <a:off x="713232" y="1463040"/>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Task Completion</a:t>
            </a:r>
            <a:endParaRPr lang="en-US" sz="1000" dirty="0"/>
          </a:p>
        </p:txBody>
      </p:sp>
      <p:sp>
        <p:nvSpPr>
          <p:cNvPr id="11" name="Text 9"/>
          <p:cNvSpPr/>
          <p:nvPr/>
        </p:nvSpPr>
        <p:spPr>
          <a:xfrm>
            <a:off x="713232" y="1682496"/>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Agent </a:t>
            </a:r>
            <a:r>
              <a:rPr lang="en-US" sz="850" b="1" dirty="0">
                <a:solidFill>
                  <a:srgbClr val="64748B"/>
                </a:solidFill>
                <a:latin typeface="Calibri" pitchFamily="34" charset="0"/>
                <a:ea typeface="Calibri" pitchFamily="34" charset="-122"/>
                <a:cs typeface="Calibri" pitchFamily="34" charset="-120"/>
              </a:rPr>
              <a:t>evaluates</a:t>
            </a:r>
            <a:r>
              <a:rPr lang="en-US" sz="850" dirty="0">
                <a:solidFill>
                  <a:srgbClr val="64748B"/>
                </a:solidFill>
                <a:latin typeface="Calibri" pitchFamily="34" charset="0"/>
                <a:ea typeface="Calibri" pitchFamily="34" charset="-122"/>
                <a:cs typeface="Calibri" pitchFamily="34" charset="-120"/>
              </a:rPr>
              <a:t> whether a completed multi-step execution represents a generalisable workflow pattern worth abstracting.</a:t>
            </a:r>
            <a:endParaRPr lang="en-US" sz="850" dirty="0"/>
          </a:p>
        </p:txBody>
      </p:sp>
      <p:sp>
        <p:nvSpPr>
          <p:cNvPr id="12" name="Shape 10"/>
          <p:cNvSpPr/>
          <p:nvPr/>
        </p:nvSpPr>
        <p:spPr>
          <a:xfrm>
            <a:off x="365760" y="2075688"/>
            <a:ext cx="4114800" cy="603504"/>
          </a:xfrm>
          <a:prstGeom prst="rect">
            <a:avLst/>
          </a:prstGeom>
          <a:solidFill>
            <a:srgbClr val="FFFFFF"/>
          </a:solidFill>
          <a:ln w="6350">
            <a:solidFill>
              <a:srgbClr val="CADCFC">
                <a:alpha val="50000"/>
              </a:srgbClr>
            </a:solidFill>
            <a:prstDash val="solid"/>
          </a:ln>
        </p:spPr>
        <p:txBody>
          <a:bodyPr/>
          <a:lstStyle/>
          <a:p>
            <a:endParaRPr lang="en-AU"/>
          </a:p>
        </p:txBody>
      </p:sp>
      <p:sp>
        <p:nvSpPr>
          <p:cNvPr id="13" name="Shape 11"/>
          <p:cNvSpPr/>
          <p:nvPr/>
        </p:nvSpPr>
        <p:spPr>
          <a:xfrm>
            <a:off x="365760" y="2075688"/>
            <a:ext cx="274320" cy="603504"/>
          </a:xfrm>
          <a:prstGeom prst="rect">
            <a:avLst/>
          </a:prstGeom>
          <a:solidFill>
            <a:schemeClr val="accent1">
              <a:lumMod val="60000"/>
              <a:lumOff val="40000"/>
            </a:schemeClr>
          </a:solidFill>
          <a:ln w="12700">
            <a:solidFill>
              <a:srgbClr val="4F9CF9">
                <a:alpha val="30000"/>
              </a:srgbClr>
            </a:solidFill>
            <a:prstDash val="solid"/>
          </a:ln>
        </p:spPr>
        <p:txBody>
          <a:bodyPr/>
          <a:lstStyle/>
          <a:p>
            <a:endParaRPr lang="en-AU"/>
          </a:p>
        </p:txBody>
      </p:sp>
      <p:sp>
        <p:nvSpPr>
          <p:cNvPr id="14" name="Text 12"/>
          <p:cNvSpPr/>
          <p:nvPr/>
        </p:nvSpPr>
        <p:spPr>
          <a:xfrm>
            <a:off x="365760" y="2075688"/>
            <a:ext cx="274320" cy="603504"/>
          </a:xfrm>
          <a:prstGeom prst="rect">
            <a:avLst/>
          </a:prstGeom>
          <a:solidFill>
            <a:schemeClr val="accent1">
              <a:lumMod val="60000"/>
              <a:lumOff val="40000"/>
            </a:schemeClr>
          </a:solid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2</a:t>
            </a:r>
            <a:endParaRPr lang="en-US" sz="1100" dirty="0"/>
          </a:p>
        </p:txBody>
      </p:sp>
      <p:sp>
        <p:nvSpPr>
          <p:cNvPr id="15" name="Text 13"/>
          <p:cNvSpPr/>
          <p:nvPr/>
        </p:nvSpPr>
        <p:spPr>
          <a:xfrm>
            <a:off x="713232" y="2112264"/>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Skill Extraction</a:t>
            </a:r>
            <a:endParaRPr lang="en-US" sz="1000" dirty="0"/>
          </a:p>
        </p:txBody>
      </p:sp>
      <p:sp>
        <p:nvSpPr>
          <p:cNvPr id="16" name="Text 14"/>
          <p:cNvSpPr/>
          <p:nvPr/>
        </p:nvSpPr>
        <p:spPr>
          <a:xfrm>
            <a:off x="713232" y="2331720"/>
            <a:ext cx="3703320" cy="310896"/>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Full execution trace </a:t>
            </a:r>
            <a:r>
              <a:rPr lang="en-US" sz="850" dirty="0">
                <a:solidFill>
                  <a:srgbClr val="64748B"/>
                </a:solidFill>
                <a:latin typeface="Calibri" pitchFamily="34" charset="0"/>
                <a:ea typeface="Calibri" pitchFamily="34" charset="-122"/>
                <a:cs typeface="Calibri" pitchFamily="34" charset="-120"/>
              </a:rPr>
              <a:t>from reasoning steps, tool invocations to decisions are distilled into a structured Markdown skill definition encoding what, when, and how.</a:t>
            </a:r>
            <a:endParaRPr lang="en-US" sz="850" dirty="0"/>
          </a:p>
        </p:txBody>
      </p:sp>
      <p:sp>
        <p:nvSpPr>
          <p:cNvPr id="17" name="Shape 15"/>
          <p:cNvSpPr/>
          <p:nvPr/>
        </p:nvSpPr>
        <p:spPr>
          <a:xfrm>
            <a:off x="365760" y="2724912"/>
            <a:ext cx="4114800" cy="603504"/>
          </a:xfrm>
          <a:prstGeom prst="rect">
            <a:avLst/>
          </a:prstGeom>
          <a:solidFill>
            <a:srgbClr val="F8FAFF"/>
          </a:solidFill>
          <a:ln w="6350">
            <a:solidFill>
              <a:srgbClr val="CADCFC">
                <a:alpha val="50000"/>
              </a:srgbClr>
            </a:solidFill>
            <a:prstDash val="solid"/>
          </a:ln>
        </p:spPr>
        <p:txBody>
          <a:bodyPr/>
          <a:lstStyle/>
          <a:p>
            <a:endParaRPr lang="en-AU"/>
          </a:p>
        </p:txBody>
      </p:sp>
      <p:sp>
        <p:nvSpPr>
          <p:cNvPr id="18" name="Shape 16"/>
          <p:cNvSpPr/>
          <p:nvPr/>
        </p:nvSpPr>
        <p:spPr>
          <a:xfrm>
            <a:off x="365760" y="2724912"/>
            <a:ext cx="274320" cy="603504"/>
          </a:xfrm>
          <a:prstGeom prst="rect">
            <a:avLst/>
          </a:prstGeom>
          <a:solidFill>
            <a:schemeClr val="accent1">
              <a:lumMod val="60000"/>
              <a:lumOff val="40000"/>
            </a:schemeClr>
          </a:solidFill>
          <a:ln w="12700">
            <a:solidFill>
              <a:srgbClr val="4F9CF9">
                <a:alpha val="30000"/>
              </a:srgbClr>
            </a:solidFill>
            <a:prstDash val="solid"/>
          </a:ln>
        </p:spPr>
        <p:txBody>
          <a:bodyPr/>
          <a:lstStyle/>
          <a:p>
            <a:endParaRPr lang="en-AU"/>
          </a:p>
        </p:txBody>
      </p:sp>
      <p:sp>
        <p:nvSpPr>
          <p:cNvPr id="19" name="Text 17"/>
          <p:cNvSpPr/>
          <p:nvPr/>
        </p:nvSpPr>
        <p:spPr>
          <a:xfrm>
            <a:off x="365760" y="2724912"/>
            <a:ext cx="274320" cy="603504"/>
          </a:xfrm>
          <a:prstGeom prst="rect">
            <a:avLst/>
          </a:prstGeom>
          <a:solidFill>
            <a:schemeClr val="accent1">
              <a:lumMod val="60000"/>
              <a:lumOff val="40000"/>
            </a:schemeClr>
          </a:solid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3</a:t>
            </a:r>
            <a:endParaRPr lang="en-US" sz="1100" dirty="0"/>
          </a:p>
        </p:txBody>
      </p:sp>
      <p:sp>
        <p:nvSpPr>
          <p:cNvPr id="20" name="Text 18"/>
          <p:cNvSpPr/>
          <p:nvPr/>
        </p:nvSpPr>
        <p:spPr>
          <a:xfrm>
            <a:off x="713232" y="2761488"/>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Registration &amp; Retrieval</a:t>
            </a:r>
            <a:endParaRPr lang="en-US" sz="1000" dirty="0"/>
          </a:p>
        </p:txBody>
      </p:sp>
      <p:sp>
        <p:nvSpPr>
          <p:cNvPr id="21" name="Text 19"/>
          <p:cNvSpPr/>
          <p:nvPr/>
        </p:nvSpPr>
        <p:spPr>
          <a:xfrm>
            <a:off x="713232" y="2980944"/>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Skills stored and FTS5-indexed locally. On future tasks, relevant skills are </a:t>
            </a:r>
            <a:r>
              <a:rPr lang="en-US" sz="850" b="1" dirty="0">
                <a:solidFill>
                  <a:srgbClr val="64748B"/>
                </a:solidFill>
                <a:latin typeface="Calibri" pitchFamily="34" charset="0"/>
                <a:ea typeface="Calibri" pitchFamily="34" charset="-122"/>
                <a:cs typeface="Calibri" pitchFamily="34" charset="-120"/>
              </a:rPr>
              <a:t>automatically surfaced and applied </a:t>
            </a:r>
            <a:r>
              <a:rPr lang="en-US" sz="850" dirty="0">
                <a:solidFill>
                  <a:srgbClr val="64748B"/>
                </a:solidFill>
                <a:latin typeface="Calibri" pitchFamily="34" charset="0"/>
                <a:ea typeface="Calibri" pitchFamily="34" charset="-122"/>
                <a:cs typeface="Calibri" pitchFamily="34" charset="-120"/>
              </a:rPr>
              <a:t>to guide execution.</a:t>
            </a:r>
            <a:endParaRPr lang="en-US" sz="850" dirty="0"/>
          </a:p>
        </p:txBody>
      </p:sp>
      <p:sp>
        <p:nvSpPr>
          <p:cNvPr id="22" name="Shape 20"/>
          <p:cNvSpPr/>
          <p:nvPr/>
        </p:nvSpPr>
        <p:spPr>
          <a:xfrm>
            <a:off x="365760" y="3374136"/>
            <a:ext cx="4114800" cy="603504"/>
          </a:xfrm>
          <a:prstGeom prst="rect">
            <a:avLst/>
          </a:prstGeom>
          <a:solidFill>
            <a:srgbClr val="FFFFFF"/>
          </a:solidFill>
          <a:ln w="6350">
            <a:solidFill>
              <a:srgbClr val="CADCFC">
                <a:alpha val="50000"/>
              </a:srgbClr>
            </a:solidFill>
            <a:prstDash val="solid"/>
          </a:ln>
        </p:spPr>
        <p:txBody>
          <a:bodyPr/>
          <a:lstStyle/>
          <a:p>
            <a:endParaRPr lang="en-AU"/>
          </a:p>
        </p:txBody>
      </p:sp>
      <p:sp>
        <p:nvSpPr>
          <p:cNvPr id="23" name="Shape 21"/>
          <p:cNvSpPr/>
          <p:nvPr/>
        </p:nvSpPr>
        <p:spPr>
          <a:xfrm>
            <a:off x="365760" y="3374136"/>
            <a:ext cx="274320" cy="603504"/>
          </a:xfrm>
          <a:prstGeom prst="rect">
            <a:avLst/>
          </a:prstGeom>
          <a:solidFill>
            <a:schemeClr val="accent1">
              <a:lumMod val="60000"/>
              <a:lumOff val="40000"/>
            </a:schemeClr>
          </a:solidFill>
          <a:ln w="12700">
            <a:solidFill>
              <a:srgbClr val="4F9CF9">
                <a:alpha val="30000"/>
              </a:srgbClr>
            </a:solidFill>
            <a:prstDash val="solid"/>
          </a:ln>
        </p:spPr>
        <p:txBody>
          <a:bodyPr/>
          <a:lstStyle/>
          <a:p>
            <a:endParaRPr lang="en-AU"/>
          </a:p>
        </p:txBody>
      </p:sp>
      <p:sp>
        <p:nvSpPr>
          <p:cNvPr id="24" name="Text 22"/>
          <p:cNvSpPr/>
          <p:nvPr/>
        </p:nvSpPr>
        <p:spPr>
          <a:xfrm>
            <a:off x="365760" y="3374136"/>
            <a:ext cx="274320" cy="603504"/>
          </a:xfrm>
          <a:prstGeom prst="rect">
            <a:avLst/>
          </a:prstGeom>
          <a:solidFill>
            <a:schemeClr val="accent1">
              <a:lumMod val="60000"/>
              <a:lumOff val="40000"/>
            </a:schemeClr>
          </a:solid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4</a:t>
            </a:r>
            <a:endParaRPr lang="en-US" sz="1100" dirty="0"/>
          </a:p>
        </p:txBody>
      </p:sp>
      <p:sp>
        <p:nvSpPr>
          <p:cNvPr id="25" name="Text 23"/>
          <p:cNvSpPr/>
          <p:nvPr/>
        </p:nvSpPr>
        <p:spPr>
          <a:xfrm>
            <a:off x="713232" y="3410712"/>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Refinement Loop</a:t>
            </a:r>
            <a:endParaRPr lang="en-US" sz="1000" dirty="0"/>
          </a:p>
        </p:txBody>
      </p:sp>
      <p:sp>
        <p:nvSpPr>
          <p:cNvPr id="26" name="Text 24"/>
          <p:cNvSpPr/>
          <p:nvPr/>
        </p:nvSpPr>
        <p:spPr>
          <a:xfrm>
            <a:off x="713232" y="3630168"/>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Skills are </a:t>
            </a:r>
            <a:r>
              <a:rPr lang="en-US" sz="850" b="1" dirty="0">
                <a:solidFill>
                  <a:srgbClr val="64748B"/>
                </a:solidFill>
                <a:latin typeface="Calibri" pitchFamily="34" charset="0"/>
                <a:ea typeface="Calibri" pitchFamily="34" charset="-122"/>
                <a:cs typeface="Calibri" pitchFamily="34" charset="-120"/>
              </a:rPr>
              <a:t>updated</a:t>
            </a:r>
            <a:r>
              <a:rPr lang="en-US" sz="850" dirty="0">
                <a:solidFill>
                  <a:srgbClr val="64748B"/>
                </a:solidFill>
                <a:latin typeface="Calibri" pitchFamily="34" charset="0"/>
                <a:ea typeface="Calibri" pitchFamily="34" charset="-122"/>
                <a:cs typeface="Calibri" pitchFamily="34" charset="-120"/>
              </a:rPr>
              <a:t> on subsequent executions, creating an </a:t>
            </a:r>
            <a:r>
              <a:rPr lang="en-US" sz="850" b="1" dirty="0">
                <a:solidFill>
                  <a:srgbClr val="64748B"/>
                </a:solidFill>
                <a:latin typeface="Calibri" pitchFamily="34" charset="0"/>
                <a:ea typeface="Calibri" pitchFamily="34" charset="-122"/>
                <a:cs typeface="Calibri" pitchFamily="34" charset="-120"/>
              </a:rPr>
              <a:t>iterative improvement cycle</a:t>
            </a:r>
            <a:r>
              <a:rPr lang="en-US" sz="850" dirty="0">
                <a:solidFill>
                  <a:srgbClr val="64748B"/>
                </a:solidFill>
                <a:latin typeface="Calibri" pitchFamily="34" charset="0"/>
                <a:ea typeface="Calibri" pitchFamily="34" charset="-122"/>
                <a:cs typeface="Calibri" pitchFamily="34" charset="-120"/>
              </a:rPr>
              <a:t> that reduces execution variance over time.</a:t>
            </a:r>
            <a:endParaRPr lang="en-US" sz="850" dirty="0"/>
          </a:p>
        </p:txBody>
      </p:sp>
      <p:sp>
        <p:nvSpPr>
          <p:cNvPr id="27" name="Shape 25"/>
          <p:cNvSpPr/>
          <p:nvPr/>
        </p:nvSpPr>
        <p:spPr>
          <a:xfrm>
            <a:off x="365760" y="4023360"/>
            <a:ext cx="4114800" cy="603504"/>
          </a:xfrm>
          <a:prstGeom prst="rect">
            <a:avLst/>
          </a:prstGeom>
          <a:solidFill>
            <a:srgbClr val="F8FAFF"/>
          </a:solidFill>
          <a:ln w="6350">
            <a:solidFill>
              <a:srgbClr val="CADCFC">
                <a:alpha val="50000"/>
              </a:srgbClr>
            </a:solidFill>
            <a:prstDash val="solid"/>
          </a:ln>
        </p:spPr>
        <p:txBody>
          <a:bodyPr/>
          <a:lstStyle/>
          <a:p>
            <a:endParaRPr lang="en-AU"/>
          </a:p>
        </p:txBody>
      </p:sp>
      <p:sp>
        <p:nvSpPr>
          <p:cNvPr id="28" name="Shape 26"/>
          <p:cNvSpPr/>
          <p:nvPr/>
        </p:nvSpPr>
        <p:spPr>
          <a:xfrm>
            <a:off x="365760" y="4023360"/>
            <a:ext cx="274320" cy="603504"/>
          </a:xfrm>
          <a:prstGeom prst="rect">
            <a:avLst/>
          </a:prstGeom>
          <a:solidFill>
            <a:schemeClr val="accent1">
              <a:lumMod val="60000"/>
              <a:lumOff val="40000"/>
            </a:schemeClr>
          </a:solidFill>
          <a:ln w="12700">
            <a:solidFill>
              <a:srgbClr val="4F9CF9">
                <a:alpha val="30000"/>
              </a:srgbClr>
            </a:solidFill>
            <a:prstDash val="solid"/>
          </a:ln>
        </p:spPr>
        <p:txBody>
          <a:bodyPr/>
          <a:lstStyle/>
          <a:p>
            <a:endParaRPr lang="en-AU"/>
          </a:p>
        </p:txBody>
      </p:sp>
      <p:sp>
        <p:nvSpPr>
          <p:cNvPr id="29" name="Text 27"/>
          <p:cNvSpPr/>
          <p:nvPr/>
        </p:nvSpPr>
        <p:spPr>
          <a:xfrm>
            <a:off x="365760" y="4023360"/>
            <a:ext cx="274320" cy="603504"/>
          </a:xfrm>
          <a:prstGeom prst="rect">
            <a:avLst/>
          </a:prstGeom>
          <a:solidFill>
            <a:schemeClr val="accent1">
              <a:lumMod val="60000"/>
              <a:lumOff val="40000"/>
            </a:schemeClr>
          </a:solidFill>
          <a:ln/>
        </p:spPr>
        <p:txBody>
          <a:bodyPr wrap="square" lIns="0" tIns="0" rIns="0" bIns="0" rtlCol="0" anchor="ctr"/>
          <a:lstStyle/>
          <a:p>
            <a:pPr marL="0" indent="0" algn="ctr">
              <a:buNone/>
            </a:pPr>
            <a:r>
              <a:rPr lang="en-US" sz="1100" b="1" dirty="0">
                <a:solidFill>
                  <a:srgbClr val="1E2761"/>
                </a:solidFill>
                <a:latin typeface="Georgia" pitchFamily="34" charset="0"/>
                <a:ea typeface="Georgia" pitchFamily="34" charset="-122"/>
                <a:cs typeface="Georgia" pitchFamily="34" charset="-120"/>
              </a:rPr>
              <a:t>5</a:t>
            </a:r>
            <a:endParaRPr lang="en-US" sz="1100" dirty="0"/>
          </a:p>
        </p:txBody>
      </p:sp>
      <p:sp>
        <p:nvSpPr>
          <p:cNvPr id="30" name="Text 28"/>
          <p:cNvSpPr/>
          <p:nvPr/>
        </p:nvSpPr>
        <p:spPr>
          <a:xfrm>
            <a:off x="713232" y="4059936"/>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Governance (HermesHub)</a:t>
            </a:r>
            <a:endParaRPr lang="en-US" sz="1000" dirty="0"/>
          </a:p>
        </p:txBody>
      </p:sp>
      <p:sp>
        <p:nvSpPr>
          <p:cNvPr id="31" name="Text 29"/>
          <p:cNvSpPr/>
          <p:nvPr/>
        </p:nvSpPr>
        <p:spPr>
          <a:xfrm>
            <a:off x="713232" y="4279392"/>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External distribution via agentskills.io. HermesHub performs </a:t>
            </a:r>
            <a:r>
              <a:rPr lang="en-US" sz="850" b="1" dirty="0">
                <a:solidFill>
                  <a:srgbClr val="64748B"/>
                </a:solidFill>
                <a:latin typeface="Calibri" pitchFamily="34" charset="0"/>
                <a:ea typeface="Calibri" pitchFamily="34" charset="-122"/>
                <a:cs typeface="Calibri" pitchFamily="34" charset="-120"/>
              </a:rPr>
              <a:t>automated security vetting </a:t>
            </a:r>
            <a:r>
              <a:rPr lang="en-US" sz="850" dirty="0">
                <a:solidFill>
                  <a:srgbClr val="64748B"/>
                </a:solidFill>
                <a:latin typeface="Calibri" pitchFamily="34" charset="0"/>
                <a:ea typeface="Calibri" pitchFamily="34" charset="-122"/>
                <a:cs typeface="Calibri" pitchFamily="34" charset="-120"/>
              </a:rPr>
              <a:t>and </a:t>
            </a:r>
            <a:r>
              <a:rPr lang="en-US" sz="850" b="1" dirty="0">
                <a:solidFill>
                  <a:srgbClr val="64748B"/>
                </a:solidFill>
                <a:latin typeface="Calibri" pitchFamily="34" charset="0"/>
                <a:ea typeface="Calibri" pitchFamily="34" charset="-122"/>
                <a:cs typeface="Calibri" pitchFamily="34" charset="-120"/>
              </a:rPr>
              <a:t>content scanning </a:t>
            </a:r>
            <a:r>
              <a:rPr lang="en-US" sz="850" dirty="0">
                <a:solidFill>
                  <a:srgbClr val="64748B"/>
                </a:solidFill>
                <a:latin typeface="Calibri" pitchFamily="34" charset="0"/>
                <a:ea typeface="Calibri" pitchFamily="34" charset="-122"/>
                <a:cs typeface="Calibri" pitchFamily="34" charset="-120"/>
              </a:rPr>
              <a:t>while in-agent Skills Guard inspects proposed skills for </a:t>
            </a:r>
            <a:r>
              <a:rPr lang="en-US" sz="850" b="1" dirty="0">
                <a:solidFill>
                  <a:srgbClr val="64748B"/>
                </a:solidFill>
                <a:latin typeface="Calibri" pitchFamily="34" charset="0"/>
                <a:ea typeface="Calibri" pitchFamily="34" charset="-122"/>
                <a:cs typeface="Calibri" pitchFamily="34" charset="-120"/>
              </a:rPr>
              <a:t>unsafe environment access </a:t>
            </a:r>
            <a:r>
              <a:rPr lang="en-US" sz="850" dirty="0">
                <a:solidFill>
                  <a:srgbClr val="64748B"/>
                </a:solidFill>
                <a:latin typeface="Calibri" pitchFamily="34" charset="0"/>
                <a:ea typeface="Calibri" pitchFamily="34" charset="-122"/>
                <a:cs typeface="Calibri" pitchFamily="34" charset="-120"/>
              </a:rPr>
              <a:t>and </a:t>
            </a:r>
            <a:r>
              <a:rPr lang="en-US" sz="850" b="1" dirty="0">
                <a:solidFill>
                  <a:srgbClr val="64748B"/>
                </a:solidFill>
                <a:latin typeface="Calibri" pitchFamily="34" charset="0"/>
                <a:ea typeface="Calibri" pitchFamily="34" charset="-122"/>
                <a:cs typeface="Calibri" pitchFamily="34" charset="-120"/>
              </a:rPr>
              <a:t>prompt injection vectors</a:t>
            </a:r>
            <a:r>
              <a:rPr lang="en-US" sz="850" dirty="0">
                <a:solidFill>
                  <a:srgbClr val="64748B"/>
                </a:solidFill>
                <a:latin typeface="Calibri" pitchFamily="34" charset="0"/>
                <a:ea typeface="Calibri" pitchFamily="34" charset="-122"/>
                <a:cs typeface="Calibri" pitchFamily="34" charset="-120"/>
              </a:rPr>
              <a:t>.</a:t>
            </a:r>
            <a:endParaRPr lang="en-US" sz="850" dirty="0"/>
          </a:p>
        </p:txBody>
      </p:sp>
      <p:sp>
        <p:nvSpPr>
          <p:cNvPr id="32" name="Shape 30"/>
          <p:cNvSpPr/>
          <p:nvPr/>
        </p:nvSpPr>
        <p:spPr>
          <a:xfrm>
            <a:off x="4663440" y="1005840"/>
            <a:ext cx="4114800" cy="347472"/>
          </a:xfrm>
          <a:prstGeom prst="rect">
            <a:avLst/>
          </a:prstGeom>
          <a:solidFill>
            <a:srgbClr val="CADCFC">
              <a:alpha val="80000"/>
            </a:srgbClr>
          </a:solidFill>
          <a:ln w="12700">
            <a:solidFill>
              <a:srgbClr val="CADCFC"/>
            </a:solidFill>
            <a:prstDash val="solid"/>
          </a:ln>
        </p:spPr>
        <p:txBody>
          <a:bodyPr/>
          <a:lstStyle/>
          <a:p>
            <a:endParaRPr lang="en-AU"/>
          </a:p>
        </p:txBody>
      </p:sp>
      <p:sp>
        <p:nvSpPr>
          <p:cNvPr id="33" name="Text 31"/>
          <p:cNvSpPr/>
          <p:nvPr/>
        </p:nvSpPr>
        <p:spPr>
          <a:xfrm>
            <a:off x="4754880" y="1005840"/>
            <a:ext cx="3931920" cy="347472"/>
          </a:xfrm>
          <a:prstGeom prst="rect">
            <a:avLst/>
          </a:prstGeom>
          <a:noFill/>
          <a:ln/>
        </p:spPr>
        <p:txBody>
          <a:bodyPr wrap="square"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OpenClaw — Human-Curated ClawHub Marketplace</a:t>
            </a:r>
            <a:endParaRPr lang="en-US" sz="1200" dirty="0"/>
          </a:p>
        </p:txBody>
      </p:sp>
      <p:sp>
        <p:nvSpPr>
          <p:cNvPr id="34" name="Shape 32"/>
          <p:cNvSpPr/>
          <p:nvPr/>
        </p:nvSpPr>
        <p:spPr>
          <a:xfrm>
            <a:off x="4663440" y="1426464"/>
            <a:ext cx="4114800" cy="603504"/>
          </a:xfrm>
          <a:prstGeom prst="rect">
            <a:avLst/>
          </a:prstGeom>
          <a:solidFill>
            <a:srgbClr val="F8FAFF"/>
          </a:solidFill>
          <a:ln w="6350">
            <a:solidFill>
              <a:srgbClr val="FCA5A5">
                <a:alpha val="50000"/>
              </a:srgbClr>
            </a:solidFill>
            <a:prstDash val="solid"/>
          </a:ln>
        </p:spPr>
        <p:txBody>
          <a:bodyPr/>
          <a:lstStyle/>
          <a:p>
            <a:endParaRPr lang="en-AU"/>
          </a:p>
        </p:txBody>
      </p:sp>
      <p:sp>
        <p:nvSpPr>
          <p:cNvPr id="35" name="Shape 33"/>
          <p:cNvSpPr/>
          <p:nvPr/>
        </p:nvSpPr>
        <p:spPr>
          <a:xfrm>
            <a:off x="4663440" y="1426464"/>
            <a:ext cx="274320" cy="603504"/>
          </a:xfrm>
          <a:prstGeom prst="rect">
            <a:avLst/>
          </a:prstGeom>
          <a:solidFill>
            <a:srgbClr val="94A3B8">
              <a:alpha val="30000"/>
            </a:srgbClr>
          </a:solidFill>
          <a:ln w="12700">
            <a:solidFill>
              <a:srgbClr val="94A3B8">
                <a:alpha val="30000"/>
              </a:srgbClr>
            </a:solidFill>
            <a:prstDash val="solid"/>
          </a:ln>
        </p:spPr>
        <p:txBody>
          <a:bodyPr/>
          <a:lstStyle/>
          <a:p>
            <a:endParaRPr lang="en-AU"/>
          </a:p>
        </p:txBody>
      </p:sp>
      <p:sp>
        <p:nvSpPr>
          <p:cNvPr id="36" name="Text 34"/>
          <p:cNvSpPr/>
          <p:nvPr/>
        </p:nvSpPr>
        <p:spPr>
          <a:xfrm>
            <a:off x="4663440" y="1426464"/>
            <a:ext cx="274320" cy="603504"/>
          </a:xfrm>
          <a:prstGeom prst="rect">
            <a:avLst/>
          </a:prstGeom>
          <a:noFill/>
          <a:ln/>
        </p:spPr>
        <p:txBody>
          <a:bodyPr wrap="square" lIns="0" tIns="0" rIns="0" bIns="0" rtlCol="0" anchor="ctr"/>
          <a:lstStyle/>
          <a:p>
            <a:pPr marL="0" indent="0" algn="ctr">
              <a:buNone/>
            </a:pPr>
            <a:r>
              <a:rPr lang="en-US" sz="1100" b="1" dirty="0">
                <a:solidFill>
                  <a:srgbClr val="64748B"/>
                </a:solidFill>
                <a:latin typeface="Georgia" pitchFamily="34" charset="0"/>
                <a:ea typeface="Georgia" pitchFamily="34" charset="-122"/>
                <a:cs typeface="Georgia" pitchFamily="34" charset="-120"/>
              </a:rPr>
              <a:t>1</a:t>
            </a:r>
            <a:endParaRPr lang="en-US" sz="1100" dirty="0"/>
          </a:p>
        </p:txBody>
      </p:sp>
      <p:sp>
        <p:nvSpPr>
          <p:cNvPr id="37" name="Text 35"/>
          <p:cNvSpPr/>
          <p:nvPr/>
        </p:nvSpPr>
        <p:spPr>
          <a:xfrm>
            <a:off x="5010912" y="1463040"/>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Manual Authoring</a:t>
            </a:r>
            <a:endParaRPr lang="en-US" sz="1000" dirty="0"/>
          </a:p>
        </p:txBody>
      </p:sp>
      <p:sp>
        <p:nvSpPr>
          <p:cNvPr id="38" name="Text 36"/>
          <p:cNvSpPr/>
          <p:nvPr/>
        </p:nvSpPr>
        <p:spPr>
          <a:xfrm>
            <a:off x="5010912" y="1682496"/>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Skills </a:t>
            </a:r>
            <a:r>
              <a:rPr lang="en-US" sz="850" b="1" dirty="0">
                <a:solidFill>
                  <a:srgbClr val="64748B"/>
                </a:solidFill>
                <a:latin typeface="Calibri" pitchFamily="34" charset="0"/>
                <a:ea typeface="Calibri" pitchFamily="34" charset="-122"/>
                <a:cs typeface="Calibri" pitchFamily="34" charset="-120"/>
              </a:rPr>
              <a:t>written by contributors </a:t>
            </a:r>
            <a:r>
              <a:rPr lang="en-US" sz="850" dirty="0">
                <a:solidFill>
                  <a:srgbClr val="64748B"/>
                </a:solidFill>
                <a:latin typeface="Calibri" pitchFamily="34" charset="0"/>
                <a:ea typeface="Calibri" pitchFamily="34" charset="-122"/>
                <a:cs typeface="Calibri" pitchFamily="34" charset="-120"/>
              </a:rPr>
              <a:t>via GitHub workflow and there is </a:t>
            </a:r>
            <a:r>
              <a:rPr lang="en-US" sz="850" b="1" dirty="0">
                <a:solidFill>
                  <a:srgbClr val="64748B"/>
                </a:solidFill>
                <a:latin typeface="Calibri" pitchFamily="34" charset="0"/>
                <a:ea typeface="Calibri" pitchFamily="34" charset="-122"/>
                <a:cs typeface="Calibri" pitchFamily="34" charset="-120"/>
              </a:rPr>
              <a:t>no runtime analysis</a:t>
            </a:r>
            <a:r>
              <a:rPr lang="en-US" sz="850" dirty="0">
                <a:solidFill>
                  <a:srgbClr val="64748B"/>
                </a:solidFill>
                <a:latin typeface="Calibri" pitchFamily="34" charset="0"/>
                <a:ea typeface="Calibri" pitchFamily="34" charset="-122"/>
                <a:cs typeface="Calibri" pitchFamily="34" charset="-120"/>
              </a:rPr>
              <a:t> of task execution. Procedural logic defined before deployment and unchanged at runtime.</a:t>
            </a:r>
            <a:endParaRPr lang="en-US" sz="850" dirty="0"/>
          </a:p>
        </p:txBody>
      </p:sp>
      <p:sp>
        <p:nvSpPr>
          <p:cNvPr id="39" name="Shape 37"/>
          <p:cNvSpPr/>
          <p:nvPr/>
        </p:nvSpPr>
        <p:spPr>
          <a:xfrm>
            <a:off x="4663440" y="2075688"/>
            <a:ext cx="4114800" cy="603504"/>
          </a:xfrm>
          <a:prstGeom prst="rect">
            <a:avLst/>
          </a:prstGeom>
          <a:solidFill>
            <a:srgbClr val="FFFFFF"/>
          </a:solidFill>
          <a:ln w="6350">
            <a:solidFill>
              <a:srgbClr val="FCA5A5">
                <a:alpha val="50000"/>
              </a:srgbClr>
            </a:solidFill>
            <a:prstDash val="solid"/>
          </a:ln>
        </p:spPr>
        <p:txBody>
          <a:bodyPr/>
          <a:lstStyle/>
          <a:p>
            <a:endParaRPr lang="en-AU"/>
          </a:p>
        </p:txBody>
      </p:sp>
      <p:sp>
        <p:nvSpPr>
          <p:cNvPr id="40" name="Shape 38"/>
          <p:cNvSpPr/>
          <p:nvPr/>
        </p:nvSpPr>
        <p:spPr>
          <a:xfrm>
            <a:off x="4663440" y="2075688"/>
            <a:ext cx="274320" cy="603504"/>
          </a:xfrm>
          <a:prstGeom prst="rect">
            <a:avLst/>
          </a:prstGeom>
          <a:solidFill>
            <a:srgbClr val="94A3B8">
              <a:alpha val="30000"/>
            </a:srgbClr>
          </a:solidFill>
          <a:ln w="12700">
            <a:solidFill>
              <a:srgbClr val="94A3B8">
                <a:alpha val="30000"/>
              </a:srgbClr>
            </a:solidFill>
            <a:prstDash val="solid"/>
          </a:ln>
        </p:spPr>
        <p:txBody>
          <a:bodyPr/>
          <a:lstStyle/>
          <a:p>
            <a:endParaRPr lang="en-AU"/>
          </a:p>
        </p:txBody>
      </p:sp>
      <p:sp>
        <p:nvSpPr>
          <p:cNvPr id="41" name="Text 39"/>
          <p:cNvSpPr/>
          <p:nvPr/>
        </p:nvSpPr>
        <p:spPr>
          <a:xfrm>
            <a:off x="4663440" y="2075688"/>
            <a:ext cx="274320" cy="603504"/>
          </a:xfrm>
          <a:prstGeom prst="rect">
            <a:avLst/>
          </a:prstGeom>
          <a:noFill/>
          <a:ln/>
        </p:spPr>
        <p:txBody>
          <a:bodyPr wrap="square" lIns="0" tIns="0" rIns="0" bIns="0" rtlCol="0" anchor="ctr"/>
          <a:lstStyle/>
          <a:p>
            <a:pPr marL="0" indent="0" algn="ctr">
              <a:buNone/>
            </a:pPr>
            <a:r>
              <a:rPr lang="en-US" sz="1100" b="1" dirty="0">
                <a:solidFill>
                  <a:srgbClr val="64748B"/>
                </a:solidFill>
                <a:latin typeface="Georgia" pitchFamily="34" charset="0"/>
                <a:ea typeface="Georgia" pitchFamily="34" charset="-122"/>
                <a:cs typeface="Georgia" pitchFamily="34" charset="-120"/>
              </a:rPr>
              <a:t>2</a:t>
            </a:r>
            <a:endParaRPr lang="en-US" sz="1100" dirty="0"/>
          </a:p>
        </p:txBody>
      </p:sp>
      <p:sp>
        <p:nvSpPr>
          <p:cNvPr id="42" name="Text 40"/>
          <p:cNvSpPr/>
          <p:nvPr/>
        </p:nvSpPr>
        <p:spPr>
          <a:xfrm>
            <a:off x="5010912" y="2112264"/>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Publication via ClawHub</a:t>
            </a:r>
            <a:endParaRPr lang="en-US" sz="1000" dirty="0"/>
          </a:p>
        </p:txBody>
      </p:sp>
      <p:sp>
        <p:nvSpPr>
          <p:cNvPr id="43" name="Text 41"/>
          <p:cNvSpPr/>
          <p:nvPr/>
        </p:nvSpPr>
        <p:spPr>
          <a:xfrm>
            <a:off x="5010912" y="2331720"/>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Submitted to an open marketplace for discovery and installation. Rapid ecosystem growth, but publication is not tightly coupled with automated behavioural validation.</a:t>
            </a:r>
            <a:endParaRPr lang="en-US" sz="850" dirty="0"/>
          </a:p>
        </p:txBody>
      </p:sp>
      <p:sp>
        <p:nvSpPr>
          <p:cNvPr id="44" name="Shape 42"/>
          <p:cNvSpPr/>
          <p:nvPr/>
        </p:nvSpPr>
        <p:spPr>
          <a:xfrm>
            <a:off x="4663440" y="2724912"/>
            <a:ext cx="4114800" cy="603504"/>
          </a:xfrm>
          <a:prstGeom prst="rect">
            <a:avLst/>
          </a:prstGeom>
          <a:solidFill>
            <a:srgbClr val="F8FAFF"/>
          </a:solidFill>
          <a:ln w="6350">
            <a:solidFill>
              <a:srgbClr val="FCA5A5">
                <a:alpha val="50000"/>
              </a:srgbClr>
            </a:solidFill>
            <a:prstDash val="solid"/>
          </a:ln>
        </p:spPr>
        <p:txBody>
          <a:bodyPr/>
          <a:lstStyle/>
          <a:p>
            <a:endParaRPr lang="en-AU"/>
          </a:p>
        </p:txBody>
      </p:sp>
      <p:sp>
        <p:nvSpPr>
          <p:cNvPr id="45" name="Shape 43"/>
          <p:cNvSpPr/>
          <p:nvPr/>
        </p:nvSpPr>
        <p:spPr>
          <a:xfrm>
            <a:off x="4663440" y="2724912"/>
            <a:ext cx="274320" cy="603504"/>
          </a:xfrm>
          <a:prstGeom prst="rect">
            <a:avLst/>
          </a:prstGeom>
          <a:solidFill>
            <a:srgbClr val="94A3B8">
              <a:alpha val="30000"/>
            </a:srgbClr>
          </a:solidFill>
          <a:ln w="12700">
            <a:solidFill>
              <a:srgbClr val="94A3B8">
                <a:alpha val="30000"/>
              </a:srgbClr>
            </a:solidFill>
            <a:prstDash val="solid"/>
          </a:ln>
        </p:spPr>
        <p:txBody>
          <a:bodyPr/>
          <a:lstStyle/>
          <a:p>
            <a:endParaRPr lang="en-AU"/>
          </a:p>
        </p:txBody>
      </p:sp>
      <p:sp>
        <p:nvSpPr>
          <p:cNvPr id="46" name="Text 44"/>
          <p:cNvSpPr/>
          <p:nvPr/>
        </p:nvSpPr>
        <p:spPr>
          <a:xfrm>
            <a:off x="4663440" y="2724912"/>
            <a:ext cx="274320" cy="603504"/>
          </a:xfrm>
          <a:prstGeom prst="rect">
            <a:avLst/>
          </a:prstGeom>
          <a:noFill/>
          <a:ln/>
        </p:spPr>
        <p:txBody>
          <a:bodyPr wrap="square" lIns="0" tIns="0" rIns="0" bIns="0" rtlCol="0" anchor="ctr"/>
          <a:lstStyle/>
          <a:p>
            <a:pPr marL="0" indent="0" algn="ctr">
              <a:buNone/>
            </a:pPr>
            <a:r>
              <a:rPr lang="en-US" sz="1100" b="1" dirty="0">
                <a:solidFill>
                  <a:srgbClr val="64748B"/>
                </a:solidFill>
                <a:latin typeface="Georgia" pitchFamily="34" charset="0"/>
                <a:ea typeface="Georgia" pitchFamily="34" charset="-122"/>
                <a:cs typeface="Georgia" pitchFamily="34" charset="-120"/>
              </a:rPr>
              <a:t>3</a:t>
            </a:r>
            <a:endParaRPr lang="en-US" sz="1100" dirty="0"/>
          </a:p>
        </p:txBody>
      </p:sp>
      <p:sp>
        <p:nvSpPr>
          <p:cNvPr id="47" name="Text 45"/>
          <p:cNvSpPr/>
          <p:nvPr/>
        </p:nvSpPr>
        <p:spPr>
          <a:xfrm>
            <a:off x="5010912" y="2761488"/>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Invocation</a:t>
            </a:r>
            <a:endParaRPr lang="en-US" sz="1000" dirty="0"/>
          </a:p>
        </p:txBody>
      </p:sp>
      <p:sp>
        <p:nvSpPr>
          <p:cNvPr id="48" name="Text 46"/>
          <p:cNvSpPr/>
          <p:nvPr/>
        </p:nvSpPr>
        <p:spPr>
          <a:xfrm>
            <a:off x="5010912" y="2980944"/>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Skills treated as modular plugins invoked when explicitly triggered. System </a:t>
            </a:r>
            <a:r>
              <a:rPr lang="en-US" sz="850" b="1" dirty="0">
                <a:solidFill>
                  <a:srgbClr val="64748B"/>
                </a:solidFill>
                <a:latin typeface="Calibri" pitchFamily="34" charset="0"/>
                <a:ea typeface="Calibri" pitchFamily="34" charset="-122"/>
                <a:cs typeface="Calibri" pitchFamily="34" charset="-120"/>
              </a:rPr>
              <a:t>does not autonomously infer new skills </a:t>
            </a:r>
            <a:r>
              <a:rPr lang="en-US" sz="850" dirty="0">
                <a:solidFill>
                  <a:srgbClr val="64748B"/>
                </a:solidFill>
                <a:latin typeface="Calibri" pitchFamily="34" charset="0"/>
                <a:ea typeface="Calibri" pitchFamily="34" charset="-122"/>
                <a:cs typeface="Calibri" pitchFamily="34" charset="-120"/>
              </a:rPr>
              <a:t>from prior executions.</a:t>
            </a:r>
            <a:endParaRPr lang="en-US" sz="850" dirty="0"/>
          </a:p>
        </p:txBody>
      </p:sp>
      <p:sp>
        <p:nvSpPr>
          <p:cNvPr id="49" name="Shape 47"/>
          <p:cNvSpPr/>
          <p:nvPr/>
        </p:nvSpPr>
        <p:spPr>
          <a:xfrm>
            <a:off x="4663440" y="3374136"/>
            <a:ext cx="4114800" cy="603504"/>
          </a:xfrm>
          <a:prstGeom prst="rect">
            <a:avLst/>
          </a:prstGeom>
          <a:solidFill>
            <a:srgbClr val="FFFFFF"/>
          </a:solidFill>
          <a:ln w="6350">
            <a:solidFill>
              <a:srgbClr val="FCA5A5">
                <a:alpha val="50000"/>
              </a:srgbClr>
            </a:solidFill>
            <a:prstDash val="solid"/>
          </a:ln>
        </p:spPr>
        <p:txBody>
          <a:bodyPr/>
          <a:lstStyle/>
          <a:p>
            <a:endParaRPr lang="en-AU"/>
          </a:p>
        </p:txBody>
      </p:sp>
      <p:sp>
        <p:nvSpPr>
          <p:cNvPr id="50" name="Shape 48"/>
          <p:cNvSpPr/>
          <p:nvPr/>
        </p:nvSpPr>
        <p:spPr>
          <a:xfrm>
            <a:off x="4663440" y="3374136"/>
            <a:ext cx="274320" cy="603504"/>
          </a:xfrm>
          <a:prstGeom prst="rect">
            <a:avLst/>
          </a:prstGeom>
          <a:solidFill>
            <a:srgbClr val="94A3B8">
              <a:alpha val="30000"/>
            </a:srgbClr>
          </a:solidFill>
          <a:ln w="12700">
            <a:solidFill>
              <a:srgbClr val="94A3B8">
                <a:alpha val="30000"/>
              </a:srgbClr>
            </a:solidFill>
            <a:prstDash val="solid"/>
          </a:ln>
        </p:spPr>
        <p:txBody>
          <a:bodyPr/>
          <a:lstStyle/>
          <a:p>
            <a:endParaRPr lang="en-AU"/>
          </a:p>
        </p:txBody>
      </p:sp>
      <p:sp>
        <p:nvSpPr>
          <p:cNvPr id="51" name="Text 49"/>
          <p:cNvSpPr/>
          <p:nvPr/>
        </p:nvSpPr>
        <p:spPr>
          <a:xfrm>
            <a:off x="4663440" y="3374136"/>
            <a:ext cx="274320" cy="603504"/>
          </a:xfrm>
          <a:prstGeom prst="rect">
            <a:avLst/>
          </a:prstGeom>
          <a:noFill/>
          <a:ln/>
        </p:spPr>
        <p:txBody>
          <a:bodyPr wrap="square" lIns="0" tIns="0" rIns="0" bIns="0" rtlCol="0" anchor="ctr"/>
          <a:lstStyle/>
          <a:p>
            <a:pPr marL="0" indent="0" algn="ctr">
              <a:buNone/>
            </a:pPr>
            <a:r>
              <a:rPr lang="en-US" sz="1100" b="1" dirty="0">
                <a:solidFill>
                  <a:srgbClr val="64748B"/>
                </a:solidFill>
                <a:latin typeface="Georgia" pitchFamily="34" charset="0"/>
                <a:ea typeface="Georgia" pitchFamily="34" charset="-122"/>
                <a:cs typeface="Georgia" pitchFamily="34" charset="-120"/>
              </a:rPr>
              <a:t>4</a:t>
            </a:r>
            <a:endParaRPr lang="en-US" sz="1100" dirty="0"/>
          </a:p>
        </p:txBody>
      </p:sp>
      <p:sp>
        <p:nvSpPr>
          <p:cNvPr id="52" name="Text 50"/>
          <p:cNvSpPr/>
          <p:nvPr/>
        </p:nvSpPr>
        <p:spPr>
          <a:xfrm>
            <a:off x="5010912" y="3410712"/>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Maintenance</a:t>
            </a:r>
            <a:endParaRPr lang="en-US" sz="1000" dirty="0"/>
          </a:p>
        </p:txBody>
      </p:sp>
      <p:sp>
        <p:nvSpPr>
          <p:cNvPr id="53" name="Text 51"/>
          <p:cNvSpPr/>
          <p:nvPr/>
        </p:nvSpPr>
        <p:spPr>
          <a:xfrm>
            <a:off x="5010912" y="3630168"/>
            <a:ext cx="3703320" cy="310896"/>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Updates performed manually </a:t>
            </a:r>
            <a:r>
              <a:rPr lang="en-US" sz="850" dirty="0">
                <a:solidFill>
                  <a:srgbClr val="64748B"/>
                </a:solidFill>
                <a:latin typeface="Calibri" pitchFamily="34" charset="0"/>
                <a:ea typeface="Calibri" pitchFamily="34" charset="-122"/>
                <a:cs typeface="Calibri" pitchFamily="34" charset="-120"/>
              </a:rPr>
              <a:t>by contributors, which are version-controlled but non-adaptive. No runtime feedback loop drives skill evolution.</a:t>
            </a:r>
            <a:endParaRPr lang="en-US" sz="850" dirty="0"/>
          </a:p>
        </p:txBody>
      </p:sp>
      <p:sp>
        <p:nvSpPr>
          <p:cNvPr id="54" name="Shape 52"/>
          <p:cNvSpPr/>
          <p:nvPr/>
        </p:nvSpPr>
        <p:spPr>
          <a:xfrm>
            <a:off x="4663440" y="4023360"/>
            <a:ext cx="4114800" cy="603504"/>
          </a:xfrm>
          <a:prstGeom prst="rect">
            <a:avLst/>
          </a:prstGeom>
          <a:solidFill>
            <a:srgbClr val="F8FAFF"/>
          </a:solidFill>
          <a:ln w="6350">
            <a:solidFill>
              <a:srgbClr val="FCA5A5">
                <a:alpha val="50000"/>
              </a:srgbClr>
            </a:solidFill>
            <a:prstDash val="solid"/>
          </a:ln>
        </p:spPr>
        <p:txBody>
          <a:bodyPr/>
          <a:lstStyle/>
          <a:p>
            <a:endParaRPr lang="en-AU"/>
          </a:p>
        </p:txBody>
      </p:sp>
      <p:sp>
        <p:nvSpPr>
          <p:cNvPr id="55" name="Shape 53"/>
          <p:cNvSpPr/>
          <p:nvPr/>
        </p:nvSpPr>
        <p:spPr>
          <a:xfrm>
            <a:off x="4663440" y="4023360"/>
            <a:ext cx="274320" cy="603504"/>
          </a:xfrm>
          <a:prstGeom prst="rect">
            <a:avLst/>
          </a:prstGeom>
          <a:solidFill>
            <a:srgbClr val="94A3B8">
              <a:alpha val="30000"/>
            </a:srgbClr>
          </a:solidFill>
          <a:ln w="12700">
            <a:solidFill>
              <a:srgbClr val="94A3B8">
                <a:alpha val="30000"/>
              </a:srgbClr>
            </a:solidFill>
            <a:prstDash val="solid"/>
          </a:ln>
        </p:spPr>
        <p:txBody>
          <a:bodyPr/>
          <a:lstStyle/>
          <a:p>
            <a:endParaRPr lang="en-AU"/>
          </a:p>
        </p:txBody>
      </p:sp>
      <p:sp>
        <p:nvSpPr>
          <p:cNvPr id="56" name="Text 54"/>
          <p:cNvSpPr/>
          <p:nvPr/>
        </p:nvSpPr>
        <p:spPr>
          <a:xfrm>
            <a:off x="4663440" y="4023360"/>
            <a:ext cx="274320" cy="603504"/>
          </a:xfrm>
          <a:prstGeom prst="rect">
            <a:avLst/>
          </a:prstGeom>
          <a:noFill/>
          <a:ln/>
        </p:spPr>
        <p:txBody>
          <a:bodyPr wrap="square" lIns="0" tIns="0" rIns="0" bIns="0" rtlCol="0" anchor="ctr"/>
          <a:lstStyle/>
          <a:p>
            <a:pPr marL="0" indent="0" algn="ctr">
              <a:buNone/>
            </a:pPr>
            <a:r>
              <a:rPr lang="en-US" sz="1100" b="1" dirty="0">
                <a:solidFill>
                  <a:srgbClr val="64748B"/>
                </a:solidFill>
                <a:latin typeface="Georgia" pitchFamily="34" charset="0"/>
                <a:ea typeface="Georgia" pitchFamily="34" charset="-122"/>
                <a:cs typeface="Georgia" pitchFamily="34" charset="-120"/>
              </a:rPr>
              <a:t>5</a:t>
            </a:r>
            <a:endParaRPr lang="en-US" sz="1100" dirty="0"/>
          </a:p>
        </p:txBody>
      </p:sp>
      <p:sp>
        <p:nvSpPr>
          <p:cNvPr id="57" name="Text 55"/>
          <p:cNvSpPr/>
          <p:nvPr/>
        </p:nvSpPr>
        <p:spPr>
          <a:xfrm>
            <a:off x="5010912" y="4059936"/>
            <a:ext cx="370332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Governance Risk</a:t>
            </a:r>
            <a:endParaRPr lang="en-US" sz="1000" dirty="0"/>
          </a:p>
        </p:txBody>
      </p:sp>
      <p:sp>
        <p:nvSpPr>
          <p:cNvPr id="58" name="Text 56"/>
          <p:cNvSpPr/>
          <p:nvPr/>
        </p:nvSpPr>
        <p:spPr>
          <a:xfrm>
            <a:off x="5010912" y="4279392"/>
            <a:ext cx="3703320"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Lightweight validation model with historically low verification thresholds. Skills execute with </a:t>
            </a:r>
            <a:r>
              <a:rPr lang="en-US" sz="850" b="1" dirty="0">
                <a:solidFill>
                  <a:srgbClr val="64748B"/>
                </a:solidFill>
                <a:latin typeface="Calibri" pitchFamily="34" charset="0"/>
                <a:ea typeface="Calibri" pitchFamily="34" charset="-122"/>
                <a:cs typeface="Calibri" pitchFamily="34" charset="-120"/>
              </a:rPr>
              <a:t>broad runtime </a:t>
            </a:r>
            <a:r>
              <a:rPr lang="en-US" sz="850" dirty="0">
                <a:solidFill>
                  <a:srgbClr val="64748B"/>
                </a:solidFill>
                <a:latin typeface="Calibri" pitchFamily="34" charset="0"/>
                <a:ea typeface="Calibri" pitchFamily="34" charset="-122"/>
                <a:cs typeface="Calibri" pitchFamily="34" charset="-120"/>
              </a:rPr>
              <a:t>privileges, with more than 1,400 malicious skills (20% of ecosystem) have been flagged.</a:t>
            </a:r>
            <a:endParaRPr lang="en-US" sz="850" dirty="0"/>
          </a:p>
        </p:txBody>
      </p:sp>
      <p:sp>
        <p:nvSpPr>
          <p:cNvPr id="59" name="Shape 57"/>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60" name="Text 58"/>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4.7–4.8  Multi-Agent, Scheduling &amp; Messaging</a:t>
            </a:r>
            <a:endParaRPr lang="en-US" sz="24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Parallel execution and communication platform support</a:t>
            </a:r>
            <a:endParaRPr lang="en-US" sz="1200" dirty="0"/>
          </a:p>
        </p:txBody>
      </p:sp>
      <p:sp>
        <p:nvSpPr>
          <p:cNvPr id="5" name="Text 3"/>
          <p:cNvSpPr/>
          <p:nvPr/>
        </p:nvSpPr>
        <p:spPr>
          <a:xfrm>
            <a:off x="457200" y="1005840"/>
            <a:ext cx="8229600" cy="256032"/>
          </a:xfrm>
          <a:prstGeom prst="rect">
            <a:avLst/>
          </a:prstGeom>
          <a:noFill/>
          <a:ln/>
        </p:spPr>
        <p:txBody>
          <a:bodyPr wrap="square"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Multi-Agent &amp; Scheduling</a:t>
            </a:r>
            <a:endParaRPr lang="en-US" sz="1100" dirty="0"/>
          </a:p>
        </p:txBody>
      </p:sp>
      <p:sp>
        <p:nvSpPr>
          <p:cNvPr id="6" name="Shape 4"/>
          <p:cNvSpPr/>
          <p:nvPr/>
        </p:nvSpPr>
        <p:spPr>
          <a:xfrm>
            <a:off x="365760" y="1325880"/>
            <a:ext cx="8412480" cy="438912"/>
          </a:xfrm>
          <a:prstGeom prst="rect">
            <a:avLst/>
          </a:prstGeom>
          <a:solidFill>
            <a:srgbClr val="F8FAFF"/>
          </a:solidFill>
          <a:ln w="6350">
            <a:solidFill>
              <a:srgbClr val="CADCFC">
                <a:alpha val="40000"/>
              </a:srgbClr>
            </a:solidFill>
            <a:prstDash val="solid"/>
          </a:ln>
        </p:spPr>
        <p:txBody>
          <a:bodyPr/>
          <a:lstStyle/>
          <a:p>
            <a:endParaRPr lang="en-AU"/>
          </a:p>
        </p:txBody>
      </p:sp>
      <p:sp>
        <p:nvSpPr>
          <p:cNvPr id="7" name="Text 5"/>
          <p:cNvSpPr/>
          <p:nvPr/>
        </p:nvSpPr>
        <p:spPr>
          <a:xfrm>
            <a:off x="457200" y="1353312"/>
            <a:ext cx="2011680" cy="38404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Multi-Agent Model</a:t>
            </a:r>
            <a:endParaRPr lang="en-US" sz="950" dirty="0"/>
          </a:p>
        </p:txBody>
      </p:sp>
      <p:sp>
        <p:nvSpPr>
          <p:cNvPr id="8" name="Text 6"/>
          <p:cNvSpPr/>
          <p:nvPr/>
        </p:nvSpPr>
        <p:spPr>
          <a:xfrm>
            <a:off x="2560320" y="1353312"/>
            <a:ext cx="3017520" cy="384048"/>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Native</a:t>
            </a:r>
            <a:r>
              <a:rPr lang="en-US" sz="850" dirty="0">
                <a:solidFill>
                  <a:srgbClr val="64748B"/>
                </a:solidFill>
                <a:latin typeface="Calibri" pitchFamily="34" charset="0"/>
                <a:ea typeface="Calibri" pitchFamily="34" charset="-122"/>
                <a:cs typeface="Calibri" pitchFamily="34" charset="-120"/>
              </a:rPr>
              <a:t> sub-agent spawning within a single runtime. Each sub-agent has isolated memory, context, and terminal session.</a:t>
            </a:r>
            <a:endParaRPr lang="en-US" sz="850" dirty="0"/>
          </a:p>
        </p:txBody>
      </p:sp>
      <p:sp>
        <p:nvSpPr>
          <p:cNvPr id="9" name="Text 7"/>
          <p:cNvSpPr/>
          <p:nvPr/>
        </p:nvSpPr>
        <p:spPr>
          <a:xfrm>
            <a:off x="5669280" y="1353312"/>
            <a:ext cx="301752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Subagents cannot be automatically created and require multiple independent agent instances coordinated by </a:t>
            </a:r>
            <a:r>
              <a:rPr lang="en-US" sz="850" b="1" dirty="0">
                <a:solidFill>
                  <a:srgbClr val="64748B"/>
                </a:solidFill>
                <a:latin typeface="Calibri" pitchFamily="34" charset="0"/>
                <a:ea typeface="Calibri" pitchFamily="34" charset="-122"/>
                <a:cs typeface="Calibri" pitchFamily="34" charset="-120"/>
              </a:rPr>
              <a:t>external orchestration tools</a:t>
            </a:r>
            <a:r>
              <a:rPr lang="en-US" sz="850" dirty="0">
                <a:solidFill>
                  <a:srgbClr val="64748B"/>
                </a:solidFill>
                <a:latin typeface="Calibri" pitchFamily="34" charset="0"/>
                <a:ea typeface="Calibri" pitchFamily="34" charset="-122"/>
                <a:cs typeface="Calibri" pitchFamily="34" charset="-120"/>
              </a:rPr>
              <a:t>.</a:t>
            </a:r>
            <a:endParaRPr lang="en-US" sz="850" dirty="0"/>
          </a:p>
        </p:txBody>
      </p:sp>
      <p:sp>
        <p:nvSpPr>
          <p:cNvPr id="10" name="Shape 8"/>
          <p:cNvSpPr/>
          <p:nvPr/>
        </p:nvSpPr>
        <p:spPr>
          <a:xfrm>
            <a:off x="365760" y="1801368"/>
            <a:ext cx="8412480" cy="438912"/>
          </a:xfrm>
          <a:prstGeom prst="rect">
            <a:avLst/>
          </a:prstGeom>
          <a:solidFill>
            <a:srgbClr val="FFFFFF"/>
          </a:solidFill>
          <a:ln w="6350">
            <a:solidFill>
              <a:srgbClr val="CADCFC">
                <a:alpha val="40000"/>
              </a:srgbClr>
            </a:solidFill>
            <a:prstDash val="solid"/>
          </a:ln>
        </p:spPr>
        <p:txBody>
          <a:bodyPr/>
          <a:lstStyle/>
          <a:p>
            <a:endParaRPr lang="en-AU"/>
          </a:p>
        </p:txBody>
      </p:sp>
      <p:sp>
        <p:nvSpPr>
          <p:cNvPr id="11" name="Text 9"/>
          <p:cNvSpPr/>
          <p:nvPr/>
        </p:nvSpPr>
        <p:spPr>
          <a:xfrm>
            <a:off x="457200" y="1828800"/>
            <a:ext cx="2011680" cy="38404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Isolation</a:t>
            </a:r>
            <a:endParaRPr lang="en-US" sz="950" dirty="0"/>
          </a:p>
        </p:txBody>
      </p:sp>
      <p:sp>
        <p:nvSpPr>
          <p:cNvPr id="12" name="Text 10"/>
          <p:cNvSpPr/>
          <p:nvPr/>
        </p:nvSpPr>
        <p:spPr>
          <a:xfrm>
            <a:off x="2560320" y="1828800"/>
            <a:ext cx="301752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Built-in at the </a:t>
            </a:r>
            <a:r>
              <a:rPr lang="en-US" sz="850" b="1" dirty="0">
                <a:solidFill>
                  <a:srgbClr val="64748B"/>
                </a:solidFill>
                <a:latin typeface="Calibri" pitchFamily="34" charset="0"/>
                <a:ea typeface="Calibri" pitchFamily="34" charset="-122"/>
                <a:cs typeface="Calibri" pitchFamily="34" charset="-120"/>
              </a:rPr>
              <a:t>runtime level </a:t>
            </a:r>
            <a:r>
              <a:rPr lang="en-US" sz="850" dirty="0">
                <a:solidFill>
                  <a:srgbClr val="64748B"/>
                </a:solidFill>
                <a:latin typeface="Calibri" pitchFamily="34" charset="0"/>
                <a:ea typeface="Calibri" pitchFamily="34" charset="-122"/>
                <a:cs typeface="Calibri" pitchFamily="34" charset="-120"/>
              </a:rPr>
              <a:t>so </a:t>
            </a:r>
            <a:r>
              <a:rPr lang="en-US" sz="850" b="1" dirty="0">
                <a:solidFill>
                  <a:srgbClr val="64748B"/>
                </a:solidFill>
                <a:latin typeface="Calibri" pitchFamily="34" charset="0"/>
                <a:ea typeface="Calibri" pitchFamily="34" charset="-122"/>
                <a:cs typeface="Calibri" pitchFamily="34" charset="-120"/>
              </a:rPr>
              <a:t>sub-agents</a:t>
            </a:r>
            <a:r>
              <a:rPr lang="en-US" sz="850" dirty="0">
                <a:solidFill>
                  <a:srgbClr val="64748B"/>
                </a:solidFill>
                <a:latin typeface="Calibri" pitchFamily="34" charset="0"/>
                <a:ea typeface="Calibri" pitchFamily="34" charset="-122"/>
                <a:cs typeface="Calibri" pitchFamily="34" charset="-120"/>
              </a:rPr>
              <a:t> </a:t>
            </a:r>
            <a:r>
              <a:rPr lang="en-US" sz="850" b="1" dirty="0">
                <a:solidFill>
                  <a:srgbClr val="64748B"/>
                </a:solidFill>
                <a:latin typeface="Calibri" pitchFamily="34" charset="0"/>
                <a:ea typeface="Calibri" pitchFamily="34" charset="-122"/>
                <a:cs typeface="Calibri" pitchFamily="34" charset="-120"/>
              </a:rPr>
              <a:t>cannot interfere </a:t>
            </a:r>
            <a:r>
              <a:rPr lang="en-US" sz="850" dirty="0">
                <a:solidFill>
                  <a:srgbClr val="64748B"/>
                </a:solidFill>
                <a:latin typeface="Calibri" pitchFamily="34" charset="0"/>
                <a:ea typeface="Calibri" pitchFamily="34" charset="-122"/>
                <a:cs typeface="Calibri" pitchFamily="34" charset="-120"/>
              </a:rPr>
              <a:t>with each other or the parent agent.</a:t>
            </a:r>
            <a:endParaRPr lang="en-US" sz="850" dirty="0"/>
          </a:p>
        </p:txBody>
      </p:sp>
      <p:sp>
        <p:nvSpPr>
          <p:cNvPr id="13" name="Text 11"/>
          <p:cNvSpPr/>
          <p:nvPr/>
        </p:nvSpPr>
        <p:spPr>
          <a:xfrm>
            <a:off x="5669280" y="1828800"/>
            <a:ext cx="3017520" cy="384048"/>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Deployment-level only: </a:t>
            </a:r>
            <a:r>
              <a:rPr lang="en-US" sz="850" dirty="0">
                <a:solidFill>
                  <a:srgbClr val="64748B"/>
                </a:solidFill>
                <a:latin typeface="Calibri" pitchFamily="34" charset="0"/>
                <a:ea typeface="Calibri" pitchFamily="34" charset="-122"/>
                <a:cs typeface="Calibri" pitchFamily="34" charset="-120"/>
              </a:rPr>
              <a:t>session isolation requires </a:t>
            </a:r>
            <a:r>
              <a:rPr lang="en-US" sz="850" b="1" dirty="0">
                <a:solidFill>
                  <a:srgbClr val="64748B"/>
                </a:solidFill>
                <a:latin typeface="Calibri" pitchFamily="34" charset="0"/>
                <a:ea typeface="Calibri" pitchFamily="34" charset="-122"/>
                <a:cs typeface="Calibri" pitchFamily="34" charset="-120"/>
              </a:rPr>
              <a:t>manual </a:t>
            </a:r>
            <a:r>
              <a:rPr lang="en-US" sz="850" dirty="0">
                <a:solidFill>
                  <a:srgbClr val="64748B"/>
                </a:solidFill>
                <a:latin typeface="Calibri" pitchFamily="34" charset="0"/>
                <a:ea typeface="Calibri" pitchFamily="34" charset="-122"/>
                <a:cs typeface="Calibri" pitchFamily="34" charset="-120"/>
              </a:rPr>
              <a:t>activation</a:t>
            </a:r>
            <a:r>
              <a:rPr lang="en-US" sz="850" b="1" dirty="0">
                <a:solidFill>
                  <a:srgbClr val="64748B"/>
                </a:solidFill>
                <a:latin typeface="Calibri" pitchFamily="34" charset="0"/>
                <a:ea typeface="Calibri" pitchFamily="34" charset="-122"/>
                <a:cs typeface="Calibri" pitchFamily="34" charset="-120"/>
              </a:rPr>
              <a:t> </a:t>
            </a:r>
            <a:r>
              <a:rPr lang="en-US" sz="850" dirty="0">
                <a:solidFill>
                  <a:srgbClr val="64748B"/>
                </a:solidFill>
                <a:latin typeface="Calibri" pitchFamily="34" charset="0"/>
                <a:ea typeface="Calibri" pitchFamily="34" charset="-122"/>
                <a:cs typeface="Calibri" pitchFamily="34" charset="-120"/>
              </a:rPr>
              <a:t>of Secure DM Mode, while memory and execution state are </a:t>
            </a:r>
            <a:r>
              <a:rPr lang="en-US" sz="850" b="1" dirty="0">
                <a:solidFill>
                  <a:srgbClr val="64748B"/>
                </a:solidFill>
                <a:latin typeface="Calibri" pitchFamily="34" charset="0"/>
                <a:ea typeface="Calibri" pitchFamily="34" charset="-122"/>
                <a:cs typeface="Calibri" pitchFamily="34" charset="-120"/>
              </a:rPr>
              <a:t>logically separated </a:t>
            </a:r>
            <a:r>
              <a:rPr lang="en-US" sz="850" dirty="0">
                <a:solidFill>
                  <a:srgbClr val="64748B"/>
                </a:solidFill>
                <a:latin typeface="Calibri" pitchFamily="34" charset="0"/>
                <a:ea typeface="Calibri" pitchFamily="34" charset="-122"/>
                <a:cs typeface="Calibri" pitchFamily="34" charset="-120"/>
              </a:rPr>
              <a:t>but </a:t>
            </a:r>
            <a:r>
              <a:rPr lang="en-US" sz="850" b="1" dirty="0">
                <a:solidFill>
                  <a:srgbClr val="64748B"/>
                </a:solidFill>
                <a:latin typeface="Calibri" pitchFamily="34" charset="0"/>
                <a:ea typeface="Calibri" pitchFamily="34" charset="-122"/>
                <a:cs typeface="Calibri" pitchFamily="34" charset="-120"/>
              </a:rPr>
              <a:t>not structurally enforced</a:t>
            </a:r>
            <a:endParaRPr lang="en-US" sz="850" b="1" dirty="0"/>
          </a:p>
        </p:txBody>
      </p:sp>
      <p:sp>
        <p:nvSpPr>
          <p:cNvPr id="14" name="Shape 12"/>
          <p:cNvSpPr/>
          <p:nvPr/>
        </p:nvSpPr>
        <p:spPr>
          <a:xfrm>
            <a:off x="365760" y="2276856"/>
            <a:ext cx="8412480" cy="438912"/>
          </a:xfrm>
          <a:prstGeom prst="rect">
            <a:avLst/>
          </a:prstGeom>
          <a:solidFill>
            <a:srgbClr val="F8FAFF"/>
          </a:solidFill>
          <a:ln w="6350">
            <a:solidFill>
              <a:srgbClr val="CADCFC">
                <a:alpha val="40000"/>
              </a:srgbClr>
            </a:solidFill>
            <a:prstDash val="solid"/>
          </a:ln>
        </p:spPr>
        <p:txBody>
          <a:bodyPr/>
          <a:lstStyle/>
          <a:p>
            <a:endParaRPr lang="en-AU"/>
          </a:p>
        </p:txBody>
      </p:sp>
      <p:sp>
        <p:nvSpPr>
          <p:cNvPr id="15" name="Text 13"/>
          <p:cNvSpPr/>
          <p:nvPr/>
        </p:nvSpPr>
        <p:spPr>
          <a:xfrm>
            <a:off x="457200" y="2304288"/>
            <a:ext cx="2011680" cy="38404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Scheduling</a:t>
            </a:r>
            <a:endParaRPr lang="en-US" sz="950" dirty="0"/>
          </a:p>
        </p:txBody>
      </p:sp>
      <p:sp>
        <p:nvSpPr>
          <p:cNvPr id="16" name="Text 14"/>
          <p:cNvSpPr/>
          <p:nvPr/>
        </p:nvSpPr>
        <p:spPr>
          <a:xfrm>
            <a:off x="2560320" y="2304288"/>
            <a:ext cx="3017520" cy="384048"/>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Built-in cron </a:t>
            </a:r>
            <a:r>
              <a:rPr lang="en-US" sz="850" dirty="0">
                <a:solidFill>
                  <a:srgbClr val="64748B"/>
                </a:solidFill>
                <a:latin typeface="Calibri" pitchFamily="34" charset="0"/>
                <a:ea typeface="Calibri" pitchFamily="34" charset="-122"/>
                <a:cs typeface="Calibri" pitchFamily="34" charset="-120"/>
              </a:rPr>
              <a:t>across CLI, API, and messaging interfaces, allowing continuous background execution natively.</a:t>
            </a:r>
            <a:endParaRPr lang="en-US" sz="850" dirty="0"/>
          </a:p>
        </p:txBody>
      </p:sp>
      <p:sp>
        <p:nvSpPr>
          <p:cNvPr id="17" name="Text 15"/>
          <p:cNvSpPr/>
          <p:nvPr/>
        </p:nvSpPr>
        <p:spPr>
          <a:xfrm>
            <a:off x="5669280" y="2304288"/>
            <a:ext cx="301752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Gateway-managed cron via the daemon, routing scheduled jobs to connected execution nodes.</a:t>
            </a:r>
            <a:endParaRPr lang="en-US" sz="850" dirty="0"/>
          </a:p>
        </p:txBody>
      </p:sp>
      <p:sp>
        <p:nvSpPr>
          <p:cNvPr id="18" name="Shape 16"/>
          <p:cNvSpPr/>
          <p:nvPr/>
        </p:nvSpPr>
        <p:spPr>
          <a:xfrm>
            <a:off x="365760" y="2752344"/>
            <a:ext cx="8412480" cy="438912"/>
          </a:xfrm>
          <a:prstGeom prst="rect">
            <a:avLst/>
          </a:prstGeom>
          <a:solidFill>
            <a:srgbClr val="FFFFFF"/>
          </a:solidFill>
          <a:ln w="6350">
            <a:solidFill>
              <a:srgbClr val="CADCFC">
                <a:alpha val="40000"/>
              </a:srgbClr>
            </a:solidFill>
            <a:prstDash val="solid"/>
          </a:ln>
        </p:spPr>
        <p:txBody>
          <a:bodyPr/>
          <a:lstStyle/>
          <a:p>
            <a:endParaRPr lang="en-AU"/>
          </a:p>
        </p:txBody>
      </p:sp>
      <p:sp>
        <p:nvSpPr>
          <p:cNvPr id="19" name="Text 17"/>
          <p:cNvSpPr/>
          <p:nvPr/>
        </p:nvSpPr>
        <p:spPr>
          <a:xfrm>
            <a:off x="457200" y="2779776"/>
            <a:ext cx="2011680" cy="38404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DSO Relevance</a:t>
            </a:r>
            <a:endParaRPr lang="en-US" sz="950" dirty="0"/>
          </a:p>
        </p:txBody>
      </p:sp>
      <p:sp>
        <p:nvSpPr>
          <p:cNvPr id="20" name="Text 18"/>
          <p:cNvSpPr/>
          <p:nvPr/>
        </p:nvSpPr>
        <p:spPr>
          <a:xfrm>
            <a:off x="2560320" y="2779776"/>
            <a:ext cx="301752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Spawn parallel sub-agents to compare model architectures, run hyperparameter searches, or test feature pipelines simultaneously. No external orchestrator needed.</a:t>
            </a:r>
            <a:endParaRPr lang="en-US" sz="850" dirty="0"/>
          </a:p>
        </p:txBody>
      </p:sp>
      <p:sp>
        <p:nvSpPr>
          <p:cNvPr id="21" name="Text 19"/>
          <p:cNvSpPr/>
          <p:nvPr/>
        </p:nvSpPr>
        <p:spPr>
          <a:xfrm>
            <a:off x="5669280" y="2779776"/>
            <a:ext cx="301752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Achievable but </a:t>
            </a:r>
            <a:r>
              <a:rPr lang="en-US" sz="850" b="1" dirty="0">
                <a:solidFill>
                  <a:srgbClr val="64748B"/>
                </a:solidFill>
                <a:latin typeface="Calibri" pitchFamily="34" charset="0"/>
                <a:ea typeface="Calibri" pitchFamily="34" charset="-122"/>
                <a:cs typeface="Calibri" pitchFamily="34" charset="-120"/>
              </a:rPr>
              <a:t>requires external orchestration </a:t>
            </a:r>
            <a:r>
              <a:rPr lang="en-US" sz="850" dirty="0">
                <a:solidFill>
                  <a:srgbClr val="64748B"/>
                </a:solidFill>
                <a:latin typeface="Calibri" pitchFamily="34" charset="0"/>
                <a:ea typeface="Calibri" pitchFamily="34" charset="-122"/>
                <a:cs typeface="Calibri" pitchFamily="34" charset="-120"/>
              </a:rPr>
              <a:t>(</a:t>
            </a:r>
            <a:r>
              <a:rPr lang="en-US" sz="850" dirty="0" err="1">
                <a:solidFill>
                  <a:srgbClr val="64748B"/>
                </a:solidFill>
                <a:latin typeface="Calibri" pitchFamily="34" charset="0"/>
                <a:ea typeface="Calibri" pitchFamily="34" charset="-122"/>
                <a:cs typeface="Calibri" pitchFamily="34" charset="-120"/>
              </a:rPr>
              <a:t>eg.</a:t>
            </a:r>
            <a:r>
              <a:rPr lang="en-US" sz="850" dirty="0">
                <a:solidFill>
                  <a:srgbClr val="64748B"/>
                </a:solidFill>
                <a:latin typeface="Calibri" pitchFamily="34" charset="0"/>
                <a:ea typeface="Calibri" pitchFamily="34" charset="-122"/>
                <a:cs typeface="Calibri" pitchFamily="34" charset="-120"/>
              </a:rPr>
              <a:t> Airflow, Prefect), adding </a:t>
            </a:r>
            <a:r>
              <a:rPr lang="en-US" sz="850" b="1" dirty="0">
                <a:solidFill>
                  <a:srgbClr val="64748B"/>
                </a:solidFill>
                <a:latin typeface="Calibri" pitchFamily="34" charset="0"/>
                <a:ea typeface="Calibri" pitchFamily="34" charset="-122"/>
                <a:cs typeface="Calibri" pitchFamily="34" charset="-120"/>
              </a:rPr>
              <a:t>infrastructure complexity </a:t>
            </a:r>
            <a:r>
              <a:rPr lang="en-US" sz="850" dirty="0">
                <a:solidFill>
                  <a:srgbClr val="64748B"/>
                </a:solidFill>
                <a:latin typeface="Calibri" pitchFamily="34" charset="0"/>
                <a:ea typeface="Calibri" pitchFamily="34" charset="-122"/>
                <a:cs typeface="Calibri" pitchFamily="34" charset="-120"/>
              </a:rPr>
              <a:t>and </a:t>
            </a:r>
            <a:r>
              <a:rPr lang="en-US" sz="850" b="1" dirty="0">
                <a:solidFill>
                  <a:srgbClr val="64748B"/>
                </a:solidFill>
                <a:latin typeface="Calibri" pitchFamily="34" charset="0"/>
                <a:ea typeface="Calibri" pitchFamily="34" charset="-122"/>
                <a:cs typeface="Calibri" pitchFamily="34" charset="-120"/>
              </a:rPr>
              <a:t>synchronisation overhead</a:t>
            </a:r>
            <a:r>
              <a:rPr lang="en-US" sz="850" dirty="0">
                <a:solidFill>
                  <a:srgbClr val="64748B"/>
                </a:solidFill>
                <a:latin typeface="Calibri" pitchFamily="34" charset="0"/>
                <a:ea typeface="Calibri" pitchFamily="34" charset="-122"/>
                <a:cs typeface="Calibri" pitchFamily="34" charset="-120"/>
              </a:rPr>
              <a:t>.</a:t>
            </a:r>
            <a:endParaRPr lang="en-US" sz="850" dirty="0"/>
          </a:p>
        </p:txBody>
      </p:sp>
      <p:sp>
        <p:nvSpPr>
          <p:cNvPr id="22" name="Text 20"/>
          <p:cNvSpPr/>
          <p:nvPr/>
        </p:nvSpPr>
        <p:spPr>
          <a:xfrm>
            <a:off x="2560320" y="1005840"/>
            <a:ext cx="3017520" cy="256032"/>
          </a:xfrm>
          <a:prstGeom prst="rect">
            <a:avLst/>
          </a:prstGeom>
          <a:solidFill>
            <a:schemeClr val="accent1">
              <a:lumMod val="75000"/>
            </a:schemeClr>
          </a:solidFill>
          <a:ln>
            <a:solidFill>
              <a:schemeClr val="accent1">
                <a:lumMod val="75000"/>
              </a:schemeClr>
            </a:solidFill>
          </a:ln>
        </p:spPr>
        <p:txBody>
          <a:bodyPr wrap="square" rtlCol="0" anchor="ctr"/>
          <a:lstStyle/>
          <a:p>
            <a:pPr marL="0" indent="0">
              <a:buNone/>
            </a:pPr>
            <a:r>
              <a:rPr lang="en-US" sz="1000" b="1" dirty="0">
                <a:solidFill>
                  <a:schemeClr val="bg1"/>
                </a:solidFill>
                <a:latin typeface="Calibri" pitchFamily="34" charset="0"/>
                <a:ea typeface="Calibri" pitchFamily="34" charset="-122"/>
                <a:cs typeface="Calibri" pitchFamily="34" charset="-120"/>
              </a:rPr>
              <a:t>Hermes Agent</a:t>
            </a:r>
            <a:endParaRPr lang="en-US" sz="1000" dirty="0">
              <a:solidFill>
                <a:schemeClr val="bg1"/>
              </a:solidFill>
            </a:endParaRPr>
          </a:p>
        </p:txBody>
      </p:sp>
      <p:sp>
        <p:nvSpPr>
          <p:cNvPr id="23" name="Text 21"/>
          <p:cNvSpPr/>
          <p:nvPr/>
        </p:nvSpPr>
        <p:spPr>
          <a:xfrm>
            <a:off x="5669280" y="1005840"/>
            <a:ext cx="3017520" cy="256032"/>
          </a:xfrm>
          <a:prstGeom prst="rect">
            <a:avLst/>
          </a:prstGeom>
          <a:solidFill>
            <a:srgbClr val="CADCFC"/>
          </a:solidFill>
          <a:ln/>
        </p:spPr>
        <p:txBody>
          <a:bodyPr wrap="square" rtlCol="0" anchor="ctr"/>
          <a:lstStyle/>
          <a:p>
            <a:pPr marL="0" indent="0">
              <a:buNone/>
            </a:pPr>
            <a:r>
              <a:rPr lang="en-US" sz="1000" b="1" dirty="0">
                <a:solidFill>
                  <a:srgbClr val="002060"/>
                </a:solidFill>
                <a:latin typeface="Calibri" pitchFamily="34" charset="0"/>
                <a:ea typeface="Calibri" pitchFamily="34" charset="-122"/>
                <a:cs typeface="Calibri" pitchFamily="34" charset="-120"/>
              </a:rPr>
              <a:t>OpenClaw</a:t>
            </a:r>
            <a:endParaRPr lang="en-US" sz="1000" dirty="0">
              <a:solidFill>
                <a:srgbClr val="002060"/>
              </a:solidFill>
            </a:endParaRPr>
          </a:p>
        </p:txBody>
      </p:sp>
      <p:sp>
        <p:nvSpPr>
          <p:cNvPr id="24" name="Text 22"/>
          <p:cNvSpPr/>
          <p:nvPr/>
        </p:nvSpPr>
        <p:spPr>
          <a:xfrm>
            <a:off x="457200" y="3291840"/>
            <a:ext cx="8229600" cy="256032"/>
          </a:xfrm>
          <a:prstGeom prst="rect">
            <a:avLst/>
          </a:prstGeom>
          <a:noFill/>
          <a:ln/>
        </p:spPr>
        <p:txBody>
          <a:bodyPr wrap="square"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Messaging Platform Support</a:t>
            </a:r>
            <a:endParaRPr lang="en-US" sz="1100" dirty="0"/>
          </a:p>
        </p:txBody>
      </p:sp>
      <p:sp>
        <p:nvSpPr>
          <p:cNvPr id="25" name="Shape 23"/>
          <p:cNvSpPr/>
          <p:nvPr/>
        </p:nvSpPr>
        <p:spPr>
          <a:xfrm>
            <a:off x="365760" y="3547872"/>
            <a:ext cx="2834640" cy="237744"/>
          </a:xfrm>
          <a:prstGeom prst="rect">
            <a:avLst/>
          </a:prstGeom>
          <a:solidFill>
            <a:srgbClr val="1E2761"/>
          </a:solidFill>
          <a:ln w="12700">
            <a:solidFill>
              <a:srgbClr val="1E2761"/>
            </a:solidFill>
            <a:prstDash val="solid"/>
          </a:ln>
        </p:spPr>
        <p:txBody>
          <a:bodyPr/>
          <a:lstStyle/>
          <a:p>
            <a:endParaRPr lang="en-AU"/>
          </a:p>
        </p:txBody>
      </p:sp>
      <p:sp>
        <p:nvSpPr>
          <p:cNvPr id="26" name="Text 24"/>
          <p:cNvSpPr/>
          <p:nvPr/>
        </p:nvSpPr>
        <p:spPr>
          <a:xfrm>
            <a:off x="438912" y="3547872"/>
            <a:ext cx="2743200" cy="23774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Platform</a:t>
            </a:r>
            <a:endParaRPr lang="en-US" sz="900" dirty="0"/>
          </a:p>
        </p:txBody>
      </p:sp>
      <p:sp>
        <p:nvSpPr>
          <p:cNvPr id="27" name="Shape 25"/>
          <p:cNvSpPr/>
          <p:nvPr/>
        </p:nvSpPr>
        <p:spPr>
          <a:xfrm>
            <a:off x="3246120" y="3547872"/>
            <a:ext cx="3108960" cy="237744"/>
          </a:xfrm>
          <a:prstGeom prst="rect">
            <a:avLst/>
          </a:prstGeom>
          <a:solidFill>
            <a:schemeClr val="accent1">
              <a:lumMod val="75000"/>
            </a:schemeClr>
          </a:solidFill>
          <a:ln w="12700">
            <a:solidFill>
              <a:schemeClr val="accent1">
                <a:lumMod val="75000"/>
              </a:schemeClr>
            </a:solidFill>
            <a:prstDash val="solid"/>
          </a:ln>
        </p:spPr>
        <p:txBody>
          <a:bodyPr/>
          <a:lstStyle/>
          <a:p>
            <a:endParaRPr lang="en-AU"/>
          </a:p>
        </p:txBody>
      </p:sp>
      <p:sp>
        <p:nvSpPr>
          <p:cNvPr id="28" name="Text 26"/>
          <p:cNvSpPr/>
          <p:nvPr/>
        </p:nvSpPr>
        <p:spPr>
          <a:xfrm>
            <a:off x="3319272" y="3547872"/>
            <a:ext cx="3017520" cy="23774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Hermes Agent</a:t>
            </a:r>
            <a:endParaRPr lang="en-US" sz="900" dirty="0"/>
          </a:p>
        </p:txBody>
      </p:sp>
      <p:sp>
        <p:nvSpPr>
          <p:cNvPr id="29" name="Shape 27"/>
          <p:cNvSpPr/>
          <p:nvPr/>
        </p:nvSpPr>
        <p:spPr>
          <a:xfrm>
            <a:off x="6400800" y="3547872"/>
            <a:ext cx="2651760" cy="237744"/>
          </a:xfrm>
          <a:prstGeom prst="rect">
            <a:avLst/>
          </a:prstGeom>
          <a:solidFill>
            <a:srgbClr val="CADCFC"/>
          </a:solidFill>
          <a:ln w="12700">
            <a:solidFill>
              <a:srgbClr val="CADCFC"/>
            </a:solidFill>
            <a:prstDash val="solid"/>
          </a:ln>
        </p:spPr>
        <p:txBody>
          <a:bodyPr/>
          <a:lstStyle/>
          <a:p>
            <a:endParaRPr lang="en-AU"/>
          </a:p>
        </p:txBody>
      </p:sp>
      <p:sp>
        <p:nvSpPr>
          <p:cNvPr id="30" name="Text 28"/>
          <p:cNvSpPr/>
          <p:nvPr/>
        </p:nvSpPr>
        <p:spPr>
          <a:xfrm>
            <a:off x="6473952" y="3547872"/>
            <a:ext cx="2560320" cy="237744"/>
          </a:xfrm>
          <a:prstGeom prst="rect">
            <a:avLst/>
          </a:prstGeom>
          <a:noFill/>
          <a:ln/>
        </p:spPr>
        <p:txBody>
          <a:bodyPr wrap="square"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OpenClaw</a:t>
            </a:r>
            <a:endParaRPr lang="en-US" sz="900" dirty="0"/>
          </a:p>
        </p:txBody>
      </p:sp>
      <p:sp>
        <p:nvSpPr>
          <p:cNvPr id="31" name="Shape 29"/>
          <p:cNvSpPr/>
          <p:nvPr/>
        </p:nvSpPr>
        <p:spPr>
          <a:xfrm>
            <a:off x="365760" y="3803904"/>
            <a:ext cx="283464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32" name="Text 30"/>
          <p:cNvSpPr/>
          <p:nvPr/>
        </p:nvSpPr>
        <p:spPr>
          <a:xfrm>
            <a:off x="438912" y="3813048"/>
            <a:ext cx="2743200" cy="14630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CLI / API</a:t>
            </a:r>
            <a:endParaRPr lang="en-US" sz="800" dirty="0"/>
          </a:p>
        </p:txBody>
      </p:sp>
      <p:sp>
        <p:nvSpPr>
          <p:cNvPr id="33" name="Shape 31"/>
          <p:cNvSpPr/>
          <p:nvPr/>
        </p:nvSpPr>
        <p:spPr>
          <a:xfrm>
            <a:off x="3246120" y="3803904"/>
            <a:ext cx="310896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34" name="Text 32"/>
          <p:cNvSpPr/>
          <p:nvPr/>
        </p:nvSpPr>
        <p:spPr>
          <a:xfrm>
            <a:off x="3319272" y="3813048"/>
            <a:ext cx="30175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6400800" y="3803904"/>
            <a:ext cx="265176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36" name="Text 34"/>
          <p:cNvSpPr/>
          <p:nvPr/>
        </p:nvSpPr>
        <p:spPr>
          <a:xfrm>
            <a:off x="6473952" y="3813048"/>
            <a:ext cx="25603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t>
            </a:r>
            <a:endParaRPr lang="en-US" sz="800" dirty="0"/>
          </a:p>
        </p:txBody>
      </p:sp>
      <p:sp>
        <p:nvSpPr>
          <p:cNvPr id="37" name="Shape 35"/>
          <p:cNvSpPr/>
          <p:nvPr/>
        </p:nvSpPr>
        <p:spPr>
          <a:xfrm>
            <a:off x="365760" y="3977640"/>
            <a:ext cx="283464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38" name="Text 36"/>
          <p:cNvSpPr/>
          <p:nvPr/>
        </p:nvSpPr>
        <p:spPr>
          <a:xfrm>
            <a:off x="438912" y="3986784"/>
            <a:ext cx="2743200" cy="14630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Telegram / Discord / Slack</a:t>
            </a:r>
            <a:endParaRPr lang="en-US" sz="800" dirty="0"/>
          </a:p>
        </p:txBody>
      </p:sp>
      <p:sp>
        <p:nvSpPr>
          <p:cNvPr id="39" name="Shape 37"/>
          <p:cNvSpPr/>
          <p:nvPr/>
        </p:nvSpPr>
        <p:spPr>
          <a:xfrm>
            <a:off x="3246120" y="3977640"/>
            <a:ext cx="310896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40" name="Text 38"/>
          <p:cNvSpPr/>
          <p:nvPr/>
        </p:nvSpPr>
        <p:spPr>
          <a:xfrm>
            <a:off x="3319272" y="3986784"/>
            <a:ext cx="30175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Native</a:t>
            </a:r>
            <a:endParaRPr lang="en-US" sz="800" dirty="0"/>
          </a:p>
        </p:txBody>
      </p:sp>
      <p:sp>
        <p:nvSpPr>
          <p:cNvPr id="41" name="Shape 39"/>
          <p:cNvSpPr/>
          <p:nvPr/>
        </p:nvSpPr>
        <p:spPr>
          <a:xfrm>
            <a:off x="6400800" y="3977640"/>
            <a:ext cx="265176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42" name="Text 40"/>
          <p:cNvSpPr/>
          <p:nvPr/>
        </p:nvSpPr>
        <p:spPr>
          <a:xfrm>
            <a:off x="6473952" y="3986784"/>
            <a:ext cx="25603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Native</a:t>
            </a:r>
            <a:endParaRPr lang="en-US" sz="800" dirty="0"/>
          </a:p>
        </p:txBody>
      </p:sp>
      <p:sp>
        <p:nvSpPr>
          <p:cNvPr id="43" name="Shape 41"/>
          <p:cNvSpPr/>
          <p:nvPr/>
        </p:nvSpPr>
        <p:spPr>
          <a:xfrm>
            <a:off x="365760" y="4151376"/>
            <a:ext cx="283464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44" name="Text 42"/>
          <p:cNvSpPr/>
          <p:nvPr/>
        </p:nvSpPr>
        <p:spPr>
          <a:xfrm>
            <a:off x="438912" y="4160520"/>
            <a:ext cx="2743200" cy="14630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Microsoft Teams</a:t>
            </a:r>
            <a:endParaRPr lang="en-US" sz="800" dirty="0"/>
          </a:p>
        </p:txBody>
      </p:sp>
      <p:sp>
        <p:nvSpPr>
          <p:cNvPr id="45" name="Shape 43"/>
          <p:cNvSpPr/>
          <p:nvPr/>
        </p:nvSpPr>
        <p:spPr>
          <a:xfrm>
            <a:off x="3246120" y="4151376"/>
            <a:ext cx="310896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46" name="Text 44"/>
          <p:cNvSpPr/>
          <p:nvPr/>
        </p:nvSpPr>
        <p:spPr>
          <a:xfrm>
            <a:off x="3319272" y="4160520"/>
            <a:ext cx="30175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Native (v0.12+)</a:t>
            </a:r>
            <a:endParaRPr lang="en-US" sz="800" dirty="0"/>
          </a:p>
        </p:txBody>
      </p:sp>
      <p:sp>
        <p:nvSpPr>
          <p:cNvPr id="47" name="Shape 45"/>
          <p:cNvSpPr/>
          <p:nvPr/>
        </p:nvSpPr>
        <p:spPr>
          <a:xfrm>
            <a:off x="6400800" y="4151376"/>
            <a:ext cx="265176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48" name="Text 46"/>
          <p:cNvSpPr/>
          <p:nvPr/>
        </p:nvSpPr>
        <p:spPr>
          <a:xfrm>
            <a:off x="6473952" y="4160520"/>
            <a:ext cx="25603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Bundled Plugin</a:t>
            </a:r>
            <a:endParaRPr lang="en-US" sz="800" dirty="0"/>
          </a:p>
        </p:txBody>
      </p:sp>
      <p:sp>
        <p:nvSpPr>
          <p:cNvPr id="49" name="Shape 47"/>
          <p:cNvSpPr/>
          <p:nvPr/>
        </p:nvSpPr>
        <p:spPr>
          <a:xfrm>
            <a:off x="365760" y="4325112"/>
            <a:ext cx="283464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50" name="Text 48"/>
          <p:cNvSpPr/>
          <p:nvPr/>
        </p:nvSpPr>
        <p:spPr>
          <a:xfrm>
            <a:off x="438912" y="4334256"/>
            <a:ext cx="2743200" cy="14630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WhatsApp / Signal</a:t>
            </a:r>
            <a:endParaRPr lang="en-US" sz="800" dirty="0"/>
          </a:p>
        </p:txBody>
      </p:sp>
      <p:sp>
        <p:nvSpPr>
          <p:cNvPr id="51" name="Shape 49"/>
          <p:cNvSpPr/>
          <p:nvPr/>
        </p:nvSpPr>
        <p:spPr>
          <a:xfrm>
            <a:off x="3246120" y="4325112"/>
            <a:ext cx="310896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52" name="Text 50"/>
          <p:cNvSpPr/>
          <p:nvPr/>
        </p:nvSpPr>
        <p:spPr>
          <a:xfrm>
            <a:off x="3319272" y="4334256"/>
            <a:ext cx="30175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Native gateway</a:t>
            </a:r>
            <a:endParaRPr lang="en-US" sz="800" dirty="0"/>
          </a:p>
        </p:txBody>
      </p:sp>
      <p:sp>
        <p:nvSpPr>
          <p:cNvPr id="53" name="Shape 51"/>
          <p:cNvSpPr/>
          <p:nvPr/>
        </p:nvSpPr>
        <p:spPr>
          <a:xfrm>
            <a:off x="6400800" y="4325112"/>
            <a:ext cx="265176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54" name="Text 52"/>
          <p:cNvSpPr/>
          <p:nvPr/>
        </p:nvSpPr>
        <p:spPr>
          <a:xfrm>
            <a:off x="6473952" y="4334256"/>
            <a:ext cx="25603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Built-in / signal-cli bridge</a:t>
            </a:r>
            <a:endParaRPr lang="en-US" sz="800" dirty="0"/>
          </a:p>
        </p:txBody>
      </p:sp>
      <p:sp>
        <p:nvSpPr>
          <p:cNvPr id="55" name="Shape 53"/>
          <p:cNvSpPr/>
          <p:nvPr/>
        </p:nvSpPr>
        <p:spPr>
          <a:xfrm>
            <a:off x="365760" y="4498848"/>
            <a:ext cx="283464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56" name="Text 54"/>
          <p:cNvSpPr/>
          <p:nvPr/>
        </p:nvSpPr>
        <p:spPr>
          <a:xfrm>
            <a:off x="438912" y="4507992"/>
            <a:ext cx="2743200" cy="14630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LINE / WeChat</a:t>
            </a:r>
            <a:endParaRPr lang="en-US" sz="800" dirty="0"/>
          </a:p>
        </p:txBody>
      </p:sp>
      <p:sp>
        <p:nvSpPr>
          <p:cNvPr id="57" name="Shape 55"/>
          <p:cNvSpPr/>
          <p:nvPr/>
        </p:nvSpPr>
        <p:spPr>
          <a:xfrm>
            <a:off x="3246120" y="4498848"/>
            <a:ext cx="310896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58" name="Text 56"/>
          <p:cNvSpPr/>
          <p:nvPr/>
        </p:nvSpPr>
        <p:spPr>
          <a:xfrm>
            <a:off x="3319272" y="4507992"/>
            <a:ext cx="30175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Native (v0.9–0.14+)</a:t>
            </a:r>
            <a:endParaRPr lang="en-US" sz="800" dirty="0"/>
          </a:p>
        </p:txBody>
      </p:sp>
      <p:sp>
        <p:nvSpPr>
          <p:cNvPr id="59" name="Shape 57"/>
          <p:cNvSpPr/>
          <p:nvPr/>
        </p:nvSpPr>
        <p:spPr>
          <a:xfrm>
            <a:off x="6400800" y="4498848"/>
            <a:ext cx="2651760" cy="164592"/>
          </a:xfrm>
          <a:prstGeom prst="rect">
            <a:avLst/>
          </a:prstGeom>
          <a:solidFill>
            <a:srgbClr val="F8FAFF"/>
          </a:solidFill>
          <a:ln w="6350">
            <a:solidFill>
              <a:srgbClr val="CADCFC">
                <a:alpha val="20000"/>
              </a:srgbClr>
            </a:solidFill>
            <a:prstDash val="solid"/>
          </a:ln>
        </p:spPr>
        <p:txBody>
          <a:bodyPr/>
          <a:lstStyle/>
          <a:p>
            <a:endParaRPr lang="en-AU"/>
          </a:p>
        </p:txBody>
      </p:sp>
      <p:sp>
        <p:nvSpPr>
          <p:cNvPr id="60" name="Text 58"/>
          <p:cNvSpPr/>
          <p:nvPr/>
        </p:nvSpPr>
        <p:spPr>
          <a:xfrm>
            <a:off x="6473952" y="4507992"/>
            <a:ext cx="25603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LINE: bundled plugin; WeChat: 3rd party</a:t>
            </a:r>
            <a:endParaRPr lang="en-US" sz="800" dirty="0"/>
          </a:p>
        </p:txBody>
      </p:sp>
      <p:sp>
        <p:nvSpPr>
          <p:cNvPr id="61" name="Shape 59"/>
          <p:cNvSpPr/>
          <p:nvPr/>
        </p:nvSpPr>
        <p:spPr>
          <a:xfrm>
            <a:off x="365760" y="4672584"/>
            <a:ext cx="283464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62" name="Text 60"/>
          <p:cNvSpPr/>
          <p:nvPr/>
        </p:nvSpPr>
        <p:spPr>
          <a:xfrm>
            <a:off x="438912" y="4681728"/>
            <a:ext cx="2743200" cy="146304"/>
          </a:xfrm>
          <a:prstGeom prst="rect">
            <a:avLst/>
          </a:prstGeom>
          <a:noFill/>
          <a:ln/>
        </p:spPr>
        <p:txBody>
          <a:bodyPr wrap="square"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Email (Outlook/Gmail)</a:t>
            </a:r>
            <a:endParaRPr lang="en-US" sz="800" dirty="0"/>
          </a:p>
        </p:txBody>
      </p:sp>
      <p:sp>
        <p:nvSpPr>
          <p:cNvPr id="63" name="Shape 61"/>
          <p:cNvSpPr/>
          <p:nvPr/>
        </p:nvSpPr>
        <p:spPr>
          <a:xfrm>
            <a:off x="3246120" y="4672584"/>
            <a:ext cx="310896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64" name="Text 62"/>
          <p:cNvSpPr/>
          <p:nvPr/>
        </p:nvSpPr>
        <p:spPr>
          <a:xfrm>
            <a:off x="3319272" y="4681728"/>
            <a:ext cx="30175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Universal IMAP/SMTP abstraction</a:t>
            </a:r>
            <a:endParaRPr lang="en-US" sz="800" dirty="0"/>
          </a:p>
        </p:txBody>
      </p:sp>
      <p:sp>
        <p:nvSpPr>
          <p:cNvPr id="65" name="Shape 63"/>
          <p:cNvSpPr/>
          <p:nvPr/>
        </p:nvSpPr>
        <p:spPr>
          <a:xfrm>
            <a:off x="6400800" y="4672584"/>
            <a:ext cx="2651760" cy="164592"/>
          </a:xfrm>
          <a:prstGeom prst="rect">
            <a:avLst/>
          </a:prstGeom>
          <a:solidFill>
            <a:srgbClr val="FFFFFF"/>
          </a:solidFill>
          <a:ln w="6350">
            <a:solidFill>
              <a:srgbClr val="CADCFC">
                <a:alpha val="20000"/>
              </a:srgbClr>
            </a:solidFill>
            <a:prstDash val="solid"/>
          </a:ln>
        </p:spPr>
        <p:txBody>
          <a:bodyPr/>
          <a:lstStyle/>
          <a:p>
            <a:endParaRPr lang="en-AU"/>
          </a:p>
        </p:txBody>
      </p:sp>
      <p:sp>
        <p:nvSpPr>
          <p:cNvPr id="66" name="Text 64"/>
          <p:cNvSpPr/>
          <p:nvPr/>
        </p:nvSpPr>
        <p:spPr>
          <a:xfrm>
            <a:off x="6473952" y="4681728"/>
            <a:ext cx="2560320" cy="146304"/>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Skill/tool-based, not a native gateway channel</a:t>
            </a:r>
            <a:endParaRPr lang="en-US" sz="800" dirty="0"/>
          </a:p>
        </p:txBody>
      </p:sp>
      <p:sp>
        <p:nvSpPr>
          <p:cNvPr id="67" name="Shape 65"/>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68" name="Text 66"/>
          <p:cNvSpPr/>
          <p:nvPr/>
        </p:nvSpPr>
        <p:spPr>
          <a:xfrm>
            <a:off x="330200" y="4884759"/>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4.9  MCP Support &amp; Credential Handling</a:t>
            </a:r>
            <a:endParaRPr lang="en-US" sz="26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How sensitive credentials are managed when agents interact with external tools and services</a:t>
            </a:r>
            <a:endParaRPr lang="en-US" sz="1200" dirty="0"/>
          </a:p>
        </p:txBody>
      </p:sp>
      <p:sp>
        <p:nvSpPr>
          <p:cNvPr id="5" name="Shape 3"/>
          <p:cNvSpPr/>
          <p:nvPr/>
        </p:nvSpPr>
        <p:spPr>
          <a:xfrm>
            <a:off x="365760" y="1005840"/>
            <a:ext cx="4114800" cy="347472"/>
          </a:xfrm>
          <a:prstGeom prst="rect">
            <a:avLst/>
          </a:prstGeom>
          <a:solidFill>
            <a:schemeClr val="accent1">
              <a:lumMod val="75000"/>
            </a:schemeClr>
          </a:solidFill>
          <a:ln w="12700">
            <a:solidFill>
              <a:schemeClr val="accent1">
                <a:lumMod val="75000"/>
              </a:schemeClr>
            </a:solidFill>
            <a:prstDash val="solid"/>
          </a:ln>
        </p:spPr>
        <p:txBody>
          <a:bodyPr/>
          <a:lstStyle/>
          <a:p>
            <a:endParaRPr lang="en-AU"/>
          </a:p>
        </p:txBody>
      </p:sp>
      <p:sp>
        <p:nvSpPr>
          <p:cNvPr id="6" name="Text 4"/>
          <p:cNvSpPr/>
          <p:nvPr/>
        </p:nvSpPr>
        <p:spPr>
          <a:xfrm>
            <a:off x="457200" y="1005840"/>
            <a:ext cx="3931920" cy="347472"/>
          </a:xfrm>
          <a:prstGeom prst="rect">
            <a:avLst/>
          </a:prstGeom>
          <a:solidFill>
            <a:schemeClr val="accent1">
              <a:lumMod val="75000"/>
            </a:schemeClr>
          </a:solidFill>
          <a:ln>
            <a:solidFill>
              <a:schemeClr val="accent1">
                <a:lumMod val="75000"/>
              </a:schemeClr>
            </a:solid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Hermes Agent: Subprocess-Level Isolation</a:t>
            </a:r>
            <a:endParaRPr lang="en-US" sz="1200" dirty="0"/>
          </a:p>
        </p:txBody>
      </p:sp>
      <p:sp>
        <p:nvSpPr>
          <p:cNvPr id="7" name="Shape 5"/>
          <p:cNvSpPr/>
          <p:nvPr/>
        </p:nvSpPr>
        <p:spPr>
          <a:xfrm>
            <a:off x="365760" y="1417320"/>
            <a:ext cx="4114800" cy="603504"/>
          </a:xfrm>
          <a:prstGeom prst="rect">
            <a:avLst/>
          </a:prstGeom>
          <a:solidFill>
            <a:srgbClr val="F8FAFF"/>
          </a:solidFill>
          <a:ln w="6350">
            <a:solidFill>
              <a:srgbClr val="CADCFC">
                <a:alpha val="50000"/>
              </a:srgbClr>
            </a:solidFill>
            <a:prstDash val="solid"/>
          </a:ln>
        </p:spPr>
        <p:txBody>
          <a:bodyPr/>
          <a:lstStyle/>
          <a:p>
            <a:endParaRPr lang="en-AU"/>
          </a:p>
        </p:txBody>
      </p:sp>
      <p:sp>
        <p:nvSpPr>
          <p:cNvPr id="8" name="Shape 6"/>
          <p:cNvSpPr/>
          <p:nvPr/>
        </p:nvSpPr>
        <p:spPr>
          <a:xfrm>
            <a:off x="365760" y="1417320"/>
            <a:ext cx="54864" cy="603504"/>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9" name="Text 7"/>
          <p:cNvSpPr/>
          <p:nvPr/>
        </p:nvSpPr>
        <p:spPr>
          <a:xfrm>
            <a:off x="502920" y="1453896"/>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Allowlist-Only Env Variables</a:t>
            </a:r>
            <a:endParaRPr lang="en-US" sz="1000" dirty="0"/>
          </a:p>
        </p:txBody>
      </p:sp>
      <p:sp>
        <p:nvSpPr>
          <p:cNvPr id="10" name="Text 8"/>
          <p:cNvSpPr/>
          <p:nvPr/>
        </p:nvSpPr>
        <p:spPr>
          <a:xfrm>
            <a:off x="502920" y="1673352"/>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Each subprocess </a:t>
            </a:r>
            <a:r>
              <a:rPr lang="en-US" sz="850" b="1" dirty="0">
                <a:solidFill>
                  <a:srgbClr val="64748B"/>
                </a:solidFill>
                <a:latin typeface="Calibri" pitchFamily="34" charset="0"/>
                <a:ea typeface="Calibri" pitchFamily="34" charset="-122"/>
                <a:cs typeface="Calibri" pitchFamily="34" charset="-120"/>
              </a:rPr>
              <a:t>receives only explicitly approved environment variables </a:t>
            </a:r>
            <a:r>
              <a:rPr lang="en-US" sz="850" dirty="0">
                <a:solidFill>
                  <a:srgbClr val="64748B"/>
                </a:solidFill>
                <a:latin typeface="Calibri" pitchFamily="34" charset="0"/>
                <a:ea typeface="Calibri" pitchFamily="34" charset="-122"/>
                <a:cs typeface="Calibri" pitchFamily="34" charset="-120"/>
              </a:rPr>
              <a:t>so there is no credential bleed between concurrent or sequential tasks.</a:t>
            </a:r>
            <a:endParaRPr lang="en-US" sz="850" dirty="0"/>
          </a:p>
        </p:txBody>
      </p:sp>
      <p:sp>
        <p:nvSpPr>
          <p:cNvPr id="11" name="Shape 9"/>
          <p:cNvSpPr/>
          <p:nvPr/>
        </p:nvSpPr>
        <p:spPr>
          <a:xfrm>
            <a:off x="365760" y="2075688"/>
            <a:ext cx="4114800" cy="603504"/>
          </a:xfrm>
          <a:prstGeom prst="rect">
            <a:avLst/>
          </a:prstGeom>
          <a:solidFill>
            <a:srgbClr val="FFFFFF"/>
          </a:solidFill>
          <a:ln w="6350">
            <a:solidFill>
              <a:srgbClr val="CADCFC">
                <a:alpha val="50000"/>
              </a:srgbClr>
            </a:solidFill>
            <a:prstDash val="solid"/>
          </a:ln>
        </p:spPr>
        <p:txBody>
          <a:bodyPr/>
          <a:lstStyle/>
          <a:p>
            <a:endParaRPr lang="en-AU"/>
          </a:p>
        </p:txBody>
      </p:sp>
      <p:sp>
        <p:nvSpPr>
          <p:cNvPr id="12" name="Shape 10"/>
          <p:cNvSpPr/>
          <p:nvPr/>
        </p:nvSpPr>
        <p:spPr>
          <a:xfrm>
            <a:off x="365760" y="2075688"/>
            <a:ext cx="54864" cy="603504"/>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13" name="Text 11"/>
          <p:cNvSpPr/>
          <p:nvPr/>
        </p:nvSpPr>
        <p:spPr>
          <a:xfrm>
            <a:off x="502920" y="2112264"/>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Read-Only Secret Mounting</a:t>
            </a:r>
            <a:endParaRPr lang="en-US" sz="1000" dirty="0"/>
          </a:p>
        </p:txBody>
      </p:sp>
      <p:sp>
        <p:nvSpPr>
          <p:cNvPr id="14" name="Text 12"/>
          <p:cNvSpPr/>
          <p:nvPr/>
        </p:nvSpPr>
        <p:spPr>
          <a:xfrm>
            <a:off x="502920" y="2331720"/>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 Docker deployments, credentials are mounted </a:t>
            </a:r>
            <a:r>
              <a:rPr lang="en-US" sz="850" b="1" dirty="0">
                <a:solidFill>
                  <a:srgbClr val="64748B"/>
                </a:solidFill>
                <a:latin typeface="Calibri" pitchFamily="34" charset="0"/>
                <a:ea typeface="Calibri" pitchFamily="34" charset="-122"/>
                <a:cs typeface="Calibri" pitchFamily="34" charset="-120"/>
              </a:rPr>
              <a:t>read-only</a:t>
            </a:r>
            <a:r>
              <a:rPr lang="en-US" sz="850" dirty="0">
                <a:solidFill>
                  <a:srgbClr val="64748B"/>
                </a:solidFill>
                <a:latin typeface="Calibri" pitchFamily="34" charset="0"/>
                <a:ea typeface="Calibri" pitchFamily="34" charset="-122"/>
                <a:cs typeface="Calibri" pitchFamily="34" charset="-120"/>
              </a:rPr>
              <a:t>, preventing modification, persistence, or exfiltration from within the execution layer.</a:t>
            </a:r>
            <a:endParaRPr lang="en-US" sz="850" dirty="0"/>
          </a:p>
        </p:txBody>
      </p:sp>
      <p:sp>
        <p:nvSpPr>
          <p:cNvPr id="15" name="Shape 13"/>
          <p:cNvSpPr/>
          <p:nvPr/>
        </p:nvSpPr>
        <p:spPr>
          <a:xfrm>
            <a:off x="365760" y="2734056"/>
            <a:ext cx="4114800" cy="603504"/>
          </a:xfrm>
          <a:prstGeom prst="rect">
            <a:avLst/>
          </a:prstGeom>
          <a:solidFill>
            <a:srgbClr val="F8FAFF"/>
          </a:solidFill>
          <a:ln w="6350">
            <a:solidFill>
              <a:srgbClr val="CADCFC">
                <a:alpha val="50000"/>
              </a:srgbClr>
            </a:solidFill>
            <a:prstDash val="solid"/>
          </a:ln>
        </p:spPr>
        <p:txBody>
          <a:bodyPr/>
          <a:lstStyle/>
          <a:p>
            <a:endParaRPr lang="en-AU"/>
          </a:p>
        </p:txBody>
      </p:sp>
      <p:sp>
        <p:nvSpPr>
          <p:cNvPr id="16" name="Shape 14"/>
          <p:cNvSpPr/>
          <p:nvPr/>
        </p:nvSpPr>
        <p:spPr>
          <a:xfrm>
            <a:off x="365760" y="2734056"/>
            <a:ext cx="54864" cy="603504"/>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17" name="Text 15"/>
          <p:cNvSpPr/>
          <p:nvPr/>
        </p:nvSpPr>
        <p:spPr>
          <a:xfrm>
            <a:off x="502920" y="2770632"/>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Automated Output Sanitisation</a:t>
            </a:r>
            <a:endParaRPr lang="en-US" sz="1000" dirty="0"/>
          </a:p>
        </p:txBody>
      </p:sp>
      <p:sp>
        <p:nvSpPr>
          <p:cNvPr id="18" name="Text 16"/>
          <p:cNvSpPr/>
          <p:nvPr/>
        </p:nvSpPr>
        <p:spPr>
          <a:xfrm>
            <a:off x="502920" y="2990088"/>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All runtime logs, error traces, and debug outputs are </a:t>
            </a:r>
            <a:r>
              <a:rPr lang="en-US" sz="850" b="1" dirty="0">
                <a:solidFill>
                  <a:srgbClr val="64748B"/>
                </a:solidFill>
                <a:latin typeface="Calibri" pitchFamily="34" charset="0"/>
                <a:ea typeface="Calibri" pitchFamily="34" charset="-122"/>
                <a:cs typeface="Calibri" pitchFamily="34" charset="-120"/>
              </a:rPr>
              <a:t>filtered to remove </a:t>
            </a:r>
            <a:r>
              <a:rPr lang="en-US" sz="850" dirty="0">
                <a:solidFill>
                  <a:srgbClr val="64748B"/>
                </a:solidFill>
                <a:latin typeface="Calibri" pitchFamily="34" charset="0"/>
                <a:ea typeface="Calibri" pitchFamily="34" charset="-122"/>
                <a:cs typeface="Calibri" pitchFamily="34" charset="-120"/>
              </a:rPr>
              <a:t>API keys, GitHub PATs, bearer tokens, and any values matching patterns like token, key, password, or secret.</a:t>
            </a:r>
            <a:endParaRPr lang="en-US" sz="850" dirty="0"/>
          </a:p>
        </p:txBody>
      </p:sp>
      <p:sp>
        <p:nvSpPr>
          <p:cNvPr id="19" name="Shape 17"/>
          <p:cNvSpPr/>
          <p:nvPr/>
        </p:nvSpPr>
        <p:spPr>
          <a:xfrm>
            <a:off x="365760" y="3392424"/>
            <a:ext cx="4114800" cy="603504"/>
          </a:xfrm>
          <a:prstGeom prst="rect">
            <a:avLst/>
          </a:prstGeom>
          <a:solidFill>
            <a:srgbClr val="FFFFFF"/>
          </a:solidFill>
          <a:ln w="6350">
            <a:solidFill>
              <a:srgbClr val="CADCFC">
                <a:alpha val="50000"/>
              </a:srgbClr>
            </a:solidFill>
            <a:prstDash val="solid"/>
          </a:ln>
        </p:spPr>
        <p:txBody>
          <a:bodyPr/>
          <a:lstStyle/>
          <a:p>
            <a:endParaRPr lang="en-AU"/>
          </a:p>
        </p:txBody>
      </p:sp>
      <p:sp>
        <p:nvSpPr>
          <p:cNvPr id="20" name="Shape 18"/>
          <p:cNvSpPr/>
          <p:nvPr/>
        </p:nvSpPr>
        <p:spPr>
          <a:xfrm>
            <a:off x="365760" y="3392424"/>
            <a:ext cx="54864" cy="603504"/>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21" name="Text 19"/>
          <p:cNvSpPr/>
          <p:nvPr/>
        </p:nvSpPr>
        <p:spPr>
          <a:xfrm>
            <a:off x="502920" y="3429000"/>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Structural Guarantee</a:t>
            </a:r>
            <a:endParaRPr lang="en-US" sz="1000" dirty="0"/>
          </a:p>
        </p:txBody>
      </p:sp>
      <p:sp>
        <p:nvSpPr>
          <p:cNvPr id="22" name="Text 20"/>
          <p:cNvSpPr/>
          <p:nvPr/>
        </p:nvSpPr>
        <p:spPr>
          <a:xfrm>
            <a:off x="502920" y="3648456"/>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Credential safety is </a:t>
            </a:r>
            <a:r>
              <a:rPr lang="en-US" sz="850" b="1" dirty="0">
                <a:solidFill>
                  <a:srgbClr val="64748B"/>
                </a:solidFill>
                <a:latin typeface="Calibri" pitchFamily="34" charset="0"/>
                <a:ea typeface="Calibri" pitchFamily="34" charset="-122"/>
                <a:cs typeface="Calibri" pitchFamily="34" charset="-120"/>
              </a:rPr>
              <a:t>enforced by runtime isolation </a:t>
            </a:r>
            <a:r>
              <a:rPr lang="en-US" sz="850" dirty="0">
                <a:solidFill>
                  <a:srgbClr val="64748B"/>
                </a:solidFill>
                <a:latin typeface="Calibri" pitchFamily="34" charset="0"/>
                <a:ea typeface="Calibri" pitchFamily="34" charset="-122"/>
                <a:cs typeface="Calibri" pitchFamily="34" charset="-120"/>
              </a:rPr>
              <a:t>and is not dependent on operator discipline, config templates, or external secret management systems.</a:t>
            </a:r>
            <a:endParaRPr lang="en-US" sz="850" dirty="0"/>
          </a:p>
        </p:txBody>
      </p:sp>
      <p:sp>
        <p:nvSpPr>
          <p:cNvPr id="23" name="Shape 21"/>
          <p:cNvSpPr/>
          <p:nvPr/>
        </p:nvSpPr>
        <p:spPr>
          <a:xfrm>
            <a:off x="365760" y="4050792"/>
            <a:ext cx="4114800" cy="603504"/>
          </a:xfrm>
          <a:prstGeom prst="rect">
            <a:avLst/>
          </a:prstGeom>
          <a:solidFill>
            <a:srgbClr val="F8FAFF"/>
          </a:solidFill>
          <a:ln w="6350">
            <a:solidFill>
              <a:srgbClr val="CADCFC">
                <a:alpha val="50000"/>
              </a:srgbClr>
            </a:solidFill>
            <a:prstDash val="solid"/>
          </a:ln>
        </p:spPr>
        <p:txBody>
          <a:bodyPr/>
          <a:lstStyle/>
          <a:p>
            <a:endParaRPr lang="en-AU"/>
          </a:p>
        </p:txBody>
      </p:sp>
      <p:sp>
        <p:nvSpPr>
          <p:cNvPr id="24" name="Shape 22"/>
          <p:cNvSpPr/>
          <p:nvPr/>
        </p:nvSpPr>
        <p:spPr>
          <a:xfrm>
            <a:off x="365760" y="4050792"/>
            <a:ext cx="54864" cy="603504"/>
          </a:xfrm>
          <a:prstGeom prst="rect">
            <a:avLst/>
          </a:prstGeom>
          <a:solidFill>
            <a:schemeClr val="accent1">
              <a:lumMod val="60000"/>
              <a:lumOff val="40000"/>
            </a:schemeClr>
          </a:solidFill>
          <a:ln w="12700">
            <a:solidFill>
              <a:schemeClr val="accent5">
                <a:lumMod val="60000"/>
                <a:lumOff val="40000"/>
              </a:schemeClr>
            </a:solidFill>
            <a:prstDash val="solid"/>
          </a:ln>
        </p:spPr>
        <p:txBody>
          <a:bodyPr/>
          <a:lstStyle/>
          <a:p>
            <a:endParaRPr lang="en-AU"/>
          </a:p>
        </p:txBody>
      </p:sp>
      <p:sp>
        <p:nvSpPr>
          <p:cNvPr id="25" name="Text 23"/>
          <p:cNvSpPr/>
          <p:nvPr/>
        </p:nvSpPr>
        <p:spPr>
          <a:xfrm>
            <a:off x="502920" y="4087368"/>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Implication on DSO</a:t>
            </a:r>
            <a:endParaRPr lang="en-US" sz="1000" dirty="0"/>
          </a:p>
        </p:txBody>
      </p:sp>
      <p:sp>
        <p:nvSpPr>
          <p:cNvPr id="26" name="Text 24"/>
          <p:cNvSpPr/>
          <p:nvPr/>
        </p:nvSpPr>
        <p:spPr>
          <a:xfrm>
            <a:off x="502920" y="4306824"/>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 automated MLOps pipelines interacting with cloud storage, data warehouses, or inference APIs, </a:t>
            </a:r>
            <a:r>
              <a:rPr lang="en-US" sz="850" b="1" dirty="0">
                <a:solidFill>
                  <a:srgbClr val="64748B"/>
                </a:solidFill>
                <a:latin typeface="Calibri" pitchFamily="34" charset="0"/>
                <a:ea typeface="Calibri" pitchFamily="34" charset="-122"/>
                <a:cs typeface="Calibri" pitchFamily="34" charset="-120"/>
              </a:rPr>
              <a:t>credentials remain strictly scoped to individual subprocesses</a:t>
            </a:r>
            <a:r>
              <a:rPr lang="en-US" sz="850" dirty="0">
                <a:solidFill>
                  <a:srgbClr val="64748B"/>
                </a:solidFill>
                <a:latin typeface="Calibri" pitchFamily="34" charset="0"/>
                <a:ea typeface="Calibri" pitchFamily="34" charset="-122"/>
                <a:cs typeface="Calibri" pitchFamily="34" charset="-120"/>
              </a:rPr>
              <a:t>, preventing accidental reuse or leakage across experiments.</a:t>
            </a:r>
            <a:endParaRPr lang="en-US" sz="850" dirty="0"/>
          </a:p>
        </p:txBody>
      </p:sp>
      <p:sp>
        <p:nvSpPr>
          <p:cNvPr id="27" name="Shape 25"/>
          <p:cNvSpPr/>
          <p:nvPr/>
        </p:nvSpPr>
        <p:spPr>
          <a:xfrm>
            <a:off x="4663440" y="1005840"/>
            <a:ext cx="4114800" cy="347472"/>
          </a:xfrm>
          <a:prstGeom prst="rect">
            <a:avLst/>
          </a:prstGeom>
          <a:solidFill>
            <a:srgbClr val="CADCFC">
              <a:alpha val="80000"/>
            </a:srgbClr>
          </a:solidFill>
          <a:ln w="12700">
            <a:solidFill>
              <a:srgbClr val="CADCFC"/>
            </a:solidFill>
            <a:prstDash val="solid"/>
          </a:ln>
        </p:spPr>
        <p:txBody>
          <a:bodyPr/>
          <a:lstStyle/>
          <a:p>
            <a:endParaRPr lang="en-AU"/>
          </a:p>
        </p:txBody>
      </p:sp>
      <p:sp>
        <p:nvSpPr>
          <p:cNvPr id="28" name="Text 26"/>
          <p:cNvSpPr/>
          <p:nvPr/>
        </p:nvSpPr>
        <p:spPr>
          <a:xfrm>
            <a:off x="4754880" y="1005840"/>
            <a:ext cx="3931920" cy="347472"/>
          </a:xfrm>
          <a:prstGeom prst="rect">
            <a:avLst/>
          </a:prstGeom>
          <a:noFill/>
          <a:ln/>
        </p:spPr>
        <p:txBody>
          <a:bodyPr wrap="square" rtlCol="0" anchor="ctr"/>
          <a:lstStyle/>
          <a:p>
            <a:pPr marL="0" indent="0">
              <a:buNone/>
            </a:pPr>
            <a:r>
              <a:rPr lang="en-US" sz="1200" b="1" dirty="0" err="1">
                <a:solidFill>
                  <a:srgbClr val="1E2761"/>
                </a:solidFill>
                <a:latin typeface="Georgia" pitchFamily="34" charset="0"/>
                <a:ea typeface="Georgia" pitchFamily="34" charset="-122"/>
                <a:cs typeface="Georgia" pitchFamily="34" charset="-120"/>
              </a:rPr>
              <a:t>OpenClaw</a:t>
            </a:r>
            <a:r>
              <a:rPr lang="en-US" sz="1200" b="1" dirty="0">
                <a:solidFill>
                  <a:srgbClr val="1E2761"/>
                </a:solidFill>
                <a:latin typeface="Georgia" pitchFamily="34" charset="0"/>
                <a:ea typeface="Georgia" pitchFamily="34" charset="-122"/>
                <a:cs typeface="Georgia" pitchFamily="34" charset="-120"/>
              </a:rPr>
              <a:t>: Operator-Managed Credentials</a:t>
            </a:r>
            <a:endParaRPr lang="en-US" sz="1200" dirty="0"/>
          </a:p>
        </p:txBody>
      </p:sp>
      <p:sp>
        <p:nvSpPr>
          <p:cNvPr id="29" name="Shape 27"/>
          <p:cNvSpPr/>
          <p:nvPr/>
        </p:nvSpPr>
        <p:spPr>
          <a:xfrm>
            <a:off x="4663440" y="1417320"/>
            <a:ext cx="4114800" cy="603504"/>
          </a:xfrm>
          <a:prstGeom prst="rect">
            <a:avLst/>
          </a:prstGeom>
          <a:solidFill>
            <a:srgbClr val="F8FAFF"/>
          </a:solidFill>
          <a:ln w="6350">
            <a:solidFill>
              <a:srgbClr val="FCA5A5">
                <a:alpha val="50000"/>
              </a:srgbClr>
            </a:solidFill>
            <a:prstDash val="solid"/>
          </a:ln>
        </p:spPr>
        <p:txBody>
          <a:bodyPr/>
          <a:lstStyle/>
          <a:p>
            <a:endParaRPr lang="en-AU"/>
          </a:p>
        </p:txBody>
      </p:sp>
      <p:sp>
        <p:nvSpPr>
          <p:cNvPr id="30" name="Shape 28"/>
          <p:cNvSpPr/>
          <p:nvPr/>
        </p:nvSpPr>
        <p:spPr>
          <a:xfrm>
            <a:off x="4663440" y="1417320"/>
            <a:ext cx="54864" cy="603504"/>
          </a:xfrm>
          <a:prstGeom prst="rect">
            <a:avLst/>
          </a:prstGeom>
          <a:solidFill>
            <a:srgbClr val="DC2626"/>
          </a:solidFill>
          <a:ln w="12700">
            <a:solidFill>
              <a:srgbClr val="DC2626"/>
            </a:solidFill>
            <a:prstDash val="solid"/>
          </a:ln>
        </p:spPr>
        <p:txBody>
          <a:bodyPr/>
          <a:lstStyle/>
          <a:p>
            <a:endParaRPr lang="en-AU"/>
          </a:p>
        </p:txBody>
      </p:sp>
      <p:sp>
        <p:nvSpPr>
          <p:cNvPr id="31" name="Text 29"/>
          <p:cNvSpPr/>
          <p:nvPr/>
        </p:nvSpPr>
        <p:spPr>
          <a:xfrm>
            <a:off x="4800600" y="1453896"/>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Configuration-Level Management</a:t>
            </a:r>
            <a:endParaRPr lang="en-US" sz="1000" dirty="0"/>
          </a:p>
        </p:txBody>
      </p:sp>
      <p:sp>
        <p:nvSpPr>
          <p:cNvPr id="32" name="Text 30"/>
          <p:cNvSpPr/>
          <p:nvPr/>
        </p:nvSpPr>
        <p:spPr>
          <a:xfrm>
            <a:off x="4800600" y="1673352"/>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Credentials handled through .env files, gateway configurations, and deployment-level settings and are </a:t>
            </a:r>
            <a:r>
              <a:rPr lang="en-US" sz="850" b="1" dirty="0">
                <a:solidFill>
                  <a:srgbClr val="64748B"/>
                </a:solidFill>
                <a:latin typeface="Calibri" pitchFamily="34" charset="0"/>
                <a:ea typeface="Calibri" pitchFamily="34" charset="-122"/>
                <a:cs typeface="Calibri" pitchFamily="34" charset="-120"/>
              </a:rPr>
              <a:t>not isolated </a:t>
            </a:r>
            <a:r>
              <a:rPr lang="en-US" sz="850" dirty="0">
                <a:solidFill>
                  <a:srgbClr val="64748B"/>
                </a:solidFill>
                <a:latin typeface="Calibri" pitchFamily="34" charset="0"/>
                <a:ea typeface="Calibri" pitchFamily="34" charset="-122"/>
                <a:cs typeface="Calibri" pitchFamily="34" charset="-120"/>
              </a:rPr>
              <a:t>within execution subprocesses by the runtime.</a:t>
            </a:r>
            <a:endParaRPr lang="en-US" sz="850" dirty="0"/>
          </a:p>
        </p:txBody>
      </p:sp>
      <p:sp>
        <p:nvSpPr>
          <p:cNvPr id="33" name="Shape 31"/>
          <p:cNvSpPr/>
          <p:nvPr/>
        </p:nvSpPr>
        <p:spPr>
          <a:xfrm>
            <a:off x="4663440" y="2075688"/>
            <a:ext cx="4114800" cy="603504"/>
          </a:xfrm>
          <a:prstGeom prst="rect">
            <a:avLst/>
          </a:prstGeom>
          <a:solidFill>
            <a:srgbClr val="FFFFFF"/>
          </a:solidFill>
          <a:ln w="6350">
            <a:solidFill>
              <a:srgbClr val="FCA5A5">
                <a:alpha val="50000"/>
              </a:srgbClr>
            </a:solidFill>
            <a:prstDash val="solid"/>
          </a:ln>
        </p:spPr>
        <p:txBody>
          <a:bodyPr/>
          <a:lstStyle/>
          <a:p>
            <a:endParaRPr lang="en-AU"/>
          </a:p>
        </p:txBody>
      </p:sp>
      <p:sp>
        <p:nvSpPr>
          <p:cNvPr id="34" name="Shape 32"/>
          <p:cNvSpPr/>
          <p:nvPr/>
        </p:nvSpPr>
        <p:spPr>
          <a:xfrm>
            <a:off x="4663440" y="2075688"/>
            <a:ext cx="54864" cy="603504"/>
          </a:xfrm>
          <a:prstGeom prst="rect">
            <a:avLst/>
          </a:prstGeom>
          <a:solidFill>
            <a:srgbClr val="DC2626"/>
          </a:solidFill>
          <a:ln w="12700">
            <a:solidFill>
              <a:srgbClr val="DC2626"/>
            </a:solidFill>
            <a:prstDash val="solid"/>
          </a:ln>
        </p:spPr>
        <p:txBody>
          <a:bodyPr/>
          <a:lstStyle/>
          <a:p>
            <a:endParaRPr lang="en-AU"/>
          </a:p>
        </p:txBody>
      </p:sp>
      <p:sp>
        <p:nvSpPr>
          <p:cNvPr id="35" name="Text 33"/>
          <p:cNvSpPr/>
          <p:nvPr/>
        </p:nvSpPr>
        <p:spPr>
          <a:xfrm>
            <a:off x="4800600" y="2112264"/>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No Runtime Kernel Enforcement</a:t>
            </a:r>
            <a:endParaRPr lang="en-US" sz="1000" dirty="0"/>
          </a:p>
        </p:txBody>
      </p:sp>
      <p:sp>
        <p:nvSpPr>
          <p:cNvPr id="36" name="Text 34"/>
          <p:cNvSpPr/>
          <p:nvPr/>
        </p:nvSpPr>
        <p:spPr>
          <a:xfrm>
            <a:off x="4800600" y="2331720"/>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Credential scoping is </a:t>
            </a:r>
            <a:r>
              <a:rPr lang="en-US" sz="850" b="1" dirty="0">
                <a:solidFill>
                  <a:srgbClr val="64748B"/>
                </a:solidFill>
                <a:latin typeface="Calibri" pitchFamily="34" charset="0"/>
                <a:ea typeface="Calibri" pitchFamily="34" charset="-122"/>
                <a:cs typeface="Calibri" pitchFamily="34" charset="-120"/>
              </a:rPr>
              <a:t>operationally enforced </a:t>
            </a:r>
            <a:r>
              <a:rPr lang="en-US" sz="850" dirty="0">
                <a:solidFill>
                  <a:srgbClr val="64748B"/>
                </a:solidFill>
                <a:latin typeface="Calibri" pitchFamily="34" charset="0"/>
                <a:ea typeface="Calibri" pitchFamily="34" charset="-122"/>
                <a:cs typeface="Calibri" pitchFamily="34" charset="-120"/>
              </a:rPr>
              <a:t>rather than structurally guaranteed, making it </a:t>
            </a:r>
            <a:r>
              <a:rPr lang="en-US" sz="850" b="1" dirty="0">
                <a:solidFill>
                  <a:srgbClr val="64748B"/>
                </a:solidFill>
                <a:latin typeface="Calibri" pitchFamily="34" charset="0"/>
                <a:ea typeface="Calibri" pitchFamily="34" charset="-122"/>
                <a:cs typeface="Calibri" pitchFamily="34" charset="-120"/>
              </a:rPr>
              <a:t>sensitive to misconfiguration</a:t>
            </a:r>
            <a:r>
              <a:rPr lang="en-US" sz="850" dirty="0">
                <a:solidFill>
                  <a:srgbClr val="64748B"/>
                </a:solidFill>
                <a:latin typeface="Calibri" pitchFamily="34" charset="0"/>
                <a:ea typeface="Calibri" pitchFamily="34" charset="-122"/>
                <a:cs typeface="Calibri" pitchFamily="34" charset="-120"/>
              </a:rPr>
              <a:t>, especially when config templates are reused across environments.</a:t>
            </a:r>
            <a:endParaRPr lang="en-US" sz="850" dirty="0"/>
          </a:p>
        </p:txBody>
      </p:sp>
      <p:sp>
        <p:nvSpPr>
          <p:cNvPr id="37" name="Shape 35"/>
          <p:cNvSpPr/>
          <p:nvPr/>
        </p:nvSpPr>
        <p:spPr>
          <a:xfrm>
            <a:off x="4663440" y="2734056"/>
            <a:ext cx="4114800" cy="603504"/>
          </a:xfrm>
          <a:prstGeom prst="rect">
            <a:avLst/>
          </a:prstGeom>
          <a:solidFill>
            <a:srgbClr val="F8FAFF"/>
          </a:solidFill>
          <a:ln w="6350">
            <a:solidFill>
              <a:srgbClr val="FCA5A5">
                <a:alpha val="50000"/>
              </a:srgbClr>
            </a:solidFill>
            <a:prstDash val="solid"/>
          </a:ln>
        </p:spPr>
        <p:txBody>
          <a:bodyPr/>
          <a:lstStyle/>
          <a:p>
            <a:endParaRPr lang="en-AU"/>
          </a:p>
        </p:txBody>
      </p:sp>
      <p:sp>
        <p:nvSpPr>
          <p:cNvPr id="38" name="Shape 36"/>
          <p:cNvSpPr/>
          <p:nvPr/>
        </p:nvSpPr>
        <p:spPr>
          <a:xfrm>
            <a:off x="4663440" y="2734056"/>
            <a:ext cx="54864" cy="603504"/>
          </a:xfrm>
          <a:prstGeom prst="rect">
            <a:avLst/>
          </a:prstGeom>
          <a:solidFill>
            <a:srgbClr val="DC2626"/>
          </a:solidFill>
          <a:ln w="12700">
            <a:solidFill>
              <a:srgbClr val="DC2626"/>
            </a:solidFill>
            <a:prstDash val="solid"/>
          </a:ln>
        </p:spPr>
        <p:txBody>
          <a:bodyPr/>
          <a:lstStyle/>
          <a:p>
            <a:endParaRPr lang="en-AU"/>
          </a:p>
        </p:txBody>
      </p:sp>
      <p:sp>
        <p:nvSpPr>
          <p:cNvPr id="39" name="Text 37"/>
          <p:cNvSpPr/>
          <p:nvPr/>
        </p:nvSpPr>
        <p:spPr>
          <a:xfrm>
            <a:off x="4800600" y="2770632"/>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Observed Exposure Patterns</a:t>
            </a:r>
            <a:endParaRPr lang="en-US" sz="1000" dirty="0"/>
          </a:p>
        </p:txBody>
      </p:sp>
      <p:sp>
        <p:nvSpPr>
          <p:cNvPr id="40" name="Text 38"/>
          <p:cNvSpPr/>
          <p:nvPr/>
        </p:nvSpPr>
        <p:spPr>
          <a:xfrm>
            <a:off x="4800600" y="2990088"/>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Security analyses have repeatedly identified API keys, authentication tokens, and passwords </a:t>
            </a:r>
            <a:r>
              <a:rPr lang="en-US" sz="850" b="1" dirty="0">
                <a:solidFill>
                  <a:srgbClr val="64748B"/>
                </a:solidFill>
                <a:latin typeface="Calibri" pitchFamily="34" charset="0"/>
                <a:ea typeface="Calibri" pitchFamily="34" charset="-122"/>
                <a:cs typeface="Calibri" pitchFamily="34" charset="-120"/>
              </a:rPr>
              <a:t>stored in plaintext config files</a:t>
            </a:r>
            <a:r>
              <a:rPr lang="en-US" sz="850" dirty="0">
                <a:solidFill>
                  <a:srgbClr val="64748B"/>
                </a:solidFill>
                <a:latin typeface="Calibri" pitchFamily="34" charset="0"/>
                <a:ea typeface="Calibri" pitchFamily="34" charset="-122"/>
                <a:cs typeface="Calibri" pitchFamily="34" charset="-120"/>
              </a:rPr>
              <a:t>, </a:t>
            </a:r>
            <a:r>
              <a:rPr lang="en-US" sz="850" b="1" dirty="0">
                <a:solidFill>
                  <a:srgbClr val="64748B"/>
                </a:solidFill>
                <a:latin typeface="Calibri" pitchFamily="34" charset="0"/>
                <a:ea typeface="Calibri" pitchFamily="34" charset="-122"/>
                <a:cs typeface="Calibri" pitchFamily="34" charset="-120"/>
              </a:rPr>
              <a:t>increasing exposure risk </a:t>
            </a:r>
            <a:r>
              <a:rPr lang="en-US" sz="850" dirty="0">
                <a:solidFill>
                  <a:srgbClr val="64748B"/>
                </a:solidFill>
                <a:latin typeface="Calibri" pitchFamily="34" charset="0"/>
                <a:ea typeface="Calibri" pitchFamily="34" charset="-122"/>
                <a:cs typeface="Calibri" pitchFamily="34" charset="-120"/>
              </a:rPr>
              <a:t>when proper secret management is not enforced.</a:t>
            </a:r>
            <a:endParaRPr lang="en-US" sz="850" dirty="0"/>
          </a:p>
        </p:txBody>
      </p:sp>
      <p:sp>
        <p:nvSpPr>
          <p:cNvPr id="41" name="Shape 39"/>
          <p:cNvSpPr/>
          <p:nvPr/>
        </p:nvSpPr>
        <p:spPr>
          <a:xfrm>
            <a:off x="4663440" y="3392424"/>
            <a:ext cx="4114800" cy="603504"/>
          </a:xfrm>
          <a:prstGeom prst="rect">
            <a:avLst/>
          </a:prstGeom>
          <a:solidFill>
            <a:srgbClr val="FFFFFF"/>
          </a:solidFill>
          <a:ln w="6350">
            <a:solidFill>
              <a:srgbClr val="FCA5A5">
                <a:alpha val="50000"/>
              </a:srgbClr>
            </a:solidFill>
            <a:prstDash val="solid"/>
          </a:ln>
        </p:spPr>
        <p:txBody>
          <a:bodyPr/>
          <a:lstStyle/>
          <a:p>
            <a:endParaRPr lang="en-AU"/>
          </a:p>
        </p:txBody>
      </p:sp>
      <p:sp>
        <p:nvSpPr>
          <p:cNvPr id="42" name="Shape 40"/>
          <p:cNvSpPr/>
          <p:nvPr/>
        </p:nvSpPr>
        <p:spPr>
          <a:xfrm>
            <a:off x="4663440" y="3392424"/>
            <a:ext cx="54864" cy="603504"/>
          </a:xfrm>
          <a:prstGeom prst="rect">
            <a:avLst/>
          </a:prstGeom>
          <a:solidFill>
            <a:srgbClr val="DC2626"/>
          </a:solidFill>
          <a:ln w="12700">
            <a:solidFill>
              <a:srgbClr val="DC2626"/>
            </a:solidFill>
            <a:prstDash val="solid"/>
          </a:ln>
        </p:spPr>
        <p:txBody>
          <a:bodyPr/>
          <a:lstStyle/>
          <a:p>
            <a:endParaRPr lang="en-AU"/>
          </a:p>
        </p:txBody>
      </p:sp>
      <p:sp>
        <p:nvSpPr>
          <p:cNvPr id="43" name="Text 41"/>
          <p:cNvSpPr/>
          <p:nvPr/>
        </p:nvSpPr>
        <p:spPr>
          <a:xfrm>
            <a:off x="4800600" y="3429000"/>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Inconsistent Masking</a:t>
            </a:r>
            <a:endParaRPr lang="en-US" sz="1000" dirty="0"/>
          </a:p>
        </p:txBody>
      </p:sp>
      <p:sp>
        <p:nvSpPr>
          <p:cNvPr id="44" name="Text 42"/>
          <p:cNvSpPr/>
          <p:nvPr/>
        </p:nvSpPr>
        <p:spPr>
          <a:xfrm>
            <a:off x="4800600" y="3648456"/>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Credential masking is </a:t>
            </a:r>
            <a:r>
              <a:rPr lang="en-US" sz="850" b="1" dirty="0">
                <a:solidFill>
                  <a:srgbClr val="64748B"/>
                </a:solidFill>
                <a:latin typeface="Calibri" pitchFamily="34" charset="0"/>
                <a:ea typeface="Calibri" pitchFamily="34" charset="-122"/>
                <a:cs typeface="Calibri" pitchFamily="34" charset="-120"/>
              </a:rPr>
              <a:t>not uniformly applied </a:t>
            </a:r>
            <a:r>
              <a:rPr lang="en-US" sz="850" dirty="0">
                <a:solidFill>
                  <a:srgbClr val="64748B"/>
                </a:solidFill>
                <a:latin typeface="Calibri" pitchFamily="34" charset="0"/>
                <a:ea typeface="Calibri" pitchFamily="34" charset="-122"/>
                <a:cs typeface="Calibri" pitchFamily="34" charset="-120"/>
              </a:rPr>
              <a:t>across the gateway, runtime, and skill execution layers, creating a </a:t>
            </a:r>
            <a:r>
              <a:rPr lang="en-US" sz="850" b="1" dirty="0">
                <a:solidFill>
                  <a:srgbClr val="64748B"/>
                </a:solidFill>
                <a:latin typeface="Calibri" pitchFamily="34" charset="0"/>
                <a:ea typeface="Calibri" pitchFamily="34" charset="-122"/>
                <a:cs typeface="Calibri" pitchFamily="34" charset="-120"/>
              </a:rPr>
              <a:t>broader exposure surface </a:t>
            </a:r>
            <a:r>
              <a:rPr lang="en-US" sz="850" dirty="0">
                <a:solidFill>
                  <a:srgbClr val="64748B"/>
                </a:solidFill>
                <a:latin typeface="Calibri" pitchFamily="34" charset="0"/>
                <a:ea typeface="Calibri" pitchFamily="34" charset="-122"/>
                <a:cs typeface="Calibri" pitchFamily="34" charset="-120"/>
              </a:rPr>
              <a:t>in multi-skill or automated workflows.</a:t>
            </a:r>
            <a:endParaRPr lang="en-US" sz="850" dirty="0"/>
          </a:p>
        </p:txBody>
      </p:sp>
      <p:sp>
        <p:nvSpPr>
          <p:cNvPr id="45" name="Shape 43"/>
          <p:cNvSpPr/>
          <p:nvPr/>
        </p:nvSpPr>
        <p:spPr>
          <a:xfrm>
            <a:off x="4663440" y="4050792"/>
            <a:ext cx="4114800" cy="603504"/>
          </a:xfrm>
          <a:prstGeom prst="rect">
            <a:avLst/>
          </a:prstGeom>
          <a:solidFill>
            <a:srgbClr val="F8FAFF"/>
          </a:solidFill>
          <a:ln w="6350">
            <a:solidFill>
              <a:srgbClr val="FCA5A5">
                <a:alpha val="50000"/>
              </a:srgbClr>
            </a:solidFill>
            <a:prstDash val="solid"/>
          </a:ln>
        </p:spPr>
        <p:txBody>
          <a:bodyPr/>
          <a:lstStyle/>
          <a:p>
            <a:endParaRPr lang="en-AU"/>
          </a:p>
        </p:txBody>
      </p:sp>
      <p:sp>
        <p:nvSpPr>
          <p:cNvPr id="46" name="Shape 44"/>
          <p:cNvSpPr/>
          <p:nvPr/>
        </p:nvSpPr>
        <p:spPr>
          <a:xfrm>
            <a:off x="4663440" y="4050792"/>
            <a:ext cx="54864" cy="603504"/>
          </a:xfrm>
          <a:prstGeom prst="rect">
            <a:avLst/>
          </a:prstGeom>
          <a:solidFill>
            <a:srgbClr val="DC2626"/>
          </a:solidFill>
          <a:ln w="12700">
            <a:solidFill>
              <a:srgbClr val="DC2626"/>
            </a:solidFill>
            <a:prstDash val="solid"/>
          </a:ln>
        </p:spPr>
        <p:txBody>
          <a:bodyPr/>
          <a:lstStyle/>
          <a:p>
            <a:endParaRPr lang="en-AU"/>
          </a:p>
        </p:txBody>
      </p:sp>
      <p:sp>
        <p:nvSpPr>
          <p:cNvPr id="47" name="Text 45"/>
          <p:cNvSpPr/>
          <p:nvPr/>
        </p:nvSpPr>
        <p:spPr>
          <a:xfrm>
            <a:off x="4800600" y="4087368"/>
            <a:ext cx="3913632"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Mitigation Path</a:t>
            </a:r>
            <a:endParaRPr lang="en-US" sz="1000" dirty="0"/>
          </a:p>
        </p:txBody>
      </p:sp>
      <p:sp>
        <p:nvSpPr>
          <p:cNvPr id="48" name="Text 46"/>
          <p:cNvSpPr/>
          <p:nvPr/>
        </p:nvSpPr>
        <p:spPr>
          <a:xfrm>
            <a:off x="4800600" y="4306824"/>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Requires </a:t>
            </a:r>
            <a:r>
              <a:rPr lang="en-US" sz="850" b="1" dirty="0">
                <a:solidFill>
                  <a:srgbClr val="64748B"/>
                </a:solidFill>
                <a:latin typeface="Calibri" pitchFamily="34" charset="0"/>
                <a:ea typeface="Calibri" pitchFamily="34" charset="-122"/>
                <a:cs typeface="Calibri" pitchFamily="34" charset="-120"/>
              </a:rPr>
              <a:t>external secret management systems </a:t>
            </a:r>
            <a:r>
              <a:rPr lang="en-US" sz="850" dirty="0">
                <a:solidFill>
                  <a:srgbClr val="64748B"/>
                </a:solidFill>
                <a:latin typeface="Calibri" pitchFamily="34" charset="0"/>
                <a:ea typeface="Calibri" pitchFamily="34" charset="-122"/>
                <a:cs typeface="Calibri" pitchFamily="34" charset="-120"/>
              </a:rPr>
              <a:t>(</a:t>
            </a:r>
            <a:r>
              <a:rPr lang="en-US" sz="850" dirty="0" err="1">
                <a:solidFill>
                  <a:srgbClr val="64748B"/>
                </a:solidFill>
                <a:latin typeface="Calibri" pitchFamily="34" charset="0"/>
                <a:ea typeface="Calibri" pitchFamily="34" charset="-122"/>
                <a:cs typeface="Calibri" pitchFamily="34" charset="-120"/>
              </a:rPr>
              <a:t>eg.</a:t>
            </a:r>
            <a:r>
              <a:rPr lang="en-US" sz="850" dirty="0">
                <a:solidFill>
                  <a:srgbClr val="64748B"/>
                </a:solidFill>
                <a:latin typeface="Calibri" pitchFamily="34" charset="0"/>
                <a:ea typeface="Calibri" pitchFamily="34" charset="-122"/>
                <a:cs typeface="Calibri" pitchFamily="34" charset="-120"/>
              </a:rPr>
              <a:t> Azure Key Vault, AWS Secrets Manager) and disciplined deployment hygiene across all teams and environments.</a:t>
            </a:r>
            <a:endParaRPr lang="en-US" sz="850" dirty="0"/>
          </a:p>
        </p:txBody>
      </p:sp>
      <p:sp>
        <p:nvSpPr>
          <p:cNvPr id="49" name="Shape 47"/>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50" name="Text 48"/>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2560320" y="1042416"/>
            <a:ext cx="2926080" cy="1005840"/>
          </a:xfrm>
          <a:prstGeom prst="rect">
            <a:avLst/>
          </a:prstGeom>
          <a:solidFill>
            <a:schemeClr val="accent1">
              <a:lumMod val="75000"/>
            </a:schemeClr>
          </a:solidFill>
          <a:ln w="8890">
            <a:solidFill>
              <a:srgbClr val="002060"/>
            </a:solidFill>
            <a:prstDash val="solid"/>
          </a:ln>
          <a:effectLst>
            <a:outerShdw blurRad="101600" dist="38100" dir="8100000" algn="bl" rotWithShape="0">
              <a:srgbClr val="000000">
                <a:alpha val="10000"/>
              </a:srgbClr>
            </a:outerShdw>
          </a:effectLst>
        </p:spPr>
        <p:txBody>
          <a:bodyPr/>
          <a:lstStyle/>
          <a:p>
            <a:endParaRPr lang="en-AU" dirty="0"/>
          </a:p>
        </p:txBody>
      </p:sp>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4.12  Per-User Session Isolation</a:t>
            </a:r>
            <a:endParaRPr lang="en-US" sz="26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How each platform separates analyst sessions in multi-user environments</a:t>
            </a:r>
            <a:endParaRPr lang="en-US" sz="1200" dirty="0"/>
          </a:p>
        </p:txBody>
      </p:sp>
      <p:sp>
        <p:nvSpPr>
          <p:cNvPr id="6" name="Text 4"/>
          <p:cNvSpPr/>
          <p:nvPr/>
        </p:nvSpPr>
        <p:spPr>
          <a:xfrm>
            <a:off x="2560320" y="1178814"/>
            <a:ext cx="3840480" cy="27432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Hermes Agent</a:t>
            </a:r>
            <a:endParaRPr lang="en-US" sz="1200" dirty="0"/>
          </a:p>
        </p:txBody>
      </p:sp>
      <p:sp>
        <p:nvSpPr>
          <p:cNvPr id="7" name="Text 5"/>
          <p:cNvSpPr/>
          <p:nvPr/>
        </p:nvSpPr>
        <p:spPr>
          <a:xfrm>
            <a:off x="2621280" y="1343406"/>
            <a:ext cx="2572173" cy="594360"/>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Isolation</a:t>
            </a:r>
            <a:r>
              <a:rPr lang="en-US" sz="1700" dirty="0"/>
              <a:t> </a:t>
            </a:r>
            <a:r>
              <a:rPr lang="en-US" sz="1700" b="1" dirty="0">
                <a:solidFill>
                  <a:srgbClr val="FFFFFF"/>
                </a:solidFill>
                <a:latin typeface="Georgia" pitchFamily="34" charset="0"/>
              </a:rPr>
              <a:t>by </a:t>
            </a:r>
            <a:r>
              <a:rPr lang="en-US" sz="1700" b="1" dirty="0">
                <a:solidFill>
                  <a:srgbClr val="FFFFFF"/>
                </a:solidFill>
                <a:latin typeface="Georgia" pitchFamily="34" charset="0"/>
                <a:ea typeface="Georgia" pitchFamily="34" charset="-122"/>
                <a:cs typeface="Georgia" pitchFamily="34" charset="-120"/>
              </a:rPr>
              <a:t>Default</a:t>
            </a:r>
            <a:endParaRPr lang="en-US" sz="1700" dirty="0"/>
          </a:p>
        </p:txBody>
      </p:sp>
      <p:sp>
        <p:nvSpPr>
          <p:cNvPr id="8" name="Shape 6"/>
          <p:cNvSpPr/>
          <p:nvPr/>
        </p:nvSpPr>
        <p:spPr>
          <a:xfrm>
            <a:off x="5577840" y="1037844"/>
            <a:ext cx="3200400" cy="1005840"/>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9" name="Text 7"/>
          <p:cNvSpPr/>
          <p:nvPr/>
        </p:nvSpPr>
        <p:spPr>
          <a:xfrm>
            <a:off x="5547360" y="1176528"/>
            <a:ext cx="3840480" cy="274320"/>
          </a:xfrm>
          <a:prstGeom prst="rect">
            <a:avLst/>
          </a:prstGeom>
          <a:noFill/>
          <a:ln/>
        </p:spPr>
        <p:txBody>
          <a:bodyPr wrap="square"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OpenClaw</a:t>
            </a:r>
            <a:endParaRPr lang="en-US" sz="1200" dirty="0"/>
          </a:p>
        </p:txBody>
      </p:sp>
      <p:sp>
        <p:nvSpPr>
          <p:cNvPr id="10" name="Text 8"/>
          <p:cNvSpPr/>
          <p:nvPr/>
        </p:nvSpPr>
        <p:spPr>
          <a:xfrm>
            <a:off x="5577840" y="1348740"/>
            <a:ext cx="3456093" cy="594360"/>
          </a:xfrm>
          <a:prstGeom prst="rect">
            <a:avLst/>
          </a:prstGeom>
          <a:noFill/>
          <a:ln/>
        </p:spPr>
        <p:txBody>
          <a:bodyPr wrap="square"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Isolation</a:t>
            </a:r>
            <a:r>
              <a:rPr lang="en-US" sz="1700" dirty="0"/>
              <a:t> </a:t>
            </a:r>
            <a:r>
              <a:rPr lang="en-US" sz="1700" b="1" dirty="0">
                <a:solidFill>
                  <a:srgbClr val="1E2761"/>
                </a:solidFill>
                <a:latin typeface="Georgia" pitchFamily="34" charset="0"/>
                <a:ea typeface="Georgia" pitchFamily="34" charset="-122"/>
                <a:cs typeface="Georgia" pitchFamily="34" charset="-120"/>
              </a:rPr>
              <a:t>by Configuration</a:t>
            </a:r>
            <a:endParaRPr lang="en-US" sz="1700" dirty="0"/>
          </a:p>
        </p:txBody>
      </p:sp>
      <p:sp>
        <p:nvSpPr>
          <p:cNvPr id="11" name="Shape 9"/>
          <p:cNvSpPr/>
          <p:nvPr/>
        </p:nvSpPr>
        <p:spPr>
          <a:xfrm>
            <a:off x="365760" y="2121408"/>
            <a:ext cx="8412480" cy="420624"/>
          </a:xfrm>
          <a:prstGeom prst="rect">
            <a:avLst/>
          </a:prstGeom>
          <a:solidFill>
            <a:srgbClr val="F8FAFF"/>
          </a:solidFill>
          <a:ln w="6350">
            <a:solidFill>
              <a:srgbClr val="CADCFC">
                <a:alpha val="40000"/>
              </a:srgbClr>
            </a:solidFill>
            <a:prstDash val="solid"/>
          </a:ln>
        </p:spPr>
        <p:txBody>
          <a:bodyPr/>
          <a:lstStyle/>
          <a:p>
            <a:endParaRPr lang="en-AU"/>
          </a:p>
        </p:txBody>
      </p:sp>
      <p:sp>
        <p:nvSpPr>
          <p:cNvPr id="12" name="Text 10"/>
          <p:cNvSpPr/>
          <p:nvPr/>
        </p:nvSpPr>
        <p:spPr>
          <a:xfrm>
            <a:off x="457200" y="2148840"/>
            <a:ext cx="2011680" cy="36576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Session Separation</a:t>
            </a:r>
            <a:endParaRPr lang="en-US" sz="950" dirty="0"/>
          </a:p>
        </p:txBody>
      </p:sp>
      <p:sp>
        <p:nvSpPr>
          <p:cNvPr id="13" name="Text 11"/>
          <p:cNvSpPr/>
          <p:nvPr/>
        </p:nvSpPr>
        <p:spPr>
          <a:xfrm>
            <a:off x="2560320" y="21488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Independent user-scoped sessions</a:t>
            </a:r>
            <a:r>
              <a:rPr lang="en-US" sz="850" dirty="0">
                <a:solidFill>
                  <a:srgbClr val="64748B"/>
                </a:solidFill>
                <a:latin typeface="Calibri" pitchFamily="34" charset="0"/>
                <a:ea typeface="Calibri" pitchFamily="34" charset="-122"/>
                <a:cs typeface="Calibri" pitchFamily="34" charset="-120"/>
              </a:rPr>
              <a:t>: structural boundaries enforced at runtime architecture level, not configuration.</a:t>
            </a:r>
            <a:endParaRPr lang="en-US" sz="850" dirty="0"/>
          </a:p>
        </p:txBody>
      </p:sp>
      <p:sp>
        <p:nvSpPr>
          <p:cNvPr id="14" name="Text 12"/>
          <p:cNvSpPr/>
          <p:nvPr/>
        </p:nvSpPr>
        <p:spPr>
          <a:xfrm>
            <a:off x="5669280" y="21488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Shared session </a:t>
            </a:r>
            <a:r>
              <a:rPr lang="en-US" sz="850" dirty="0">
                <a:solidFill>
                  <a:srgbClr val="64748B"/>
                </a:solidFill>
                <a:latin typeface="Calibri" pitchFamily="34" charset="0"/>
                <a:ea typeface="Calibri" pitchFamily="34" charset="-122"/>
                <a:cs typeface="Calibri" pitchFamily="34" charset="-120"/>
              </a:rPr>
              <a:t>by default. Per-user separation via Secure DM Mode </a:t>
            </a:r>
            <a:r>
              <a:rPr lang="en-US" sz="850" b="1" dirty="0">
                <a:solidFill>
                  <a:srgbClr val="64748B"/>
                </a:solidFill>
                <a:latin typeface="Calibri" pitchFamily="34" charset="0"/>
                <a:ea typeface="Calibri" pitchFamily="34" charset="-122"/>
                <a:cs typeface="Calibri" pitchFamily="34" charset="-120"/>
              </a:rPr>
              <a:t>must be explicitly configured </a:t>
            </a:r>
            <a:r>
              <a:rPr lang="en-US" sz="850" dirty="0">
                <a:solidFill>
                  <a:srgbClr val="64748B"/>
                </a:solidFill>
                <a:latin typeface="Calibri" pitchFamily="34" charset="0"/>
                <a:ea typeface="Calibri" pitchFamily="34" charset="-122"/>
                <a:cs typeface="Calibri" pitchFamily="34" charset="-120"/>
              </a:rPr>
              <a:t>and maintained by operator.</a:t>
            </a:r>
            <a:endParaRPr lang="en-US" sz="850" dirty="0"/>
          </a:p>
        </p:txBody>
      </p:sp>
      <p:sp>
        <p:nvSpPr>
          <p:cNvPr id="15" name="Shape 13"/>
          <p:cNvSpPr/>
          <p:nvPr/>
        </p:nvSpPr>
        <p:spPr>
          <a:xfrm>
            <a:off x="365760" y="2578608"/>
            <a:ext cx="8412480" cy="420624"/>
          </a:xfrm>
          <a:prstGeom prst="rect">
            <a:avLst/>
          </a:prstGeom>
          <a:solidFill>
            <a:srgbClr val="FFFFFF"/>
          </a:solidFill>
          <a:ln w="6350">
            <a:solidFill>
              <a:srgbClr val="CADCFC">
                <a:alpha val="40000"/>
              </a:srgbClr>
            </a:solidFill>
            <a:prstDash val="solid"/>
          </a:ln>
        </p:spPr>
        <p:txBody>
          <a:bodyPr/>
          <a:lstStyle/>
          <a:p>
            <a:endParaRPr lang="en-AU"/>
          </a:p>
        </p:txBody>
      </p:sp>
      <p:sp>
        <p:nvSpPr>
          <p:cNvPr id="16" name="Text 14"/>
          <p:cNvSpPr/>
          <p:nvPr/>
        </p:nvSpPr>
        <p:spPr>
          <a:xfrm>
            <a:off x="457200" y="2606040"/>
            <a:ext cx="2011680" cy="36576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Memory Boundaries</a:t>
            </a:r>
            <a:endParaRPr lang="en-US" sz="950" dirty="0"/>
          </a:p>
        </p:txBody>
      </p:sp>
      <p:sp>
        <p:nvSpPr>
          <p:cNvPr id="17" name="Text 15"/>
          <p:cNvSpPr/>
          <p:nvPr/>
        </p:nvSpPr>
        <p:spPr>
          <a:xfrm>
            <a:off x="2560320" y="26060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Separate</a:t>
            </a:r>
            <a:r>
              <a:rPr lang="en-US" sz="850" dirty="0">
                <a:solidFill>
                  <a:srgbClr val="64748B"/>
                </a:solidFill>
                <a:latin typeface="Calibri" pitchFamily="34" charset="0"/>
                <a:ea typeface="Calibri" pitchFamily="34" charset="-122"/>
                <a:cs typeface="Calibri" pitchFamily="34" charset="-120"/>
              </a:rPr>
              <a:t> memory files, skills libraries, and conversation history per user</a:t>
            </a:r>
            <a:r>
              <a:rPr lang="en-US" sz="850" b="1" dirty="0">
                <a:solidFill>
                  <a:srgbClr val="64748B"/>
                </a:solidFill>
                <a:latin typeface="Calibri" pitchFamily="34" charset="0"/>
                <a:ea typeface="Calibri" pitchFamily="34" charset="-122"/>
                <a:cs typeface="Calibri" pitchFamily="34" charset="-120"/>
              </a:rPr>
              <a:t>. No cross-session memory contamination </a:t>
            </a:r>
            <a:r>
              <a:rPr lang="en-US" sz="850" dirty="0">
                <a:solidFill>
                  <a:srgbClr val="64748B"/>
                </a:solidFill>
                <a:latin typeface="Calibri" pitchFamily="34" charset="0"/>
                <a:ea typeface="Calibri" pitchFamily="34" charset="-122"/>
                <a:cs typeface="Calibri" pitchFamily="34" charset="-120"/>
              </a:rPr>
              <a:t>possible by design.</a:t>
            </a:r>
            <a:endParaRPr lang="en-US" sz="850" dirty="0"/>
          </a:p>
        </p:txBody>
      </p:sp>
      <p:sp>
        <p:nvSpPr>
          <p:cNvPr id="18" name="Text 16"/>
          <p:cNvSpPr/>
          <p:nvPr/>
        </p:nvSpPr>
        <p:spPr>
          <a:xfrm>
            <a:off x="5669280" y="26060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Shared memory context </a:t>
            </a:r>
            <a:r>
              <a:rPr lang="en-US" sz="850" dirty="0">
                <a:solidFill>
                  <a:srgbClr val="64748B"/>
                </a:solidFill>
                <a:latin typeface="Calibri" pitchFamily="34" charset="0"/>
                <a:ea typeface="Calibri" pitchFamily="34" charset="-122"/>
                <a:cs typeface="Calibri" pitchFamily="34" charset="-120"/>
              </a:rPr>
              <a:t>by default. Partitioning requires </a:t>
            </a:r>
            <a:r>
              <a:rPr lang="en-US" sz="850" b="1" dirty="0">
                <a:solidFill>
                  <a:srgbClr val="64748B"/>
                </a:solidFill>
                <a:latin typeface="Calibri" pitchFamily="34" charset="0"/>
                <a:ea typeface="Calibri" pitchFamily="34" charset="-122"/>
                <a:cs typeface="Calibri" pitchFamily="34" charset="-120"/>
              </a:rPr>
              <a:t>correct configuration </a:t>
            </a:r>
            <a:r>
              <a:rPr lang="en-US" sz="850" dirty="0">
                <a:solidFill>
                  <a:srgbClr val="64748B"/>
                </a:solidFill>
                <a:latin typeface="Calibri" pitchFamily="34" charset="0"/>
                <a:ea typeface="Calibri" pitchFamily="34" charset="-122"/>
                <a:cs typeface="Calibri" pitchFamily="34" charset="-120"/>
              </a:rPr>
              <a:t>and misconfiguration may result in unintended sharing.</a:t>
            </a:r>
            <a:endParaRPr lang="en-US" sz="850" dirty="0"/>
          </a:p>
        </p:txBody>
      </p:sp>
      <p:sp>
        <p:nvSpPr>
          <p:cNvPr id="19" name="Shape 17"/>
          <p:cNvSpPr/>
          <p:nvPr/>
        </p:nvSpPr>
        <p:spPr>
          <a:xfrm>
            <a:off x="365760" y="3035808"/>
            <a:ext cx="8412480" cy="420624"/>
          </a:xfrm>
          <a:prstGeom prst="rect">
            <a:avLst/>
          </a:prstGeom>
          <a:solidFill>
            <a:srgbClr val="F8FAFF"/>
          </a:solidFill>
          <a:ln w="6350">
            <a:solidFill>
              <a:srgbClr val="CADCFC">
                <a:alpha val="40000"/>
              </a:srgbClr>
            </a:solidFill>
            <a:prstDash val="solid"/>
          </a:ln>
        </p:spPr>
        <p:txBody>
          <a:bodyPr/>
          <a:lstStyle/>
          <a:p>
            <a:endParaRPr lang="en-AU"/>
          </a:p>
        </p:txBody>
      </p:sp>
      <p:sp>
        <p:nvSpPr>
          <p:cNvPr id="20" name="Text 18"/>
          <p:cNvSpPr/>
          <p:nvPr/>
        </p:nvSpPr>
        <p:spPr>
          <a:xfrm>
            <a:off x="457200" y="3063240"/>
            <a:ext cx="2011680" cy="36576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Context Leakage Risk</a:t>
            </a:r>
            <a:endParaRPr lang="en-US" sz="950" dirty="0"/>
          </a:p>
        </p:txBody>
      </p:sp>
      <p:sp>
        <p:nvSpPr>
          <p:cNvPr id="21" name="Text 19"/>
          <p:cNvSpPr/>
          <p:nvPr/>
        </p:nvSpPr>
        <p:spPr>
          <a:xfrm>
            <a:off x="2560320" y="30632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Structurally </a:t>
            </a:r>
            <a:r>
              <a:rPr lang="en-US" sz="850" b="1" dirty="0" err="1">
                <a:solidFill>
                  <a:srgbClr val="64748B"/>
                </a:solidFill>
                <a:latin typeface="Calibri" pitchFamily="34" charset="0"/>
                <a:ea typeface="Calibri" pitchFamily="34" charset="-122"/>
                <a:cs typeface="Calibri" pitchFamily="34" charset="-120"/>
              </a:rPr>
              <a:t>minimised</a:t>
            </a:r>
            <a:r>
              <a:rPr lang="en-US" sz="850" dirty="0">
                <a:solidFill>
                  <a:srgbClr val="64748B"/>
                </a:solidFill>
                <a:latin typeface="Calibri" pitchFamily="34" charset="0"/>
                <a:ea typeface="Calibri" pitchFamily="34" charset="-122"/>
                <a:cs typeface="Calibri" pitchFamily="34" charset="-120"/>
              </a:rPr>
              <a:t>: conversational state and accumulated workflow knowledge </a:t>
            </a:r>
            <a:r>
              <a:rPr lang="en-US" sz="850" b="1" dirty="0">
                <a:solidFill>
                  <a:srgbClr val="64748B"/>
                </a:solidFill>
                <a:latin typeface="Calibri" pitchFamily="34" charset="0"/>
                <a:ea typeface="Calibri" pitchFamily="34" charset="-122"/>
                <a:cs typeface="Calibri" pitchFamily="34" charset="-120"/>
              </a:rPr>
              <a:t>remain confined </a:t>
            </a:r>
            <a:r>
              <a:rPr lang="en-US" sz="850" dirty="0">
                <a:solidFill>
                  <a:srgbClr val="64748B"/>
                </a:solidFill>
                <a:latin typeface="Calibri" pitchFamily="34" charset="0"/>
                <a:ea typeface="Calibri" pitchFamily="34" charset="-122"/>
                <a:cs typeface="Calibri" pitchFamily="34" charset="-120"/>
              </a:rPr>
              <a:t>to originating user environment.</a:t>
            </a:r>
            <a:endParaRPr lang="en-US" sz="850" dirty="0"/>
          </a:p>
        </p:txBody>
      </p:sp>
      <p:sp>
        <p:nvSpPr>
          <p:cNvPr id="22" name="Text 20"/>
          <p:cNvSpPr/>
          <p:nvPr/>
        </p:nvSpPr>
        <p:spPr>
          <a:xfrm>
            <a:off x="5669280" y="30632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Configuration-dependent</a:t>
            </a:r>
            <a:r>
              <a:rPr lang="en-US" sz="850" dirty="0">
                <a:solidFill>
                  <a:srgbClr val="64748B"/>
                </a:solidFill>
                <a:latin typeface="Calibri" pitchFamily="34" charset="0"/>
                <a:ea typeface="Calibri" pitchFamily="34" charset="-122"/>
                <a:cs typeface="Calibri" pitchFamily="34" charset="-120"/>
              </a:rPr>
              <a:t>: Incorrect deployment may cause cross-project context contamination without visible indication.</a:t>
            </a:r>
            <a:endParaRPr lang="en-US" sz="850" dirty="0"/>
          </a:p>
        </p:txBody>
      </p:sp>
      <p:sp>
        <p:nvSpPr>
          <p:cNvPr id="23" name="Shape 21"/>
          <p:cNvSpPr/>
          <p:nvPr/>
        </p:nvSpPr>
        <p:spPr>
          <a:xfrm>
            <a:off x="365760" y="3493008"/>
            <a:ext cx="8412480" cy="420624"/>
          </a:xfrm>
          <a:prstGeom prst="rect">
            <a:avLst/>
          </a:prstGeom>
          <a:solidFill>
            <a:srgbClr val="FFFFFF"/>
          </a:solidFill>
          <a:ln w="6350">
            <a:solidFill>
              <a:srgbClr val="CADCFC">
                <a:alpha val="40000"/>
              </a:srgbClr>
            </a:solidFill>
            <a:prstDash val="solid"/>
          </a:ln>
        </p:spPr>
        <p:txBody>
          <a:bodyPr/>
          <a:lstStyle/>
          <a:p>
            <a:endParaRPr lang="en-AU"/>
          </a:p>
        </p:txBody>
      </p:sp>
      <p:sp>
        <p:nvSpPr>
          <p:cNvPr id="24" name="Text 22"/>
          <p:cNvSpPr/>
          <p:nvPr/>
        </p:nvSpPr>
        <p:spPr>
          <a:xfrm>
            <a:off x="457200" y="3520440"/>
            <a:ext cx="2011680" cy="36576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OpenWebUI Mapping</a:t>
            </a:r>
            <a:endParaRPr lang="en-US" sz="950" dirty="0"/>
          </a:p>
        </p:txBody>
      </p:sp>
      <p:sp>
        <p:nvSpPr>
          <p:cNvPr id="25" name="Text 23"/>
          <p:cNvSpPr/>
          <p:nvPr/>
        </p:nvSpPr>
        <p:spPr>
          <a:xfrm>
            <a:off x="2560320" y="3520440"/>
            <a:ext cx="3017520" cy="36576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Each OpenWebUI user mapped to a dedicated Hermes profile with fully isolated runtime, API endpoint, and persistent storage.</a:t>
            </a:r>
            <a:endParaRPr lang="en-US" sz="850" dirty="0"/>
          </a:p>
        </p:txBody>
      </p:sp>
      <p:sp>
        <p:nvSpPr>
          <p:cNvPr id="26" name="Text 24"/>
          <p:cNvSpPr/>
          <p:nvPr/>
        </p:nvSpPr>
        <p:spPr>
          <a:xfrm>
            <a:off x="5669280" y="35204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No native per-user profile mapping</a:t>
            </a:r>
            <a:r>
              <a:rPr lang="en-US" sz="850" dirty="0">
                <a:solidFill>
                  <a:srgbClr val="64748B"/>
                </a:solidFill>
                <a:latin typeface="Calibri" pitchFamily="34" charset="0"/>
                <a:ea typeface="Calibri" pitchFamily="34" charset="-122"/>
                <a:cs typeface="Calibri" pitchFamily="34" charset="-120"/>
              </a:rPr>
              <a:t>: isolation depends on external configuration applied to a shared gateway runtime.</a:t>
            </a:r>
            <a:endParaRPr lang="en-US" sz="850" dirty="0"/>
          </a:p>
        </p:txBody>
      </p:sp>
      <p:sp>
        <p:nvSpPr>
          <p:cNvPr id="27" name="Shape 25"/>
          <p:cNvSpPr/>
          <p:nvPr/>
        </p:nvSpPr>
        <p:spPr>
          <a:xfrm>
            <a:off x="365760" y="3950208"/>
            <a:ext cx="8412480" cy="420624"/>
          </a:xfrm>
          <a:prstGeom prst="rect">
            <a:avLst/>
          </a:prstGeom>
          <a:solidFill>
            <a:srgbClr val="F8FAFF"/>
          </a:solidFill>
          <a:ln w="6350">
            <a:solidFill>
              <a:srgbClr val="CADCFC">
                <a:alpha val="40000"/>
              </a:srgbClr>
            </a:solidFill>
            <a:prstDash val="solid"/>
          </a:ln>
        </p:spPr>
        <p:txBody>
          <a:bodyPr/>
          <a:lstStyle/>
          <a:p>
            <a:endParaRPr lang="en-AU"/>
          </a:p>
        </p:txBody>
      </p:sp>
      <p:sp>
        <p:nvSpPr>
          <p:cNvPr id="28" name="Text 26"/>
          <p:cNvSpPr/>
          <p:nvPr/>
        </p:nvSpPr>
        <p:spPr>
          <a:xfrm>
            <a:off x="457200" y="3977640"/>
            <a:ext cx="2011680" cy="36576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Admin Overhead</a:t>
            </a:r>
            <a:endParaRPr lang="en-US" sz="950" dirty="0"/>
          </a:p>
        </p:txBody>
      </p:sp>
      <p:sp>
        <p:nvSpPr>
          <p:cNvPr id="29" name="Text 27"/>
          <p:cNvSpPr/>
          <p:nvPr/>
        </p:nvSpPr>
        <p:spPr>
          <a:xfrm>
            <a:off x="2560320" y="39776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Low</a:t>
            </a:r>
            <a:r>
              <a:rPr lang="en-US" sz="850" dirty="0">
                <a:solidFill>
                  <a:srgbClr val="64748B"/>
                </a:solidFill>
                <a:latin typeface="Calibri" pitchFamily="34" charset="0"/>
                <a:ea typeface="Calibri" pitchFamily="34" charset="-122"/>
                <a:cs typeface="Calibri" pitchFamily="34" charset="-120"/>
              </a:rPr>
              <a:t>: isolation is inherent and no additional enforcement steps are required per user or per deployment.</a:t>
            </a:r>
            <a:endParaRPr lang="en-US" sz="850" dirty="0"/>
          </a:p>
        </p:txBody>
      </p:sp>
      <p:sp>
        <p:nvSpPr>
          <p:cNvPr id="30" name="Text 28"/>
          <p:cNvSpPr/>
          <p:nvPr/>
        </p:nvSpPr>
        <p:spPr>
          <a:xfrm>
            <a:off x="5669280" y="39776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Higher</a:t>
            </a:r>
            <a:r>
              <a:rPr lang="en-US" sz="850" dirty="0">
                <a:solidFill>
                  <a:srgbClr val="64748B"/>
                </a:solidFill>
                <a:latin typeface="Calibri" pitchFamily="34" charset="0"/>
                <a:ea typeface="Calibri" pitchFamily="34" charset="-122"/>
                <a:cs typeface="Calibri" pitchFamily="34" charset="-120"/>
              </a:rPr>
              <a:t>: isolation must be explicitly configured and verified and ongoing administrative vigilance required in multi-user environments.</a:t>
            </a:r>
            <a:endParaRPr lang="en-US" sz="850" dirty="0"/>
          </a:p>
        </p:txBody>
      </p:sp>
      <p:sp>
        <p:nvSpPr>
          <p:cNvPr id="31" name="Shape 29"/>
          <p:cNvSpPr/>
          <p:nvPr/>
        </p:nvSpPr>
        <p:spPr>
          <a:xfrm>
            <a:off x="365760" y="4407408"/>
            <a:ext cx="8412480" cy="420624"/>
          </a:xfrm>
          <a:prstGeom prst="rect">
            <a:avLst/>
          </a:prstGeom>
          <a:solidFill>
            <a:srgbClr val="FFFFFF"/>
          </a:solidFill>
          <a:ln w="6350">
            <a:solidFill>
              <a:srgbClr val="CADCFC">
                <a:alpha val="40000"/>
              </a:srgbClr>
            </a:solidFill>
            <a:prstDash val="solid"/>
          </a:ln>
        </p:spPr>
        <p:txBody>
          <a:bodyPr/>
          <a:lstStyle/>
          <a:p>
            <a:endParaRPr lang="en-AU"/>
          </a:p>
        </p:txBody>
      </p:sp>
      <p:sp>
        <p:nvSpPr>
          <p:cNvPr id="32" name="Text 30"/>
          <p:cNvSpPr/>
          <p:nvPr/>
        </p:nvSpPr>
        <p:spPr>
          <a:xfrm>
            <a:off x="457200" y="4434840"/>
            <a:ext cx="2011680" cy="365760"/>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Implication on DSO</a:t>
            </a:r>
            <a:endParaRPr lang="en-US" sz="950" dirty="0"/>
          </a:p>
        </p:txBody>
      </p:sp>
      <p:sp>
        <p:nvSpPr>
          <p:cNvPr id="33" name="Text 31"/>
          <p:cNvSpPr/>
          <p:nvPr/>
        </p:nvSpPr>
        <p:spPr>
          <a:xfrm>
            <a:off x="2560320" y="4434840"/>
            <a:ext cx="3017520" cy="36576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Analysts on different projects or clearance levels </a:t>
            </a:r>
            <a:r>
              <a:rPr lang="en-US" sz="850" b="1" dirty="0">
                <a:solidFill>
                  <a:srgbClr val="64748B"/>
                </a:solidFill>
                <a:latin typeface="Calibri" pitchFamily="34" charset="0"/>
                <a:ea typeface="Calibri" pitchFamily="34" charset="-122"/>
                <a:cs typeface="Calibri" pitchFamily="34" charset="-120"/>
              </a:rPr>
              <a:t>cannot accidentally share analytical context</a:t>
            </a:r>
            <a:r>
              <a:rPr lang="en-US" sz="850" dirty="0">
                <a:solidFill>
                  <a:srgbClr val="64748B"/>
                </a:solidFill>
                <a:latin typeface="Calibri" pitchFamily="34" charset="0"/>
                <a:ea typeface="Calibri" pitchFamily="34" charset="-122"/>
                <a:cs typeface="Calibri" pitchFamily="34" charset="-120"/>
              </a:rPr>
              <a:t>, which is critical in classified or compartmentalised research.</a:t>
            </a:r>
            <a:endParaRPr lang="en-US" sz="850" dirty="0"/>
          </a:p>
        </p:txBody>
      </p:sp>
      <p:sp>
        <p:nvSpPr>
          <p:cNvPr id="34" name="Text 32"/>
          <p:cNvSpPr/>
          <p:nvPr/>
        </p:nvSpPr>
        <p:spPr>
          <a:xfrm>
            <a:off x="5669280" y="4434840"/>
            <a:ext cx="3017520" cy="365760"/>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Cross-project contamination risk </a:t>
            </a:r>
            <a:r>
              <a:rPr lang="en-US" sz="850" dirty="0">
                <a:solidFill>
                  <a:srgbClr val="64748B"/>
                </a:solidFill>
                <a:latin typeface="Calibri" pitchFamily="34" charset="0"/>
                <a:ea typeface="Calibri" pitchFamily="34" charset="-122"/>
                <a:cs typeface="Calibri" pitchFamily="34" charset="-120"/>
              </a:rPr>
              <a:t>requires additional infrastructure-level controls to achieve reliable separation between analysts.</a:t>
            </a:r>
            <a:endParaRPr lang="en-US" sz="850" dirty="0"/>
          </a:p>
        </p:txBody>
      </p:sp>
      <p:sp>
        <p:nvSpPr>
          <p:cNvPr id="37" name="Shape 35"/>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8" name="Text 36"/>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4F9CF9"/>
          </a:solidFill>
          <a:ln w="12700">
            <a:solidFill>
              <a:srgbClr val="4F9CF9"/>
            </a:solidFill>
            <a:prstDash val="solid"/>
          </a:ln>
        </p:spPr>
        <p:txBody>
          <a:bodyPr/>
          <a:lstStyle/>
          <a:p>
            <a:endParaRPr lang="en-AU"/>
          </a:p>
        </p:txBody>
      </p:sp>
      <p:sp>
        <p:nvSpPr>
          <p:cNvPr id="3" name="Text 1"/>
          <p:cNvSpPr/>
          <p:nvPr/>
        </p:nvSpPr>
        <p:spPr>
          <a:xfrm>
            <a:off x="457200" y="1280160"/>
            <a:ext cx="8229600" cy="457200"/>
          </a:xfrm>
          <a:prstGeom prst="rect">
            <a:avLst/>
          </a:prstGeom>
          <a:noFill/>
          <a:ln/>
        </p:spPr>
        <p:txBody>
          <a:bodyPr wrap="square" rtlCol="0" anchor="ctr"/>
          <a:lstStyle/>
          <a:p>
            <a:pPr marL="0" indent="0">
              <a:buNone/>
            </a:pPr>
            <a:r>
              <a:rPr lang="en-US" sz="1600" b="1" kern="0" spc="300" dirty="0">
                <a:solidFill>
                  <a:srgbClr val="4F9CF9"/>
                </a:solidFill>
                <a:latin typeface="Calibri" pitchFamily="34" charset="0"/>
                <a:ea typeface="Calibri" pitchFamily="34" charset="-122"/>
                <a:cs typeface="Calibri" pitchFamily="34" charset="-120"/>
              </a:rPr>
              <a:t>Section 5</a:t>
            </a:r>
            <a:endParaRPr lang="en-US" sz="1600" dirty="0"/>
          </a:p>
        </p:txBody>
      </p:sp>
      <p:sp>
        <p:nvSpPr>
          <p:cNvPr id="4" name="Text 2"/>
          <p:cNvSpPr/>
          <p:nvPr/>
        </p:nvSpPr>
        <p:spPr>
          <a:xfrm>
            <a:off x="457200" y="1783080"/>
            <a:ext cx="8229600" cy="155448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Security</a:t>
            </a:r>
            <a:endParaRPr lang="en-US" sz="5200" dirty="0"/>
          </a:p>
          <a:p>
            <a:pPr marL="0" indent="0">
              <a:buNone/>
            </a:pPr>
            <a:r>
              <a:rPr lang="en-US" sz="5200" b="1" dirty="0">
                <a:solidFill>
                  <a:srgbClr val="FFFFFF"/>
                </a:solidFill>
                <a:latin typeface="Georgia" pitchFamily="34" charset="0"/>
                <a:ea typeface="Georgia" pitchFamily="34" charset="-122"/>
                <a:cs typeface="Georgia" pitchFamily="34" charset="-120"/>
              </a:rPr>
              <a:t>Analysis</a:t>
            </a:r>
            <a:endParaRPr lang="en-US" sz="5200" dirty="0"/>
          </a:p>
        </p:txBody>
      </p:sp>
      <p:sp>
        <p:nvSpPr>
          <p:cNvPr id="5" name="Shape 3"/>
          <p:cNvSpPr/>
          <p:nvPr/>
        </p:nvSpPr>
        <p:spPr>
          <a:xfrm>
            <a:off x="457200" y="3401568"/>
            <a:ext cx="4572000" cy="45720"/>
          </a:xfrm>
          <a:prstGeom prst="rect">
            <a:avLst/>
          </a:prstGeom>
          <a:solidFill>
            <a:srgbClr val="CADCFC"/>
          </a:solidFill>
          <a:ln w="12700">
            <a:solidFill>
              <a:srgbClr val="CADCFC"/>
            </a:solidFill>
            <a:prstDash val="solid"/>
          </a:ln>
        </p:spPr>
        <p:txBody>
          <a:bodyPr/>
          <a:lstStyle/>
          <a:p>
            <a:endParaRPr lang="en-AU"/>
          </a:p>
        </p:txBody>
      </p:sp>
      <p:sp>
        <p:nvSpPr>
          <p:cNvPr id="6" name="Text 4"/>
          <p:cNvSpPr/>
          <p:nvPr/>
        </p:nvSpPr>
        <p:spPr>
          <a:xfrm>
            <a:off x="457200" y="3520440"/>
            <a:ext cx="8229600" cy="3657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Model-Level Security · Kubernetes Defence-in-Depth · OpenClaw Architecture Failures · Systemic CVE Pattern Analysis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Security Analysis: Hermes Agent</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Seven-layer defence-in-depth, enforced by architecture</a:t>
            </a:r>
            <a:endParaRPr lang="en-US" sz="1300" dirty="0"/>
          </a:p>
        </p:txBody>
      </p:sp>
      <p:sp>
        <p:nvSpPr>
          <p:cNvPr id="5" name="Shape 3"/>
          <p:cNvSpPr/>
          <p:nvPr/>
        </p:nvSpPr>
        <p:spPr>
          <a:xfrm>
            <a:off x="365760" y="1051560"/>
            <a:ext cx="2011680" cy="1097280"/>
          </a:xfrm>
          <a:prstGeom prst="rect">
            <a:avLst/>
          </a:prstGeom>
          <a:solidFill>
            <a:srgbClr val="1E2761"/>
          </a:solidFill>
          <a:ln w="12700">
            <a:solidFill>
              <a:srgbClr val="1E2761"/>
            </a:solidFill>
            <a:prstDash val="solid"/>
          </a:ln>
          <a:effectLst>
            <a:outerShdw blurRad="101600" dist="38100" dir="8100000" algn="bl" rotWithShape="0">
              <a:srgbClr val="000000">
                <a:alpha val="10000"/>
              </a:srgbClr>
            </a:outerShdw>
          </a:effectLst>
        </p:spPr>
        <p:txBody>
          <a:bodyPr/>
          <a:lstStyle/>
          <a:p>
            <a:endParaRPr lang="en-AU"/>
          </a:p>
        </p:txBody>
      </p:sp>
      <p:sp>
        <p:nvSpPr>
          <p:cNvPr id="6" name="Text 4"/>
          <p:cNvSpPr/>
          <p:nvPr/>
        </p:nvSpPr>
        <p:spPr>
          <a:xfrm>
            <a:off x="365760" y="1097280"/>
            <a:ext cx="2011680" cy="640080"/>
          </a:xfrm>
          <a:prstGeom prst="rect">
            <a:avLst/>
          </a:prstGeom>
          <a:noFill/>
          <a:ln/>
        </p:spPr>
        <p:txBody>
          <a:bodyPr wrap="square" rtlCol="0" anchor="ctr"/>
          <a:lstStyle/>
          <a:p>
            <a:pPr marL="0" indent="0" algn="ctr">
              <a:buNone/>
            </a:pPr>
            <a:r>
              <a:rPr lang="en-US" sz="5600" b="1" dirty="0">
                <a:solidFill>
                  <a:srgbClr val="4F9CF9"/>
                </a:solidFill>
                <a:latin typeface="Georgia" pitchFamily="34" charset="0"/>
                <a:ea typeface="Georgia" pitchFamily="34" charset="-122"/>
                <a:cs typeface="Georgia" pitchFamily="34" charset="-120"/>
              </a:rPr>
              <a:t>1</a:t>
            </a:r>
            <a:endParaRPr lang="en-US" sz="5600" dirty="0"/>
          </a:p>
        </p:txBody>
      </p:sp>
      <p:sp>
        <p:nvSpPr>
          <p:cNvPr id="7" name="Text 5"/>
          <p:cNvSpPr/>
          <p:nvPr/>
        </p:nvSpPr>
        <p:spPr>
          <a:xfrm>
            <a:off x="365760" y="1737360"/>
            <a:ext cx="2011680" cy="36576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CVE disclosed</a:t>
            </a:r>
            <a:endParaRPr lang="en-US" sz="950" dirty="0"/>
          </a:p>
          <a:p>
            <a:pPr marL="0" indent="0" algn="ctr">
              <a:buNone/>
            </a:pPr>
            <a:r>
              <a:rPr lang="en-US" sz="950" dirty="0">
                <a:solidFill>
                  <a:srgbClr val="CADCFC"/>
                </a:solidFill>
                <a:latin typeface="Calibri" pitchFamily="34" charset="0"/>
                <a:ea typeface="Calibri" pitchFamily="34" charset="-122"/>
                <a:cs typeface="Calibri" pitchFamily="34" charset="-120"/>
              </a:rPr>
              <a:t>as of May 2026</a:t>
            </a:r>
            <a:endParaRPr lang="en-US" sz="950" dirty="0"/>
          </a:p>
        </p:txBody>
      </p:sp>
      <p:sp>
        <p:nvSpPr>
          <p:cNvPr id="8" name="Shape 6"/>
          <p:cNvSpPr/>
          <p:nvPr/>
        </p:nvSpPr>
        <p:spPr>
          <a:xfrm>
            <a:off x="2560320" y="1051560"/>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9" name="Shape 7"/>
          <p:cNvSpPr/>
          <p:nvPr/>
        </p:nvSpPr>
        <p:spPr>
          <a:xfrm>
            <a:off x="2560320" y="1051560"/>
            <a:ext cx="329184" cy="804672"/>
          </a:xfrm>
          <a:prstGeom prst="rect">
            <a:avLst/>
          </a:prstGeom>
          <a:solidFill>
            <a:srgbClr val="1E2761"/>
          </a:solidFill>
          <a:ln w="12700">
            <a:solidFill>
              <a:srgbClr val="1E2761"/>
            </a:solidFill>
            <a:prstDash val="solid"/>
          </a:ln>
        </p:spPr>
        <p:txBody>
          <a:bodyPr/>
          <a:lstStyle/>
          <a:p>
            <a:endParaRPr lang="en-AU"/>
          </a:p>
        </p:txBody>
      </p:sp>
      <p:sp>
        <p:nvSpPr>
          <p:cNvPr id="10" name="Text 8"/>
          <p:cNvSpPr/>
          <p:nvPr/>
        </p:nvSpPr>
        <p:spPr>
          <a:xfrm>
            <a:off x="2560320" y="1051560"/>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1</a:t>
            </a:r>
            <a:endParaRPr lang="en-US" sz="1300" dirty="0"/>
          </a:p>
        </p:txBody>
      </p:sp>
      <p:sp>
        <p:nvSpPr>
          <p:cNvPr id="11" name="Text 9"/>
          <p:cNvSpPr/>
          <p:nvPr/>
        </p:nvSpPr>
        <p:spPr>
          <a:xfrm>
            <a:off x="2944368" y="1088136"/>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User Authorisation</a:t>
            </a:r>
            <a:endParaRPr lang="en-US" sz="1000" dirty="0"/>
          </a:p>
        </p:txBody>
      </p:sp>
      <p:sp>
        <p:nvSpPr>
          <p:cNvPr id="12" name="Text 10"/>
          <p:cNvSpPr/>
          <p:nvPr/>
        </p:nvSpPr>
        <p:spPr>
          <a:xfrm>
            <a:off x="2944368" y="1325880"/>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Cryptographic 8-char pairing code, 1-hour TTL, cooldowns, and lockout thresholds that are session-bound by design.</a:t>
            </a:r>
            <a:endParaRPr lang="en-US" sz="850" dirty="0"/>
          </a:p>
        </p:txBody>
      </p:sp>
      <p:sp>
        <p:nvSpPr>
          <p:cNvPr id="13" name="Shape 11"/>
          <p:cNvSpPr/>
          <p:nvPr/>
        </p:nvSpPr>
        <p:spPr>
          <a:xfrm>
            <a:off x="2560320" y="1938528"/>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4" name="Shape 12"/>
          <p:cNvSpPr/>
          <p:nvPr/>
        </p:nvSpPr>
        <p:spPr>
          <a:xfrm>
            <a:off x="2560320" y="1938528"/>
            <a:ext cx="329184" cy="804672"/>
          </a:xfrm>
          <a:prstGeom prst="rect">
            <a:avLst/>
          </a:prstGeom>
          <a:solidFill>
            <a:srgbClr val="1E2761"/>
          </a:solidFill>
          <a:ln w="12700">
            <a:solidFill>
              <a:srgbClr val="1E2761"/>
            </a:solidFill>
            <a:prstDash val="solid"/>
          </a:ln>
        </p:spPr>
        <p:txBody>
          <a:bodyPr/>
          <a:lstStyle/>
          <a:p>
            <a:endParaRPr lang="en-AU"/>
          </a:p>
        </p:txBody>
      </p:sp>
      <p:sp>
        <p:nvSpPr>
          <p:cNvPr id="15" name="Text 13"/>
          <p:cNvSpPr/>
          <p:nvPr/>
        </p:nvSpPr>
        <p:spPr>
          <a:xfrm>
            <a:off x="2560320" y="1938528"/>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2</a:t>
            </a:r>
            <a:endParaRPr lang="en-US" sz="1300" dirty="0"/>
          </a:p>
        </p:txBody>
      </p:sp>
      <p:sp>
        <p:nvSpPr>
          <p:cNvPr id="16" name="Text 14"/>
          <p:cNvSpPr/>
          <p:nvPr/>
        </p:nvSpPr>
        <p:spPr>
          <a:xfrm>
            <a:off x="2944368" y="1975104"/>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Dangerous Command Approval</a:t>
            </a:r>
            <a:endParaRPr lang="en-US" sz="1000" dirty="0"/>
          </a:p>
        </p:txBody>
      </p:sp>
      <p:sp>
        <p:nvSpPr>
          <p:cNvPr id="17" name="Text 15"/>
          <p:cNvSpPr/>
          <p:nvPr/>
        </p:nvSpPr>
        <p:spPr>
          <a:xfrm>
            <a:off x="2944368" y="2212848"/>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Pattern matching intercepts high-risk commands (recursive deletion, SQL drops, curl|bash) with 60-second expiry, fail-closed.</a:t>
            </a:r>
            <a:endParaRPr lang="en-US" sz="850" dirty="0"/>
          </a:p>
        </p:txBody>
      </p:sp>
      <p:sp>
        <p:nvSpPr>
          <p:cNvPr id="18" name="Shape 16"/>
          <p:cNvSpPr/>
          <p:nvPr/>
        </p:nvSpPr>
        <p:spPr>
          <a:xfrm>
            <a:off x="2560320" y="2825496"/>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9" name="Shape 17"/>
          <p:cNvSpPr/>
          <p:nvPr/>
        </p:nvSpPr>
        <p:spPr>
          <a:xfrm>
            <a:off x="2560320" y="2825496"/>
            <a:ext cx="329184" cy="804672"/>
          </a:xfrm>
          <a:prstGeom prst="rect">
            <a:avLst/>
          </a:prstGeom>
          <a:solidFill>
            <a:srgbClr val="1E2761"/>
          </a:solidFill>
          <a:ln w="12700">
            <a:solidFill>
              <a:srgbClr val="1E2761"/>
            </a:solidFill>
            <a:prstDash val="solid"/>
          </a:ln>
        </p:spPr>
        <p:txBody>
          <a:bodyPr/>
          <a:lstStyle/>
          <a:p>
            <a:endParaRPr lang="en-AU"/>
          </a:p>
        </p:txBody>
      </p:sp>
      <p:sp>
        <p:nvSpPr>
          <p:cNvPr id="20" name="Text 18"/>
          <p:cNvSpPr/>
          <p:nvPr/>
        </p:nvSpPr>
        <p:spPr>
          <a:xfrm>
            <a:off x="2560320" y="2825496"/>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3</a:t>
            </a:r>
            <a:endParaRPr lang="en-US" sz="1300" dirty="0"/>
          </a:p>
        </p:txBody>
      </p:sp>
      <p:sp>
        <p:nvSpPr>
          <p:cNvPr id="21" name="Text 19"/>
          <p:cNvSpPr/>
          <p:nvPr/>
        </p:nvSpPr>
        <p:spPr>
          <a:xfrm>
            <a:off x="2944368" y="2862072"/>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Container Isolation</a:t>
            </a:r>
            <a:endParaRPr lang="en-US" sz="1000" dirty="0"/>
          </a:p>
        </p:txBody>
      </p:sp>
      <p:sp>
        <p:nvSpPr>
          <p:cNvPr id="22" name="Text 20"/>
          <p:cNvSpPr/>
          <p:nvPr/>
        </p:nvSpPr>
        <p:spPr>
          <a:xfrm>
            <a:off x="2944368" y="3099816"/>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No-new-privileges, all Linux capabilities dropped by default, only three selectively restored, capped process counts.</a:t>
            </a:r>
            <a:endParaRPr lang="en-US" sz="850" dirty="0"/>
          </a:p>
        </p:txBody>
      </p:sp>
      <p:sp>
        <p:nvSpPr>
          <p:cNvPr id="23" name="Shape 21"/>
          <p:cNvSpPr/>
          <p:nvPr/>
        </p:nvSpPr>
        <p:spPr>
          <a:xfrm>
            <a:off x="2560320" y="3712464"/>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4" name="Shape 22"/>
          <p:cNvSpPr/>
          <p:nvPr/>
        </p:nvSpPr>
        <p:spPr>
          <a:xfrm>
            <a:off x="2560320" y="3712464"/>
            <a:ext cx="329184" cy="804672"/>
          </a:xfrm>
          <a:prstGeom prst="rect">
            <a:avLst/>
          </a:prstGeom>
          <a:solidFill>
            <a:srgbClr val="1E2761"/>
          </a:solidFill>
          <a:ln w="12700">
            <a:solidFill>
              <a:srgbClr val="1E2761"/>
            </a:solidFill>
            <a:prstDash val="solid"/>
          </a:ln>
        </p:spPr>
        <p:txBody>
          <a:bodyPr/>
          <a:lstStyle/>
          <a:p>
            <a:endParaRPr lang="en-AU"/>
          </a:p>
        </p:txBody>
      </p:sp>
      <p:sp>
        <p:nvSpPr>
          <p:cNvPr id="25" name="Text 23"/>
          <p:cNvSpPr/>
          <p:nvPr/>
        </p:nvSpPr>
        <p:spPr>
          <a:xfrm>
            <a:off x="2560320" y="3712464"/>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4</a:t>
            </a:r>
            <a:endParaRPr lang="en-US" sz="1300" dirty="0"/>
          </a:p>
        </p:txBody>
      </p:sp>
      <p:sp>
        <p:nvSpPr>
          <p:cNvPr id="26" name="Text 24"/>
          <p:cNvSpPr/>
          <p:nvPr/>
        </p:nvSpPr>
        <p:spPr>
          <a:xfrm>
            <a:off x="2944368" y="3749040"/>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MCP Credential Filtering</a:t>
            </a:r>
            <a:endParaRPr lang="en-US" sz="1000" dirty="0"/>
          </a:p>
        </p:txBody>
      </p:sp>
      <p:sp>
        <p:nvSpPr>
          <p:cNvPr id="27" name="Text 25"/>
          <p:cNvSpPr/>
          <p:nvPr/>
        </p:nvSpPr>
        <p:spPr>
          <a:xfrm>
            <a:off x="2944368" y="3986784"/>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Only approved env variables reach subprocesses while API keys and tokens stripped from all logs and stack traces.</a:t>
            </a:r>
            <a:endParaRPr lang="en-US" sz="850" dirty="0"/>
          </a:p>
        </p:txBody>
      </p:sp>
      <p:sp>
        <p:nvSpPr>
          <p:cNvPr id="28" name="Shape 26"/>
          <p:cNvSpPr/>
          <p:nvPr/>
        </p:nvSpPr>
        <p:spPr>
          <a:xfrm>
            <a:off x="5943600" y="1051560"/>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9" name="Shape 27"/>
          <p:cNvSpPr/>
          <p:nvPr/>
        </p:nvSpPr>
        <p:spPr>
          <a:xfrm>
            <a:off x="5943600" y="1051560"/>
            <a:ext cx="329184" cy="804672"/>
          </a:xfrm>
          <a:prstGeom prst="rect">
            <a:avLst/>
          </a:prstGeom>
          <a:solidFill>
            <a:srgbClr val="1E2761"/>
          </a:solidFill>
          <a:ln w="12700">
            <a:solidFill>
              <a:srgbClr val="1E2761"/>
            </a:solidFill>
            <a:prstDash val="solid"/>
          </a:ln>
        </p:spPr>
        <p:txBody>
          <a:bodyPr/>
          <a:lstStyle/>
          <a:p>
            <a:endParaRPr lang="en-AU"/>
          </a:p>
        </p:txBody>
      </p:sp>
      <p:sp>
        <p:nvSpPr>
          <p:cNvPr id="30" name="Text 28"/>
          <p:cNvSpPr/>
          <p:nvPr/>
        </p:nvSpPr>
        <p:spPr>
          <a:xfrm>
            <a:off x="5943600" y="1051560"/>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5</a:t>
            </a:r>
            <a:endParaRPr lang="en-US" sz="1300" dirty="0"/>
          </a:p>
        </p:txBody>
      </p:sp>
      <p:sp>
        <p:nvSpPr>
          <p:cNvPr id="31" name="Text 29"/>
          <p:cNvSpPr/>
          <p:nvPr/>
        </p:nvSpPr>
        <p:spPr>
          <a:xfrm>
            <a:off x="6327648" y="1088136"/>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Prompt Injection Scanning</a:t>
            </a:r>
            <a:endParaRPr lang="en-US" sz="1000" dirty="0"/>
          </a:p>
        </p:txBody>
      </p:sp>
      <p:sp>
        <p:nvSpPr>
          <p:cNvPr id="32" name="Text 30"/>
          <p:cNvSpPr/>
          <p:nvPr/>
        </p:nvSpPr>
        <p:spPr>
          <a:xfrm>
            <a:off x="6327648" y="1325880"/>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External artifacts scanned for hidden Unicode, embedded credentials, and adversarial instructions before model ingestion.</a:t>
            </a:r>
            <a:endParaRPr lang="en-US" sz="850" dirty="0"/>
          </a:p>
        </p:txBody>
      </p:sp>
      <p:sp>
        <p:nvSpPr>
          <p:cNvPr id="33" name="Shape 31"/>
          <p:cNvSpPr/>
          <p:nvPr/>
        </p:nvSpPr>
        <p:spPr>
          <a:xfrm>
            <a:off x="5943600" y="1938528"/>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34" name="Shape 32"/>
          <p:cNvSpPr/>
          <p:nvPr/>
        </p:nvSpPr>
        <p:spPr>
          <a:xfrm>
            <a:off x="5943600" y="1938528"/>
            <a:ext cx="329184" cy="804672"/>
          </a:xfrm>
          <a:prstGeom prst="rect">
            <a:avLst/>
          </a:prstGeom>
          <a:solidFill>
            <a:srgbClr val="1E2761"/>
          </a:solidFill>
          <a:ln w="12700">
            <a:solidFill>
              <a:srgbClr val="1E2761"/>
            </a:solidFill>
            <a:prstDash val="solid"/>
          </a:ln>
        </p:spPr>
        <p:txBody>
          <a:bodyPr/>
          <a:lstStyle/>
          <a:p>
            <a:endParaRPr lang="en-AU"/>
          </a:p>
        </p:txBody>
      </p:sp>
      <p:sp>
        <p:nvSpPr>
          <p:cNvPr id="35" name="Text 33"/>
          <p:cNvSpPr/>
          <p:nvPr/>
        </p:nvSpPr>
        <p:spPr>
          <a:xfrm>
            <a:off x="5943600" y="1938528"/>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6</a:t>
            </a:r>
            <a:endParaRPr lang="en-US" sz="1300" dirty="0"/>
          </a:p>
        </p:txBody>
      </p:sp>
      <p:sp>
        <p:nvSpPr>
          <p:cNvPr id="36" name="Text 34"/>
          <p:cNvSpPr/>
          <p:nvPr/>
        </p:nvSpPr>
        <p:spPr>
          <a:xfrm>
            <a:off x="6327648" y="1975104"/>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Cross-Session Isolation</a:t>
            </a:r>
            <a:endParaRPr lang="en-US" sz="1000" dirty="0"/>
          </a:p>
        </p:txBody>
      </p:sp>
      <p:sp>
        <p:nvSpPr>
          <p:cNvPr id="37" name="Text 35"/>
          <p:cNvSpPr/>
          <p:nvPr/>
        </p:nvSpPr>
        <p:spPr>
          <a:xfrm>
            <a:off x="6327648" y="2212848"/>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Every user session fully isolated so there is no shared memory or execution state. Storage paths are also hardened against traversal.</a:t>
            </a:r>
            <a:endParaRPr lang="en-US" sz="850" dirty="0"/>
          </a:p>
        </p:txBody>
      </p:sp>
      <p:sp>
        <p:nvSpPr>
          <p:cNvPr id="38" name="Shape 36"/>
          <p:cNvSpPr/>
          <p:nvPr/>
        </p:nvSpPr>
        <p:spPr>
          <a:xfrm>
            <a:off x="5943600" y="2825496"/>
            <a:ext cx="3246120" cy="80467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39" name="Shape 37"/>
          <p:cNvSpPr/>
          <p:nvPr/>
        </p:nvSpPr>
        <p:spPr>
          <a:xfrm>
            <a:off x="5943600" y="2825496"/>
            <a:ext cx="329184" cy="804672"/>
          </a:xfrm>
          <a:prstGeom prst="rect">
            <a:avLst/>
          </a:prstGeom>
          <a:solidFill>
            <a:srgbClr val="1E2761"/>
          </a:solidFill>
          <a:ln w="12700">
            <a:solidFill>
              <a:srgbClr val="1E2761"/>
            </a:solidFill>
            <a:prstDash val="solid"/>
          </a:ln>
        </p:spPr>
        <p:txBody>
          <a:bodyPr/>
          <a:lstStyle/>
          <a:p>
            <a:endParaRPr lang="en-AU"/>
          </a:p>
        </p:txBody>
      </p:sp>
      <p:sp>
        <p:nvSpPr>
          <p:cNvPr id="40" name="Text 38"/>
          <p:cNvSpPr/>
          <p:nvPr/>
        </p:nvSpPr>
        <p:spPr>
          <a:xfrm>
            <a:off x="5943600" y="2825496"/>
            <a:ext cx="329184" cy="804672"/>
          </a:xfrm>
          <a:prstGeom prst="rect">
            <a:avLst/>
          </a:prstGeom>
          <a:noFill/>
          <a:ln/>
        </p:spPr>
        <p:txBody>
          <a:bodyPr wrap="square" lIns="0" tIns="0" rIns="0" bIns="0" rtlCol="0" anchor="ctr"/>
          <a:lstStyle/>
          <a:p>
            <a:pPr marL="0" indent="0" algn="ctr">
              <a:buNone/>
            </a:pPr>
            <a:r>
              <a:rPr lang="en-US" sz="1300" b="1" dirty="0">
                <a:solidFill>
                  <a:srgbClr val="4F9CF9"/>
                </a:solidFill>
                <a:latin typeface="Georgia" pitchFamily="34" charset="0"/>
                <a:ea typeface="Georgia" pitchFamily="34" charset="-122"/>
                <a:cs typeface="Georgia" pitchFamily="34" charset="-120"/>
              </a:rPr>
              <a:t>7</a:t>
            </a:r>
            <a:endParaRPr lang="en-US" sz="1300" dirty="0"/>
          </a:p>
        </p:txBody>
      </p:sp>
      <p:sp>
        <p:nvSpPr>
          <p:cNvPr id="41" name="Text 39"/>
          <p:cNvSpPr/>
          <p:nvPr/>
        </p:nvSpPr>
        <p:spPr>
          <a:xfrm>
            <a:off x="6327648" y="2862072"/>
            <a:ext cx="281635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Input Sanitisation</a:t>
            </a:r>
            <a:endParaRPr lang="en-US" sz="1000" dirty="0"/>
          </a:p>
        </p:txBody>
      </p:sp>
      <p:sp>
        <p:nvSpPr>
          <p:cNvPr id="42" name="Text 40"/>
          <p:cNvSpPr/>
          <p:nvPr/>
        </p:nvSpPr>
        <p:spPr>
          <a:xfrm>
            <a:off x="6327648" y="3099816"/>
            <a:ext cx="2816352" cy="47548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Working directories and execution inputs validated against allowlists, preventing shell injection and directory escape.</a:t>
            </a:r>
            <a:endParaRPr lang="en-US" sz="850" dirty="0"/>
          </a:p>
        </p:txBody>
      </p:sp>
      <p:sp>
        <p:nvSpPr>
          <p:cNvPr id="43" name="Shape 41"/>
          <p:cNvSpPr/>
          <p:nvPr/>
        </p:nvSpPr>
        <p:spPr>
          <a:xfrm>
            <a:off x="2560320" y="4636008"/>
            <a:ext cx="6629400" cy="201168"/>
          </a:xfrm>
          <a:prstGeom prst="rect">
            <a:avLst/>
          </a:prstGeom>
          <a:solidFill>
            <a:srgbClr val="CADCFC">
              <a:alpha val="40000"/>
            </a:srgbClr>
          </a:solidFill>
          <a:ln w="8890">
            <a:solidFill>
              <a:srgbClr val="4F9CF9"/>
            </a:solidFill>
            <a:prstDash val="solid"/>
          </a:ln>
        </p:spPr>
        <p:txBody>
          <a:bodyPr/>
          <a:lstStyle/>
          <a:p>
            <a:endParaRPr lang="en-AU"/>
          </a:p>
        </p:txBody>
      </p:sp>
      <p:sp>
        <p:nvSpPr>
          <p:cNvPr id="44" name="Text 42"/>
          <p:cNvSpPr/>
          <p:nvPr/>
        </p:nvSpPr>
        <p:spPr>
          <a:xfrm>
            <a:off x="2606040" y="4636008"/>
            <a:ext cx="6492240" cy="201168"/>
          </a:xfrm>
          <a:prstGeom prst="rect">
            <a:avLst/>
          </a:prstGeom>
          <a:noFill/>
          <a:ln/>
        </p:spPr>
        <p:txBody>
          <a:bodyPr wrap="square" rtlCol="0" anchor="ctr"/>
          <a:lstStyle/>
          <a:p>
            <a:pPr marL="0" indent="0">
              <a:buNone/>
            </a:pPr>
            <a:r>
              <a:rPr lang="en-US" sz="850" dirty="0">
                <a:solidFill>
                  <a:srgbClr val="1E2761"/>
                </a:solidFill>
                <a:latin typeface="Calibri" pitchFamily="34" charset="0"/>
                <a:ea typeface="Calibri" pitchFamily="34" charset="-122"/>
                <a:cs typeface="Calibri" pitchFamily="34" charset="-120"/>
              </a:rPr>
              <a:t>+ SSRF protection  •  Tirith semantic analyser  •  Immutable command blocklist  •  Supply chain advisory scanning</a:t>
            </a:r>
            <a:endParaRPr lang="en-US" sz="850" dirty="0"/>
          </a:p>
        </p:txBody>
      </p:sp>
      <p:sp>
        <p:nvSpPr>
          <p:cNvPr id="45" name="Shape 43"/>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46" name="Text 4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2372082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64592"/>
            <a:ext cx="8229600" cy="475488"/>
          </a:xfrm>
          <a:prstGeom prst="rect">
            <a:avLst/>
          </a:prstGeom>
          <a:noFill/>
          <a:ln/>
        </p:spPr>
        <p:txBody>
          <a:bodyPr wrap="square"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5.1  Hermes: Model Security &amp; Kubernetes</a:t>
            </a:r>
            <a:endParaRPr lang="en-US" sz="2400" dirty="0"/>
          </a:p>
        </p:txBody>
      </p:sp>
      <p:sp>
        <p:nvSpPr>
          <p:cNvPr id="4" name="Text 2"/>
          <p:cNvSpPr/>
          <p:nvPr/>
        </p:nvSpPr>
        <p:spPr>
          <a:xfrm>
            <a:off x="457200" y="640080"/>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Beyond infrastructure controls: model behaviour and cluster-level governance</a:t>
            </a:r>
            <a:endParaRPr lang="en-US" sz="1200" dirty="0"/>
          </a:p>
        </p:txBody>
      </p:sp>
      <p:sp>
        <p:nvSpPr>
          <p:cNvPr id="5" name="Text 3"/>
          <p:cNvSpPr/>
          <p:nvPr/>
        </p:nvSpPr>
        <p:spPr>
          <a:xfrm>
            <a:off x="457200" y="1005840"/>
            <a:ext cx="8229600" cy="256032"/>
          </a:xfrm>
          <a:prstGeom prst="rect">
            <a:avLst/>
          </a:prstGeom>
          <a:noFill/>
          <a:ln/>
        </p:spPr>
        <p:txBody>
          <a:bodyPr wrap="square"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5.1.2  Model-Level Security Properties</a:t>
            </a:r>
            <a:endParaRPr lang="en-US" sz="1100" dirty="0"/>
          </a:p>
        </p:txBody>
      </p:sp>
      <p:sp>
        <p:nvSpPr>
          <p:cNvPr id="6" name="Shape 4"/>
          <p:cNvSpPr/>
          <p:nvPr/>
        </p:nvSpPr>
        <p:spPr>
          <a:xfrm>
            <a:off x="365760" y="1325880"/>
            <a:ext cx="4114800" cy="621792"/>
          </a:xfrm>
          <a:prstGeom prst="rect">
            <a:avLst/>
          </a:prstGeom>
          <a:solidFill>
            <a:srgbClr val="F8FAFF"/>
          </a:solidFill>
          <a:ln w="6350">
            <a:solidFill>
              <a:srgbClr val="CADCFC">
                <a:alpha val="50000"/>
              </a:srgbClr>
            </a:solidFill>
            <a:prstDash val="solid"/>
          </a:ln>
          <a:effectLst>
            <a:outerShdw blurRad="101600" dist="38100" dir="8100000" algn="bl" rotWithShape="0">
              <a:srgbClr val="000000">
                <a:alpha val="10000"/>
              </a:srgbClr>
            </a:outerShdw>
          </a:effectLst>
        </p:spPr>
        <p:txBody>
          <a:bodyPr/>
          <a:lstStyle/>
          <a:p>
            <a:endParaRPr lang="en-AU"/>
          </a:p>
        </p:txBody>
      </p:sp>
      <p:sp>
        <p:nvSpPr>
          <p:cNvPr id="7" name="Shape 5"/>
          <p:cNvSpPr/>
          <p:nvPr/>
        </p:nvSpPr>
        <p:spPr>
          <a:xfrm>
            <a:off x="365760" y="1325880"/>
            <a:ext cx="54864" cy="621792"/>
          </a:xfrm>
          <a:prstGeom prst="rect">
            <a:avLst/>
          </a:prstGeom>
          <a:solidFill>
            <a:srgbClr val="4F9CF9"/>
          </a:solidFill>
          <a:ln w="12700">
            <a:solidFill>
              <a:srgbClr val="4F9CF9"/>
            </a:solidFill>
            <a:prstDash val="solid"/>
          </a:ln>
        </p:spPr>
        <p:txBody>
          <a:bodyPr/>
          <a:lstStyle/>
          <a:p>
            <a:endParaRPr lang="en-AU"/>
          </a:p>
        </p:txBody>
      </p:sp>
      <p:sp>
        <p:nvSpPr>
          <p:cNvPr id="8" name="Text 6"/>
          <p:cNvSpPr/>
          <p:nvPr/>
        </p:nvSpPr>
        <p:spPr>
          <a:xfrm>
            <a:off x="502920" y="1362456"/>
            <a:ext cx="391363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Explicit Refusal Training</a:t>
            </a:r>
            <a:endParaRPr lang="en-US" sz="1000" dirty="0"/>
          </a:p>
        </p:txBody>
      </p:sp>
      <p:sp>
        <p:nvSpPr>
          <p:cNvPr id="9" name="Text 7"/>
          <p:cNvSpPr/>
          <p:nvPr/>
        </p:nvSpPr>
        <p:spPr>
          <a:xfrm>
            <a:off x="502920" y="1600200"/>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Model is trained to </a:t>
            </a:r>
            <a:r>
              <a:rPr lang="en-US" sz="850" b="1" dirty="0">
                <a:solidFill>
                  <a:srgbClr val="64748B"/>
                </a:solidFill>
                <a:latin typeface="Calibri" pitchFamily="34" charset="0"/>
                <a:ea typeface="Calibri" pitchFamily="34" charset="-122"/>
                <a:cs typeface="Calibri" pitchFamily="34" charset="-120"/>
              </a:rPr>
              <a:t>refuse unsafe instructions,</a:t>
            </a:r>
            <a:r>
              <a:rPr lang="en-US" sz="850" dirty="0">
                <a:solidFill>
                  <a:srgbClr val="64748B"/>
                </a:solidFill>
                <a:latin typeface="Calibri" pitchFamily="34" charset="0"/>
                <a:ea typeface="Calibri" pitchFamily="34" charset="-122"/>
                <a:cs typeface="Calibri" pitchFamily="34" charset="-120"/>
              </a:rPr>
              <a:t> not just blocked at the infrastructure layer. Refusal is a </a:t>
            </a:r>
            <a:r>
              <a:rPr lang="en-US" sz="850" b="1" dirty="0">
                <a:solidFill>
                  <a:srgbClr val="64748B"/>
                </a:solidFill>
                <a:latin typeface="Calibri" pitchFamily="34" charset="0"/>
                <a:ea typeface="Calibri" pitchFamily="34" charset="-122"/>
                <a:cs typeface="Calibri" pitchFamily="34" charset="-120"/>
              </a:rPr>
              <a:t>learned behaviour</a:t>
            </a:r>
            <a:r>
              <a:rPr lang="en-US" sz="850" dirty="0">
                <a:solidFill>
                  <a:srgbClr val="64748B"/>
                </a:solidFill>
                <a:latin typeface="Calibri" pitchFamily="34" charset="0"/>
                <a:ea typeface="Calibri" pitchFamily="34" charset="-122"/>
                <a:cs typeface="Calibri" pitchFamily="34" charset="-120"/>
              </a:rPr>
              <a:t>, not purely a filter.</a:t>
            </a:r>
            <a:endParaRPr lang="en-US" sz="850" dirty="0"/>
          </a:p>
        </p:txBody>
      </p:sp>
      <p:sp>
        <p:nvSpPr>
          <p:cNvPr id="10" name="Shape 8"/>
          <p:cNvSpPr/>
          <p:nvPr/>
        </p:nvSpPr>
        <p:spPr>
          <a:xfrm>
            <a:off x="4663440" y="1325880"/>
            <a:ext cx="4114800" cy="621792"/>
          </a:xfrm>
          <a:prstGeom prst="rect">
            <a:avLst/>
          </a:prstGeom>
          <a:solidFill>
            <a:srgbClr val="FFFFFF"/>
          </a:solidFill>
          <a:ln w="6350">
            <a:solidFill>
              <a:srgbClr val="CADCFC">
                <a:alpha val="50000"/>
              </a:srgbClr>
            </a:solidFill>
            <a:prstDash val="solid"/>
          </a:ln>
          <a:effectLst>
            <a:outerShdw blurRad="101600" dist="38100" dir="8100000" algn="bl" rotWithShape="0">
              <a:srgbClr val="000000">
                <a:alpha val="10000"/>
              </a:srgbClr>
            </a:outerShdw>
          </a:effectLst>
        </p:spPr>
        <p:txBody>
          <a:bodyPr/>
          <a:lstStyle/>
          <a:p>
            <a:endParaRPr lang="en-AU"/>
          </a:p>
        </p:txBody>
      </p:sp>
      <p:sp>
        <p:nvSpPr>
          <p:cNvPr id="11" name="Shape 9"/>
          <p:cNvSpPr/>
          <p:nvPr/>
        </p:nvSpPr>
        <p:spPr>
          <a:xfrm>
            <a:off x="4663440" y="1325880"/>
            <a:ext cx="54864" cy="621792"/>
          </a:xfrm>
          <a:prstGeom prst="rect">
            <a:avLst/>
          </a:prstGeom>
          <a:solidFill>
            <a:srgbClr val="4F9CF9"/>
          </a:solidFill>
          <a:ln w="12700">
            <a:solidFill>
              <a:srgbClr val="4F9CF9"/>
            </a:solidFill>
            <a:prstDash val="solid"/>
          </a:ln>
        </p:spPr>
        <p:txBody>
          <a:bodyPr/>
          <a:lstStyle/>
          <a:p>
            <a:endParaRPr lang="en-AU"/>
          </a:p>
        </p:txBody>
      </p:sp>
      <p:sp>
        <p:nvSpPr>
          <p:cNvPr id="12" name="Text 10"/>
          <p:cNvSpPr/>
          <p:nvPr/>
        </p:nvSpPr>
        <p:spPr>
          <a:xfrm>
            <a:off x="4800600" y="1362456"/>
            <a:ext cx="391363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System-Prompt Authority</a:t>
            </a:r>
            <a:endParaRPr lang="en-US" sz="1000" dirty="0"/>
          </a:p>
        </p:txBody>
      </p:sp>
      <p:sp>
        <p:nvSpPr>
          <p:cNvPr id="13" name="Text 11"/>
          <p:cNvSpPr/>
          <p:nvPr/>
        </p:nvSpPr>
        <p:spPr>
          <a:xfrm>
            <a:off x="4800600" y="1600200"/>
            <a:ext cx="3913632" cy="310896"/>
          </a:xfrm>
          <a:prstGeom prst="rect">
            <a:avLst/>
          </a:prstGeom>
          <a:noFill/>
          <a:ln/>
        </p:spPr>
        <p:txBody>
          <a:bodyPr wrap="square" rtlCol="0" anchor="ctr"/>
          <a:lstStyle/>
          <a:p>
            <a:pPr marL="0" indent="0">
              <a:buNone/>
            </a:pPr>
            <a:r>
              <a:rPr lang="en-US" sz="850" b="1" dirty="0">
                <a:solidFill>
                  <a:srgbClr val="64748B"/>
                </a:solidFill>
                <a:latin typeface="Calibri" pitchFamily="34" charset="0"/>
                <a:ea typeface="Calibri" pitchFamily="34" charset="-122"/>
                <a:cs typeface="Calibri" pitchFamily="34" charset="-120"/>
              </a:rPr>
              <a:t>Reinforced resistance to system-prompt override attempts </a:t>
            </a:r>
            <a:r>
              <a:rPr lang="en-US" sz="850" dirty="0">
                <a:solidFill>
                  <a:srgbClr val="64748B"/>
                </a:solidFill>
                <a:latin typeface="Calibri" pitchFamily="34" charset="0"/>
                <a:ea typeface="Calibri" pitchFamily="34" charset="-122"/>
                <a:cs typeface="Calibri" pitchFamily="34" charset="-120"/>
              </a:rPr>
              <a:t>across multi-turn interactions, reducing the risk of adversarial users escaping operational scope.</a:t>
            </a:r>
            <a:endParaRPr lang="en-US" sz="850" dirty="0"/>
          </a:p>
        </p:txBody>
      </p:sp>
      <p:sp>
        <p:nvSpPr>
          <p:cNvPr id="14" name="Shape 12"/>
          <p:cNvSpPr/>
          <p:nvPr/>
        </p:nvSpPr>
        <p:spPr>
          <a:xfrm>
            <a:off x="365760" y="2011680"/>
            <a:ext cx="4114800" cy="621792"/>
          </a:xfrm>
          <a:prstGeom prst="rect">
            <a:avLst/>
          </a:prstGeom>
          <a:solidFill>
            <a:srgbClr val="F8FAFF"/>
          </a:solidFill>
          <a:ln w="6350">
            <a:solidFill>
              <a:srgbClr val="CADCFC">
                <a:alpha val="50000"/>
              </a:srgbClr>
            </a:solidFill>
            <a:prstDash val="solid"/>
          </a:ln>
          <a:effectLst>
            <a:outerShdw blurRad="101600" dist="38100" dir="8100000" algn="bl" rotWithShape="0">
              <a:srgbClr val="000000">
                <a:alpha val="10000"/>
              </a:srgbClr>
            </a:outerShdw>
          </a:effectLst>
        </p:spPr>
        <p:txBody>
          <a:bodyPr/>
          <a:lstStyle/>
          <a:p>
            <a:endParaRPr lang="en-AU"/>
          </a:p>
        </p:txBody>
      </p:sp>
      <p:sp>
        <p:nvSpPr>
          <p:cNvPr id="15" name="Shape 13"/>
          <p:cNvSpPr/>
          <p:nvPr/>
        </p:nvSpPr>
        <p:spPr>
          <a:xfrm>
            <a:off x="365760" y="2011680"/>
            <a:ext cx="54864" cy="621792"/>
          </a:xfrm>
          <a:prstGeom prst="rect">
            <a:avLst/>
          </a:prstGeom>
          <a:solidFill>
            <a:srgbClr val="4F9CF9"/>
          </a:solidFill>
          <a:ln w="12700">
            <a:solidFill>
              <a:srgbClr val="4F9CF9"/>
            </a:solidFill>
            <a:prstDash val="solid"/>
          </a:ln>
        </p:spPr>
        <p:txBody>
          <a:bodyPr/>
          <a:lstStyle/>
          <a:p>
            <a:endParaRPr lang="en-AU"/>
          </a:p>
        </p:txBody>
      </p:sp>
      <p:sp>
        <p:nvSpPr>
          <p:cNvPr id="16" name="Text 14"/>
          <p:cNvSpPr/>
          <p:nvPr/>
        </p:nvSpPr>
        <p:spPr>
          <a:xfrm>
            <a:off x="502920" y="2048256"/>
            <a:ext cx="391363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Deterministic Deployment</a:t>
            </a:r>
            <a:endParaRPr lang="en-US" sz="1000" dirty="0"/>
          </a:p>
        </p:txBody>
      </p:sp>
      <p:sp>
        <p:nvSpPr>
          <p:cNvPr id="17" name="Text 15"/>
          <p:cNvSpPr/>
          <p:nvPr/>
        </p:nvSpPr>
        <p:spPr>
          <a:xfrm>
            <a:off x="502920" y="2286000"/>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Fixed weights with controlled sampling </a:t>
            </a:r>
            <a:r>
              <a:rPr lang="en-US" sz="850" b="1" dirty="0">
                <a:solidFill>
                  <a:srgbClr val="64748B"/>
                </a:solidFill>
                <a:latin typeface="Calibri" pitchFamily="34" charset="0"/>
                <a:ea typeface="Calibri" pitchFamily="34" charset="-122"/>
                <a:cs typeface="Calibri" pitchFamily="34" charset="-120"/>
              </a:rPr>
              <a:t>reproduce</a:t>
            </a:r>
            <a:r>
              <a:rPr lang="en-US" sz="850" dirty="0">
                <a:solidFill>
                  <a:srgbClr val="64748B"/>
                </a:solidFill>
                <a:latin typeface="Calibri" pitchFamily="34" charset="0"/>
                <a:ea typeface="Calibri" pitchFamily="34" charset="-122"/>
                <a:cs typeface="Calibri" pitchFamily="34" charset="-120"/>
              </a:rPr>
              <a:t> the same reasoning chains under the same inputs, enabling faithful audit trail replay.</a:t>
            </a:r>
            <a:endParaRPr lang="en-US" sz="850" dirty="0"/>
          </a:p>
        </p:txBody>
      </p:sp>
      <p:sp>
        <p:nvSpPr>
          <p:cNvPr id="18" name="Shape 16"/>
          <p:cNvSpPr/>
          <p:nvPr/>
        </p:nvSpPr>
        <p:spPr>
          <a:xfrm>
            <a:off x="4663440" y="2011680"/>
            <a:ext cx="4114800" cy="621792"/>
          </a:xfrm>
          <a:prstGeom prst="rect">
            <a:avLst/>
          </a:prstGeom>
          <a:solidFill>
            <a:srgbClr val="FFFFFF"/>
          </a:solidFill>
          <a:ln w="6350">
            <a:solidFill>
              <a:srgbClr val="CADCFC">
                <a:alpha val="50000"/>
              </a:srgbClr>
            </a:solidFill>
            <a:prstDash val="solid"/>
          </a:ln>
          <a:effectLst>
            <a:outerShdw blurRad="101600" dist="38100" dir="8100000" algn="bl" rotWithShape="0">
              <a:srgbClr val="000000">
                <a:alpha val="10000"/>
              </a:srgbClr>
            </a:outerShdw>
          </a:effectLst>
        </p:spPr>
        <p:txBody>
          <a:bodyPr/>
          <a:lstStyle/>
          <a:p>
            <a:endParaRPr lang="en-AU"/>
          </a:p>
        </p:txBody>
      </p:sp>
      <p:sp>
        <p:nvSpPr>
          <p:cNvPr id="19" name="Shape 17"/>
          <p:cNvSpPr/>
          <p:nvPr/>
        </p:nvSpPr>
        <p:spPr>
          <a:xfrm>
            <a:off x="4663440" y="2011680"/>
            <a:ext cx="54864" cy="621792"/>
          </a:xfrm>
          <a:prstGeom prst="rect">
            <a:avLst/>
          </a:prstGeom>
          <a:solidFill>
            <a:srgbClr val="4F9CF9"/>
          </a:solidFill>
          <a:ln w="12700">
            <a:solidFill>
              <a:srgbClr val="4F9CF9"/>
            </a:solidFill>
            <a:prstDash val="solid"/>
          </a:ln>
        </p:spPr>
        <p:txBody>
          <a:bodyPr/>
          <a:lstStyle/>
          <a:p>
            <a:endParaRPr lang="en-AU"/>
          </a:p>
        </p:txBody>
      </p:sp>
      <p:sp>
        <p:nvSpPr>
          <p:cNvPr id="20" name="Text 18"/>
          <p:cNvSpPr/>
          <p:nvPr/>
        </p:nvSpPr>
        <p:spPr>
          <a:xfrm>
            <a:off x="4800600" y="2048256"/>
            <a:ext cx="391363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Open-Weight Transparency</a:t>
            </a:r>
            <a:endParaRPr lang="en-US" sz="1000" dirty="0"/>
          </a:p>
        </p:txBody>
      </p:sp>
      <p:sp>
        <p:nvSpPr>
          <p:cNvPr id="21" name="Text 19"/>
          <p:cNvSpPr/>
          <p:nvPr/>
        </p:nvSpPr>
        <p:spPr>
          <a:xfrm>
            <a:off x="4800600" y="2286000"/>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Model weights are </a:t>
            </a:r>
            <a:r>
              <a:rPr lang="en-US" sz="850" b="1" dirty="0">
                <a:solidFill>
                  <a:srgbClr val="64748B"/>
                </a:solidFill>
                <a:latin typeface="Calibri" pitchFamily="34" charset="0"/>
                <a:ea typeface="Calibri" pitchFamily="34" charset="-122"/>
                <a:cs typeface="Calibri" pitchFamily="34" charset="-120"/>
              </a:rPr>
              <a:t>fully inspectable</a:t>
            </a:r>
            <a:r>
              <a:rPr lang="en-US" sz="850" dirty="0">
                <a:solidFill>
                  <a:srgbClr val="64748B"/>
                </a:solidFill>
                <a:latin typeface="Calibri" pitchFamily="34" charset="0"/>
                <a:ea typeface="Calibri" pitchFamily="34" charset="-122"/>
                <a:cs typeface="Calibri" pitchFamily="34" charset="-120"/>
              </a:rPr>
              <a:t>. DSO can audit and verify behaviour before deploying on sensitive infrastructure, which may be hard to implement with closed API-only systems.</a:t>
            </a:r>
            <a:endParaRPr lang="en-US" sz="850" dirty="0"/>
          </a:p>
        </p:txBody>
      </p:sp>
      <p:sp>
        <p:nvSpPr>
          <p:cNvPr id="22" name="Shape 20"/>
          <p:cNvSpPr/>
          <p:nvPr/>
        </p:nvSpPr>
        <p:spPr>
          <a:xfrm>
            <a:off x="365760" y="2697480"/>
            <a:ext cx="4114800" cy="621792"/>
          </a:xfrm>
          <a:prstGeom prst="rect">
            <a:avLst/>
          </a:prstGeom>
          <a:solidFill>
            <a:srgbClr val="F8FAFF"/>
          </a:solidFill>
          <a:ln w="6350">
            <a:solidFill>
              <a:srgbClr val="CADCFC">
                <a:alpha val="50000"/>
              </a:srgbClr>
            </a:solidFill>
            <a:prstDash val="solid"/>
          </a:ln>
          <a:effectLst>
            <a:outerShdw blurRad="101600" dist="38100" dir="8100000" algn="bl" rotWithShape="0">
              <a:srgbClr val="000000">
                <a:alpha val="10000"/>
              </a:srgbClr>
            </a:outerShdw>
          </a:effectLst>
        </p:spPr>
        <p:txBody>
          <a:bodyPr/>
          <a:lstStyle/>
          <a:p>
            <a:endParaRPr lang="en-AU"/>
          </a:p>
        </p:txBody>
      </p:sp>
      <p:sp>
        <p:nvSpPr>
          <p:cNvPr id="23" name="Shape 21"/>
          <p:cNvSpPr/>
          <p:nvPr/>
        </p:nvSpPr>
        <p:spPr>
          <a:xfrm>
            <a:off x="365760" y="2697480"/>
            <a:ext cx="54864" cy="621792"/>
          </a:xfrm>
          <a:prstGeom prst="rect">
            <a:avLst/>
          </a:prstGeom>
          <a:solidFill>
            <a:srgbClr val="4F9CF9"/>
          </a:solidFill>
          <a:ln w="12700">
            <a:solidFill>
              <a:srgbClr val="4F9CF9"/>
            </a:solidFill>
            <a:prstDash val="solid"/>
          </a:ln>
        </p:spPr>
        <p:txBody>
          <a:bodyPr/>
          <a:lstStyle/>
          <a:p>
            <a:endParaRPr lang="en-AU"/>
          </a:p>
        </p:txBody>
      </p:sp>
      <p:sp>
        <p:nvSpPr>
          <p:cNvPr id="24" name="Text 22"/>
          <p:cNvSpPr/>
          <p:nvPr/>
        </p:nvSpPr>
        <p:spPr>
          <a:xfrm>
            <a:off x="502920" y="2734056"/>
            <a:ext cx="3913632" cy="237744"/>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No Telemetry When Local</a:t>
            </a:r>
            <a:endParaRPr lang="en-US" sz="1000" dirty="0"/>
          </a:p>
        </p:txBody>
      </p:sp>
      <p:sp>
        <p:nvSpPr>
          <p:cNvPr id="25" name="Text 23"/>
          <p:cNvSpPr/>
          <p:nvPr/>
        </p:nvSpPr>
        <p:spPr>
          <a:xfrm>
            <a:off x="502920" y="2971800"/>
            <a:ext cx="3913632" cy="3108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 local deployment, no outbound communication, usage analytics, or background data collection — complete operational containment.</a:t>
            </a:r>
            <a:endParaRPr lang="en-US" sz="850" dirty="0"/>
          </a:p>
        </p:txBody>
      </p:sp>
      <p:sp>
        <p:nvSpPr>
          <p:cNvPr id="26" name="Shape 24"/>
          <p:cNvSpPr/>
          <p:nvPr/>
        </p:nvSpPr>
        <p:spPr>
          <a:xfrm>
            <a:off x="365760" y="2697480"/>
            <a:ext cx="8412480" cy="566928"/>
          </a:xfrm>
          <a:prstGeom prst="rect">
            <a:avLst/>
          </a:prstGeom>
          <a:solidFill>
            <a:srgbClr val="F8FAFF"/>
          </a:solidFill>
          <a:ln w="6350">
            <a:solidFill>
              <a:srgbClr val="CADCFC">
                <a:alpha val="50000"/>
              </a:srgbClr>
            </a:solidFill>
            <a:prstDash val="solid"/>
          </a:ln>
          <a:effectLst>
            <a:outerShdw blurRad="101600" dist="38100" dir="8100000" algn="bl" rotWithShape="0">
              <a:srgbClr val="000000">
                <a:alpha val="10000"/>
              </a:srgbClr>
            </a:outerShdw>
          </a:effectLst>
        </p:spPr>
        <p:txBody>
          <a:bodyPr/>
          <a:lstStyle/>
          <a:p>
            <a:endParaRPr lang="en-AU"/>
          </a:p>
        </p:txBody>
      </p:sp>
      <p:sp>
        <p:nvSpPr>
          <p:cNvPr id="27" name="Shape 25"/>
          <p:cNvSpPr/>
          <p:nvPr/>
        </p:nvSpPr>
        <p:spPr>
          <a:xfrm>
            <a:off x="365760" y="2697480"/>
            <a:ext cx="54864" cy="566928"/>
          </a:xfrm>
          <a:prstGeom prst="rect">
            <a:avLst/>
          </a:prstGeom>
          <a:solidFill>
            <a:srgbClr val="4F9CF9"/>
          </a:solidFill>
          <a:ln w="12700">
            <a:solidFill>
              <a:srgbClr val="4F9CF9"/>
            </a:solidFill>
            <a:prstDash val="solid"/>
          </a:ln>
        </p:spPr>
        <p:txBody>
          <a:bodyPr/>
          <a:lstStyle/>
          <a:p>
            <a:endParaRPr lang="en-AU"/>
          </a:p>
        </p:txBody>
      </p:sp>
      <p:sp>
        <p:nvSpPr>
          <p:cNvPr id="28" name="Text 26"/>
          <p:cNvSpPr/>
          <p:nvPr/>
        </p:nvSpPr>
        <p:spPr>
          <a:xfrm>
            <a:off x="502920" y="2734056"/>
            <a:ext cx="8138160" cy="219456"/>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No Telemetry When Local</a:t>
            </a:r>
            <a:endParaRPr lang="en-US" sz="1000" dirty="0"/>
          </a:p>
        </p:txBody>
      </p:sp>
      <p:sp>
        <p:nvSpPr>
          <p:cNvPr id="29" name="Text 27"/>
          <p:cNvSpPr/>
          <p:nvPr/>
        </p:nvSpPr>
        <p:spPr>
          <a:xfrm>
            <a:off x="502920" y="2953512"/>
            <a:ext cx="8138160" cy="2743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 local deployment, no outbound communication, usage analytics, or background data collection, ensuring complete operational containment.</a:t>
            </a:r>
            <a:endParaRPr lang="en-US" sz="850" dirty="0"/>
          </a:p>
        </p:txBody>
      </p:sp>
      <p:sp>
        <p:nvSpPr>
          <p:cNvPr id="30" name="Text 28"/>
          <p:cNvSpPr/>
          <p:nvPr/>
        </p:nvSpPr>
        <p:spPr>
          <a:xfrm>
            <a:off x="457200" y="3291840"/>
            <a:ext cx="8229600" cy="256032"/>
          </a:xfrm>
          <a:prstGeom prst="rect">
            <a:avLst/>
          </a:prstGeom>
          <a:noFill/>
          <a:ln/>
        </p:spPr>
        <p:txBody>
          <a:bodyPr wrap="square"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5.1.3  Kubernetes as an Additional Defence-in-Depth Layer</a:t>
            </a:r>
            <a:endParaRPr lang="en-US" sz="1100" dirty="0"/>
          </a:p>
        </p:txBody>
      </p:sp>
      <p:sp>
        <p:nvSpPr>
          <p:cNvPr id="31" name="Shape 29"/>
          <p:cNvSpPr/>
          <p:nvPr/>
        </p:nvSpPr>
        <p:spPr>
          <a:xfrm>
            <a:off x="365760" y="3593592"/>
            <a:ext cx="8412480" cy="1188720"/>
          </a:xfrm>
          <a:prstGeom prst="rect">
            <a:avLst/>
          </a:prstGeom>
          <a:solidFill>
            <a:srgbClr val="CADCFC">
              <a:alpha val="40000"/>
            </a:srgbClr>
          </a:solidFill>
          <a:ln w="10160">
            <a:solidFill>
              <a:srgbClr val="4F9CF9"/>
            </a:solidFill>
            <a:prstDash val="solid"/>
          </a:ln>
        </p:spPr>
        <p:txBody>
          <a:bodyPr/>
          <a:lstStyle/>
          <a:p>
            <a:endParaRPr lang="en-AU"/>
          </a:p>
        </p:txBody>
      </p:sp>
      <p:sp>
        <p:nvSpPr>
          <p:cNvPr id="32" name="Text 30"/>
          <p:cNvSpPr/>
          <p:nvPr/>
        </p:nvSpPr>
        <p:spPr>
          <a:xfrm>
            <a:off x="548640" y="3630168"/>
            <a:ext cx="8138160" cy="201168"/>
          </a:xfrm>
          <a:prstGeom prst="rect">
            <a:avLst/>
          </a:prstGeom>
          <a:noFill/>
          <a:ln/>
        </p:spPr>
        <p:txBody>
          <a:bodyPr wrap="square" rtlCol="0" anchor="ctr"/>
          <a:lstStyle/>
          <a:p>
            <a:pPr marL="0" indent="0">
              <a:buNone/>
            </a:pPr>
            <a:r>
              <a:rPr lang="en-US" sz="900" b="1" dirty="0">
                <a:solidFill>
                  <a:srgbClr val="4F9CF9"/>
                </a:solidFill>
                <a:latin typeface="Calibri" pitchFamily="34" charset="0"/>
                <a:ea typeface="Calibri" pitchFamily="34" charset="-122"/>
                <a:cs typeface="Calibri" pitchFamily="34" charset="-120"/>
              </a:rPr>
              <a:t>• </a:t>
            </a:r>
            <a:r>
              <a:rPr lang="en-US" sz="900" dirty="0">
                <a:solidFill>
                  <a:srgbClr val="1E2761"/>
                </a:solidFill>
                <a:latin typeface="Calibri" pitchFamily="34" charset="0"/>
                <a:ea typeface="Calibri" pitchFamily="34" charset="-122"/>
                <a:cs typeface="Calibri" pitchFamily="34" charset="-120"/>
              </a:rPr>
              <a:t>Network Policies restrict pod-to-pod and pod-to-external communication, extending Hermes' container isolation into </a:t>
            </a:r>
            <a:r>
              <a:rPr lang="en-US" sz="900" b="1" dirty="0">
                <a:solidFill>
                  <a:srgbClr val="1E2761"/>
                </a:solidFill>
                <a:latin typeface="Calibri" pitchFamily="34" charset="0"/>
                <a:ea typeface="Calibri" pitchFamily="34" charset="-122"/>
                <a:cs typeface="Calibri" pitchFamily="34" charset="-120"/>
              </a:rPr>
              <a:t>cluster-level network governance</a:t>
            </a:r>
            <a:r>
              <a:rPr lang="en-US" sz="900" dirty="0">
                <a:solidFill>
                  <a:srgbClr val="1E2761"/>
                </a:solidFill>
                <a:latin typeface="Calibri" pitchFamily="34" charset="0"/>
                <a:ea typeface="Calibri" pitchFamily="34" charset="-122"/>
                <a:cs typeface="Calibri" pitchFamily="34" charset="-120"/>
              </a:rPr>
              <a:t>.</a:t>
            </a:r>
            <a:endParaRPr lang="en-US" sz="900" dirty="0"/>
          </a:p>
        </p:txBody>
      </p:sp>
      <p:sp>
        <p:nvSpPr>
          <p:cNvPr id="33" name="Text 31"/>
          <p:cNvSpPr/>
          <p:nvPr/>
        </p:nvSpPr>
        <p:spPr>
          <a:xfrm>
            <a:off x="548640" y="3840480"/>
            <a:ext cx="8138160" cy="201168"/>
          </a:xfrm>
          <a:prstGeom prst="rect">
            <a:avLst/>
          </a:prstGeom>
          <a:noFill/>
          <a:ln/>
        </p:spPr>
        <p:txBody>
          <a:bodyPr wrap="square" rtlCol="0" anchor="ctr"/>
          <a:lstStyle/>
          <a:p>
            <a:pPr marL="0" indent="0">
              <a:buNone/>
            </a:pPr>
            <a:r>
              <a:rPr lang="en-US" sz="900" b="1" dirty="0">
                <a:solidFill>
                  <a:srgbClr val="4F9CF9"/>
                </a:solidFill>
                <a:latin typeface="Calibri" pitchFamily="34" charset="0"/>
                <a:ea typeface="Calibri" pitchFamily="34" charset="-122"/>
                <a:cs typeface="Calibri" pitchFamily="34" charset="-120"/>
              </a:rPr>
              <a:t>• </a:t>
            </a:r>
            <a:r>
              <a:rPr lang="en-US" sz="900" dirty="0">
                <a:solidFill>
                  <a:srgbClr val="1E2761"/>
                </a:solidFill>
                <a:latin typeface="Calibri" pitchFamily="34" charset="0"/>
                <a:ea typeface="Calibri" pitchFamily="34" charset="-122"/>
                <a:cs typeface="Calibri" pitchFamily="34" charset="-120"/>
              </a:rPr>
              <a:t>Pod-level isolation reinforces Hermes' container boundary with </a:t>
            </a:r>
            <a:r>
              <a:rPr lang="en-US" sz="900" b="1" dirty="0">
                <a:solidFill>
                  <a:srgbClr val="1E2761"/>
                </a:solidFill>
                <a:latin typeface="Calibri" pitchFamily="34" charset="0"/>
                <a:ea typeface="Calibri" pitchFamily="34" charset="-122"/>
                <a:cs typeface="Calibri" pitchFamily="34" charset="-120"/>
              </a:rPr>
              <a:t>cluster scheduling separation </a:t>
            </a:r>
            <a:r>
              <a:rPr lang="en-US" sz="900" dirty="0">
                <a:solidFill>
                  <a:srgbClr val="1E2761"/>
                </a:solidFill>
                <a:latin typeface="Calibri" pitchFamily="34" charset="0"/>
                <a:ea typeface="Calibri" pitchFamily="34" charset="-122"/>
                <a:cs typeface="Calibri" pitchFamily="34" charset="-120"/>
              </a:rPr>
              <a:t>enabled by </a:t>
            </a:r>
            <a:r>
              <a:rPr lang="en-US" sz="900" dirty="0" err="1">
                <a:solidFill>
                  <a:srgbClr val="1E2761"/>
                </a:solidFill>
                <a:latin typeface="Calibri" pitchFamily="34" charset="0"/>
                <a:ea typeface="Calibri" pitchFamily="34" charset="-122"/>
                <a:cs typeface="Calibri" pitchFamily="34" charset="-120"/>
              </a:rPr>
              <a:t>defence</a:t>
            </a:r>
            <a:r>
              <a:rPr lang="en-US" sz="900" dirty="0">
                <a:solidFill>
                  <a:srgbClr val="1E2761"/>
                </a:solidFill>
                <a:latin typeface="Calibri" pitchFamily="34" charset="0"/>
                <a:ea typeface="Calibri" pitchFamily="34" charset="-122"/>
                <a:cs typeface="Calibri" pitchFamily="34" charset="-120"/>
              </a:rPr>
              <a:t>-in-depth without modifying the agent itself.</a:t>
            </a:r>
            <a:endParaRPr lang="en-US" sz="900" dirty="0"/>
          </a:p>
        </p:txBody>
      </p:sp>
      <p:sp>
        <p:nvSpPr>
          <p:cNvPr id="34" name="Text 32"/>
          <p:cNvSpPr/>
          <p:nvPr/>
        </p:nvSpPr>
        <p:spPr>
          <a:xfrm>
            <a:off x="548640" y="4050792"/>
            <a:ext cx="8138160" cy="201168"/>
          </a:xfrm>
          <a:prstGeom prst="rect">
            <a:avLst/>
          </a:prstGeom>
          <a:noFill/>
          <a:ln/>
        </p:spPr>
        <p:txBody>
          <a:bodyPr wrap="square" rtlCol="0" anchor="ctr"/>
          <a:lstStyle/>
          <a:p>
            <a:pPr marL="0" indent="0">
              <a:buNone/>
            </a:pPr>
            <a:r>
              <a:rPr lang="en-US" sz="900" b="1" dirty="0">
                <a:solidFill>
                  <a:srgbClr val="4F9CF9"/>
                </a:solidFill>
                <a:latin typeface="Calibri" pitchFamily="34" charset="0"/>
                <a:ea typeface="Calibri" pitchFamily="34" charset="-122"/>
                <a:cs typeface="Calibri" pitchFamily="34" charset="-120"/>
              </a:rPr>
              <a:t>• </a:t>
            </a:r>
            <a:r>
              <a:rPr lang="en-US" sz="900" dirty="0">
                <a:solidFill>
                  <a:srgbClr val="1E2761"/>
                </a:solidFill>
                <a:latin typeface="Calibri" pitchFamily="34" charset="0"/>
                <a:ea typeface="Calibri" pitchFamily="34" charset="-122"/>
                <a:cs typeface="Calibri" pitchFamily="34" charset="-120"/>
              </a:rPr>
              <a:t>Kubernetes Secrets (or HashiCorp Vault) </a:t>
            </a:r>
            <a:r>
              <a:rPr lang="en-US" sz="900" b="1" dirty="0">
                <a:solidFill>
                  <a:srgbClr val="1E2761"/>
                </a:solidFill>
                <a:latin typeface="Calibri" pitchFamily="34" charset="0"/>
                <a:ea typeface="Calibri" pitchFamily="34" charset="-122"/>
                <a:cs typeface="Calibri" pitchFamily="34" charset="-120"/>
              </a:rPr>
              <a:t>centralise credential control </a:t>
            </a:r>
            <a:r>
              <a:rPr lang="en-US" sz="900" dirty="0">
                <a:solidFill>
                  <a:srgbClr val="1E2761"/>
                </a:solidFill>
                <a:latin typeface="Calibri" pitchFamily="34" charset="0"/>
                <a:ea typeface="Calibri" pitchFamily="34" charset="-122"/>
                <a:cs typeface="Calibri" pitchFamily="34" charset="-120"/>
              </a:rPr>
              <a:t>at the cluster control plane, above the application layer.</a:t>
            </a:r>
            <a:endParaRPr lang="en-US" sz="900" dirty="0"/>
          </a:p>
        </p:txBody>
      </p:sp>
      <p:sp>
        <p:nvSpPr>
          <p:cNvPr id="35" name="Text 33"/>
          <p:cNvSpPr/>
          <p:nvPr/>
        </p:nvSpPr>
        <p:spPr>
          <a:xfrm>
            <a:off x="548640" y="4261104"/>
            <a:ext cx="8138160" cy="201168"/>
          </a:xfrm>
          <a:prstGeom prst="rect">
            <a:avLst/>
          </a:prstGeom>
          <a:noFill/>
          <a:ln/>
        </p:spPr>
        <p:txBody>
          <a:bodyPr wrap="square" rtlCol="0" anchor="ctr"/>
          <a:lstStyle/>
          <a:p>
            <a:pPr marL="0" indent="0">
              <a:buNone/>
            </a:pPr>
            <a:r>
              <a:rPr lang="en-US" sz="900" b="1" dirty="0">
                <a:solidFill>
                  <a:srgbClr val="4F9CF9"/>
                </a:solidFill>
                <a:latin typeface="Calibri" pitchFamily="34" charset="0"/>
                <a:ea typeface="Calibri" pitchFamily="34" charset="-122"/>
                <a:cs typeface="Calibri" pitchFamily="34" charset="-120"/>
              </a:rPr>
              <a:t>• </a:t>
            </a:r>
            <a:r>
              <a:rPr lang="en-US" sz="900" dirty="0">
                <a:solidFill>
                  <a:srgbClr val="1E2761"/>
                </a:solidFill>
                <a:latin typeface="Calibri" pitchFamily="34" charset="0"/>
                <a:ea typeface="Calibri" pitchFamily="34" charset="-122"/>
                <a:cs typeface="Calibri" pitchFamily="34" charset="-120"/>
              </a:rPr>
              <a:t>Resource quotas and limits </a:t>
            </a:r>
            <a:r>
              <a:rPr lang="en-US" sz="900" b="1" dirty="0">
                <a:solidFill>
                  <a:srgbClr val="1E2761"/>
                </a:solidFill>
                <a:latin typeface="Calibri" pitchFamily="34" charset="0"/>
                <a:ea typeface="Calibri" pitchFamily="34" charset="-122"/>
                <a:cs typeface="Calibri" pitchFamily="34" charset="-120"/>
              </a:rPr>
              <a:t>prevent uncontrolled CPU/GPU/memory consumption </a:t>
            </a:r>
            <a:r>
              <a:rPr lang="en-US" sz="900" dirty="0">
                <a:solidFill>
                  <a:srgbClr val="1E2761"/>
                </a:solidFill>
                <a:latin typeface="Calibri" pitchFamily="34" charset="0"/>
                <a:ea typeface="Calibri" pitchFamily="34" charset="-122"/>
                <a:cs typeface="Calibri" pitchFamily="34" charset="-120"/>
              </a:rPr>
              <a:t>during agent-driven model training or batch inference workloads.</a:t>
            </a:r>
            <a:endParaRPr lang="en-US" sz="900" dirty="0"/>
          </a:p>
        </p:txBody>
      </p:sp>
      <p:sp>
        <p:nvSpPr>
          <p:cNvPr id="36" name="Text 34"/>
          <p:cNvSpPr/>
          <p:nvPr/>
        </p:nvSpPr>
        <p:spPr>
          <a:xfrm>
            <a:off x="548640" y="4471416"/>
            <a:ext cx="8138160" cy="201168"/>
          </a:xfrm>
          <a:prstGeom prst="rect">
            <a:avLst/>
          </a:prstGeom>
          <a:noFill/>
          <a:ln/>
        </p:spPr>
        <p:txBody>
          <a:bodyPr wrap="square" rtlCol="0" anchor="ctr"/>
          <a:lstStyle/>
          <a:p>
            <a:pPr marL="0" indent="0">
              <a:buNone/>
            </a:pPr>
            <a:r>
              <a:rPr lang="en-US" sz="900" b="1" dirty="0">
                <a:solidFill>
                  <a:srgbClr val="4F9CF9"/>
                </a:solidFill>
                <a:latin typeface="Calibri" pitchFamily="34" charset="0"/>
                <a:ea typeface="Calibri" pitchFamily="34" charset="-122"/>
                <a:cs typeface="Calibri" pitchFamily="34" charset="-120"/>
              </a:rPr>
              <a:t>• </a:t>
            </a:r>
            <a:r>
              <a:rPr lang="en-US" sz="900" dirty="0">
                <a:solidFill>
                  <a:srgbClr val="1E2761"/>
                </a:solidFill>
                <a:latin typeface="Calibri" pitchFamily="34" charset="0"/>
                <a:ea typeface="Calibri" pitchFamily="34" charset="-122"/>
                <a:cs typeface="Calibri" pitchFamily="34" charset="-120"/>
              </a:rPr>
              <a:t>RBAC enforcement and audit logging </a:t>
            </a:r>
            <a:r>
              <a:rPr lang="en-US" sz="900" b="1" dirty="0">
                <a:solidFill>
                  <a:srgbClr val="1E2761"/>
                </a:solidFill>
                <a:latin typeface="Calibri" pitchFamily="34" charset="0"/>
                <a:ea typeface="Calibri" pitchFamily="34" charset="-122"/>
                <a:cs typeface="Calibri" pitchFamily="34" charset="-120"/>
              </a:rPr>
              <a:t>enable traceability </a:t>
            </a:r>
            <a:r>
              <a:rPr lang="en-US" sz="900" dirty="0">
                <a:solidFill>
                  <a:srgbClr val="1E2761"/>
                </a:solidFill>
                <a:latin typeface="Calibri" pitchFamily="34" charset="0"/>
                <a:ea typeface="Calibri" pitchFamily="34" charset="-122"/>
                <a:cs typeface="Calibri" pitchFamily="34" charset="-120"/>
              </a:rPr>
              <a:t>of user actions across multi-tenant deployments, allowing for seamless reuse of existing MLOps governance.</a:t>
            </a:r>
            <a:endParaRPr lang="en-US" sz="900" dirty="0"/>
          </a:p>
        </p:txBody>
      </p:sp>
      <p:sp>
        <p:nvSpPr>
          <p:cNvPr id="37" name="Shape 35"/>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8" name="Text 36"/>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Security Analysis: OpenClaw</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Configuration-dependent security with a high and growing CVE profile</a:t>
            </a:r>
            <a:endParaRPr lang="en-US" sz="1300" dirty="0"/>
          </a:p>
        </p:txBody>
      </p:sp>
      <p:sp>
        <p:nvSpPr>
          <p:cNvPr id="5" name="Shape 3"/>
          <p:cNvSpPr/>
          <p:nvPr/>
        </p:nvSpPr>
        <p:spPr>
          <a:xfrm>
            <a:off x="365760" y="1051560"/>
            <a:ext cx="2011680" cy="1097280"/>
          </a:xfrm>
          <a:prstGeom prst="rect">
            <a:avLst/>
          </a:prstGeom>
          <a:solidFill>
            <a:srgbClr val="DC2626"/>
          </a:solidFill>
          <a:ln w="12700">
            <a:solidFill>
              <a:srgbClr val="DC2626"/>
            </a:solidFill>
            <a:prstDash val="solid"/>
          </a:ln>
          <a:effectLst>
            <a:outerShdw blurRad="101600" dist="38100" dir="8100000" algn="bl" rotWithShape="0">
              <a:srgbClr val="000000">
                <a:alpha val="10000"/>
              </a:srgbClr>
            </a:outerShdw>
          </a:effectLst>
        </p:spPr>
        <p:txBody>
          <a:bodyPr/>
          <a:lstStyle/>
          <a:p>
            <a:endParaRPr lang="en-AU"/>
          </a:p>
        </p:txBody>
      </p:sp>
      <p:sp>
        <p:nvSpPr>
          <p:cNvPr id="6" name="Text 4"/>
          <p:cNvSpPr/>
          <p:nvPr/>
        </p:nvSpPr>
        <p:spPr>
          <a:xfrm>
            <a:off x="365760" y="1097280"/>
            <a:ext cx="2011680" cy="64008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138+</a:t>
            </a:r>
            <a:endParaRPr lang="en-US" sz="4200" dirty="0"/>
          </a:p>
        </p:txBody>
      </p:sp>
      <p:sp>
        <p:nvSpPr>
          <p:cNvPr id="7" name="Text 5"/>
          <p:cNvSpPr/>
          <p:nvPr/>
        </p:nvSpPr>
        <p:spPr>
          <a:xfrm>
            <a:off x="365760" y="1737360"/>
            <a:ext cx="2011680" cy="36576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CVEs disclosed</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in under 5 months</a:t>
            </a:r>
            <a:endParaRPr lang="en-US" sz="950" dirty="0"/>
          </a:p>
        </p:txBody>
      </p:sp>
      <p:sp>
        <p:nvSpPr>
          <p:cNvPr id="8" name="Text 6"/>
          <p:cNvSpPr/>
          <p:nvPr/>
        </p:nvSpPr>
        <p:spPr>
          <a:xfrm>
            <a:off x="2560320" y="1051560"/>
            <a:ext cx="6217920" cy="274320"/>
          </a:xfrm>
          <a:prstGeom prst="rect">
            <a:avLst/>
          </a:prstGeom>
          <a:noFill/>
          <a:ln/>
        </p:spPr>
        <p:txBody>
          <a:bodyPr wrap="square"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Notable CVEs</a:t>
            </a:r>
            <a:endParaRPr lang="en-US" sz="1100" dirty="0"/>
          </a:p>
        </p:txBody>
      </p:sp>
      <p:sp>
        <p:nvSpPr>
          <p:cNvPr id="9" name="Shape 7"/>
          <p:cNvSpPr/>
          <p:nvPr/>
        </p:nvSpPr>
        <p:spPr>
          <a:xfrm>
            <a:off x="2560320" y="1389888"/>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0" name="Shape 8"/>
          <p:cNvSpPr/>
          <p:nvPr/>
        </p:nvSpPr>
        <p:spPr>
          <a:xfrm>
            <a:off x="2560320" y="1389888"/>
            <a:ext cx="54864" cy="594360"/>
          </a:xfrm>
          <a:prstGeom prst="rect">
            <a:avLst/>
          </a:prstGeom>
          <a:solidFill>
            <a:srgbClr val="DC2626"/>
          </a:solidFill>
          <a:ln w="12700">
            <a:solidFill>
              <a:srgbClr val="DC2626"/>
            </a:solidFill>
            <a:prstDash val="solid"/>
          </a:ln>
        </p:spPr>
        <p:txBody>
          <a:bodyPr/>
          <a:lstStyle/>
          <a:p>
            <a:endParaRPr lang="en-AU"/>
          </a:p>
        </p:txBody>
      </p:sp>
      <p:sp>
        <p:nvSpPr>
          <p:cNvPr id="11" name="Text 9"/>
          <p:cNvSpPr/>
          <p:nvPr/>
        </p:nvSpPr>
        <p:spPr>
          <a:xfrm>
            <a:off x="2670048" y="1426464"/>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CVE-2026-32922</a:t>
            </a:r>
            <a:endParaRPr lang="en-US" sz="1000" dirty="0"/>
          </a:p>
        </p:txBody>
      </p:sp>
      <p:sp>
        <p:nvSpPr>
          <p:cNvPr id="12" name="Shape 10"/>
          <p:cNvSpPr/>
          <p:nvPr/>
        </p:nvSpPr>
        <p:spPr>
          <a:xfrm>
            <a:off x="4526280" y="1453896"/>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13" name="Text 11"/>
          <p:cNvSpPr/>
          <p:nvPr/>
        </p:nvSpPr>
        <p:spPr>
          <a:xfrm>
            <a:off x="4526280" y="1453896"/>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9.9 CVSS</a:t>
            </a:r>
            <a:endParaRPr lang="en-US" sz="800" dirty="0"/>
          </a:p>
        </p:txBody>
      </p:sp>
      <p:sp>
        <p:nvSpPr>
          <p:cNvPr id="14" name="Text 12"/>
          <p:cNvSpPr/>
          <p:nvPr/>
        </p:nvSpPr>
        <p:spPr>
          <a:xfrm>
            <a:off x="2670048" y="1664208"/>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Critical privilege escalation , where a single API call converted a pairing token into full admin control with RCE. Described by ARMO as the most severe in OpenClaw history.</a:t>
            </a:r>
            <a:endParaRPr lang="en-US" sz="900" dirty="0"/>
          </a:p>
        </p:txBody>
      </p:sp>
      <p:sp>
        <p:nvSpPr>
          <p:cNvPr id="15" name="Shape 13"/>
          <p:cNvSpPr/>
          <p:nvPr/>
        </p:nvSpPr>
        <p:spPr>
          <a:xfrm>
            <a:off x="2560320" y="2048256"/>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6" name="Shape 14"/>
          <p:cNvSpPr/>
          <p:nvPr/>
        </p:nvSpPr>
        <p:spPr>
          <a:xfrm>
            <a:off x="2560320" y="2048256"/>
            <a:ext cx="54864" cy="594360"/>
          </a:xfrm>
          <a:prstGeom prst="rect">
            <a:avLst/>
          </a:prstGeom>
          <a:solidFill>
            <a:srgbClr val="DC2626"/>
          </a:solidFill>
          <a:ln w="12700">
            <a:solidFill>
              <a:srgbClr val="DC2626"/>
            </a:solidFill>
            <a:prstDash val="solid"/>
          </a:ln>
        </p:spPr>
        <p:txBody>
          <a:bodyPr/>
          <a:lstStyle/>
          <a:p>
            <a:endParaRPr lang="en-AU"/>
          </a:p>
        </p:txBody>
      </p:sp>
      <p:sp>
        <p:nvSpPr>
          <p:cNvPr id="17" name="Text 15"/>
          <p:cNvSpPr/>
          <p:nvPr/>
        </p:nvSpPr>
        <p:spPr>
          <a:xfrm>
            <a:off x="2670048" y="2084832"/>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CVE-2026-44112</a:t>
            </a:r>
            <a:endParaRPr lang="en-US" sz="1000" dirty="0"/>
          </a:p>
        </p:txBody>
      </p:sp>
      <p:sp>
        <p:nvSpPr>
          <p:cNvPr id="18" name="Shape 16"/>
          <p:cNvSpPr/>
          <p:nvPr/>
        </p:nvSpPr>
        <p:spPr>
          <a:xfrm>
            <a:off x="4526280" y="2112264"/>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19" name="Text 17"/>
          <p:cNvSpPr/>
          <p:nvPr/>
        </p:nvSpPr>
        <p:spPr>
          <a:xfrm>
            <a:off x="4526280" y="2112264"/>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9.6 CVSS</a:t>
            </a:r>
            <a:endParaRPr lang="en-US" sz="800" dirty="0"/>
          </a:p>
        </p:txBody>
      </p:sp>
      <p:sp>
        <p:nvSpPr>
          <p:cNvPr id="20" name="Text 18"/>
          <p:cNvSpPr/>
          <p:nvPr/>
        </p:nvSpPr>
        <p:spPr>
          <a:xfrm>
            <a:off x="2670048" y="2322576"/>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TOCTOU race condition in OpenShell sandbox , allowing attackers to modify system config, drop backdoors, and achieve persistent system-level control.</a:t>
            </a:r>
            <a:endParaRPr lang="en-US" sz="900" dirty="0"/>
          </a:p>
        </p:txBody>
      </p:sp>
      <p:sp>
        <p:nvSpPr>
          <p:cNvPr id="21" name="Shape 19"/>
          <p:cNvSpPr/>
          <p:nvPr/>
        </p:nvSpPr>
        <p:spPr>
          <a:xfrm>
            <a:off x="2560320" y="2706624"/>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22" name="Shape 20"/>
          <p:cNvSpPr/>
          <p:nvPr/>
        </p:nvSpPr>
        <p:spPr>
          <a:xfrm>
            <a:off x="2560320" y="2706624"/>
            <a:ext cx="54864" cy="594360"/>
          </a:xfrm>
          <a:prstGeom prst="rect">
            <a:avLst/>
          </a:prstGeom>
          <a:solidFill>
            <a:srgbClr val="DC2626"/>
          </a:solidFill>
          <a:ln w="12700">
            <a:solidFill>
              <a:srgbClr val="DC2626"/>
            </a:solidFill>
            <a:prstDash val="solid"/>
          </a:ln>
        </p:spPr>
        <p:txBody>
          <a:bodyPr/>
          <a:lstStyle/>
          <a:p>
            <a:endParaRPr lang="en-AU"/>
          </a:p>
        </p:txBody>
      </p:sp>
      <p:sp>
        <p:nvSpPr>
          <p:cNvPr id="23" name="Text 21"/>
          <p:cNvSpPr/>
          <p:nvPr/>
        </p:nvSpPr>
        <p:spPr>
          <a:xfrm>
            <a:off x="2670048" y="2743200"/>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CVE-2026-25253</a:t>
            </a:r>
            <a:endParaRPr lang="en-US" sz="1000" dirty="0"/>
          </a:p>
        </p:txBody>
      </p:sp>
      <p:sp>
        <p:nvSpPr>
          <p:cNvPr id="24" name="Shape 22"/>
          <p:cNvSpPr/>
          <p:nvPr/>
        </p:nvSpPr>
        <p:spPr>
          <a:xfrm>
            <a:off x="4526280" y="2770632"/>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25" name="Text 23"/>
          <p:cNvSpPr/>
          <p:nvPr/>
        </p:nvSpPr>
        <p:spPr>
          <a:xfrm>
            <a:off x="4526280" y="2770632"/>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High</a:t>
            </a:r>
            <a:endParaRPr lang="en-US" sz="800" dirty="0"/>
          </a:p>
        </p:txBody>
      </p:sp>
      <p:sp>
        <p:nvSpPr>
          <p:cNvPr id="26" name="Text 24"/>
          <p:cNvSpPr/>
          <p:nvPr/>
        </p:nvSpPr>
        <p:spPr>
          <a:xfrm>
            <a:off x="2670048" y="2980944"/>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Gateway takeover enabling downstream remote code execution. OAuth credentials were stored in plaintext JSON.</a:t>
            </a:r>
            <a:endParaRPr lang="en-US" sz="900" dirty="0"/>
          </a:p>
        </p:txBody>
      </p:sp>
      <p:sp>
        <p:nvSpPr>
          <p:cNvPr id="27" name="Shape 25"/>
          <p:cNvSpPr/>
          <p:nvPr/>
        </p:nvSpPr>
        <p:spPr>
          <a:xfrm>
            <a:off x="2560320" y="3364992"/>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28" name="Shape 26"/>
          <p:cNvSpPr/>
          <p:nvPr/>
        </p:nvSpPr>
        <p:spPr>
          <a:xfrm>
            <a:off x="2560320" y="3364992"/>
            <a:ext cx="54864" cy="594360"/>
          </a:xfrm>
          <a:prstGeom prst="rect">
            <a:avLst/>
          </a:prstGeom>
          <a:solidFill>
            <a:srgbClr val="DC2626"/>
          </a:solidFill>
          <a:ln w="12700">
            <a:solidFill>
              <a:srgbClr val="DC2626"/>
            </a:solidFill>
            <a:prstDash val="solid"/>
          </a:ln>
        </p:spPr>
        <p:txBody>
          <a:bodyPr/>
          <a:lstStyle/>
          <a:p>
            <a:endParaRPr lang="en-AU"/>
          </a:p>
        </p:txBody>
      </p:sp>
      <p:sp>
        <p:nvSpPr>
          <p:cNvPr id="29" name="Text 27"/>
          <p:cNvSpPr/>
          <p:nvPr/>
        </p:nvSpPr>
        <p:spPr>
          <a:xfrm>
            <a:off x="2670048" y="3401568"/>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CVE-2026-44115</a:t>
            </a:r>
            <a:endParaRPr lang="en-US" sz="1000" dirty="0"/>
          </a:p>
        </p:txBody>
      </p:sp>
      <p:sp>
        <p:nvSpPr>
          <p:cNvPr id="30" name="Shape 28"/>
          <p:cNvSpPr/>
          <p:nvPr/>
        </p:nvSpPr>
        <p:spPr>
          <a:xfrm>
            <a:off x="4526280" y="3429000"/>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31" name="Text 29"/>
          <p:cNvSpPr/>
          <p:nvPr/>
        </p:nvSpPr>
        <p:spPr>
          <a:xfrm>
            <a:off x="4526280" y="3429000"/>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8.8 CVSS</a:t>
            </a:r>
            <a:endParaRPr lang="en-US" sz="800" dirty="0"/>
          </a:p>
        </p:txBody>
      </p:sp>
      <p:sp>
        <p:nvSpPr>
          <p:cNvPr id="32" name="Text 30"/>
          <p:cNvSpPr/>
          <p:nvPr/>
        </p:nvSpPr>
        <p:spPr>
          <a:xfrm>
            <a:off x="2670048" y="3639312"/>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Logic flaw exposing API keys, tokens, and credentials during sensitive data access.</a:t>
            </a:r>
            <a:endParaRPr lang="en-US" sz="900" dirty="0"/>
          </a:p>
        </p:txBody>
      </p:sp>
      <p:sp>
        <p:nvSpPr>
          <p:cNvPr id="36" name="Shape 34"/>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7" name="Text 35"/>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4243099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5" name="Shape 3"/>
          <p:cNvSpPr/>
          <p:nvPr/>
        </p:nvSpPr>
        <p:spPr>
          <a:xfrm>
            <a:off x="274320" y="2350008"/>
            <a:ext cx="2743200" cy="1554480"/>
          </a:xfrm>
          <a:prstGeom prst="rect">
            <a:avLst/>
          </a:prstGeom>
          <a:solidFill>
            <a:srgbClr val="FEF2F2"/>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6" name="Shape 4"/>
          <p:cNvSpPr/>
          <p:nvPr/>
        </p:nvSpPr>
        <p:spPr>
          <a:xfrm>
            <a:off x="274320" y="2350008"/>
            <a:ext cx="2743200" cy="347472"/>
          </a:xfrm>
          <a:prstGeom prst="rect">
            <a:avLst/>
          </a:prstGeom>
          <a:solidFill>
            <a:srgbClr val="DC2626"/>
          </a:solidFill>
          <a:ln w="12700">
            <a:solidFill>
              <a:srgbClr val="DC2626"/>
            </a:solidFill>
            <a:prstDash val="solid"/>
          </a:ln>
        </p:spPr>
        <p:txBody>
          <a:bodyPr/>
          <a:lstStyle/>
          <a:p>
            <a:endParaRPr lang="en-AU"/>
          </a:p>
        </p:txBody>
      </p:sp>
      <p:sp>
        <p:nvSpPr>
          <p:cNvPr id="7" name="Text 5"/>
          <p:cNvSpPr/>
          <p:nvPr/>
        </p:nvSpPr>
        <p:spPr>
          <a:xfrm>
            <a:off x="274320" y="2350008"/>
            <a:ext cx="347472"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6"/>
          <p:cNvSpPr/>
          <p:nvPr/>
        </p:nvSpPr>
        <p:spPr>
          <a:xfrm>
            <a:off x="658368" y="2350008"/>
            <a:ext cx="2286000" cy="34747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Cross-Layer Interaction Failures</a:t>
            </a:r>
            <a:endParaRPr lang="en-US" sz="950" dirty="0"/>
          </a:p>
        </p:txBody>
      </p:sp>
      <p:sp>
        <p:nvSpPr>
          <p:cNvPr id="9" name="Text 7"/>
          <p:cNvSpPr/>
          <p:nvPr/>
        </p:nvSpPr>
        <p:spPr>
          <a:xfrm>
            <a:off x="384048" y="2752344"/>
            <a:ext cx="2560320" cy="11155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Vulnerabilities </a:t>
            </a:r>
            <a:r>
              <a:rPr lang="en-US" sz="1000" b="1" dirty="0">
                <a:solidFill>
                  <a:srgbClr val="64748B"/>
                </a:solidFill>
                <a:latin typeface="Calibri" pitchFamily="34" charset="0"/>
                <a:ea typeface="Calibri" pitchFamily="34" charset="-122"/>
                <a:cs typeface="Calibri" pitchFamily="34" charset="-120"/>
              </a:rPr>
              <a:t>propagate</a:t>
            </a:r>
            <a:r>
              <a:rPr lang="en-US" sz="1000" dirty="0">
                <a:solidFill>
                  <a:srgbClr val="64748B"/>
                </a:solidFill>
                <a:latin typeface="Calibri" pitchFamily="34" charset="0"/>
                <a:ea typeface="Calibri" pitchFamily="34" charset="-122"/>
                <a:cs typeface="Calibri" pitchFamily="34" charset="-120"/>
              </a:rPr>
              <a:t> between the gateway, sandbox, and runtime layers rather than remaining isolated in a subsystem. A flaw in one layer creates </a:t>
            </a:r>
            <a:r>
              <a:rPr lang="en-US" sz="1000" b="1" dirty="0">
                <a:solidFill>
                  <a:srgbClr val="64748B"/>
                </a:solidFill>
                <a:latin typeface="Calibri" pitchFamily="34" charset="0"/>
                <a:ea typeface="Calibri" pitchFamily="34" charset="-122"/>
                <a:cs typeface="Calibri" pitchFamily="34" charset="-120"/>
              </a:rPr>
              <a:t>compounding exploit chains </a:t>
            </a:r>
            <a:r>
              <a:rPr lang="en-US" sz="1000" dirty="0">
                <a:solidFill>
                  <a:srgbClr val="64748B"/>
                </a:solidFill>
                <a:latin typeface="Calibri" pitchFamily="34" charset="0"/>
                <a:ea typeface="Calibri" pitchFamily="34" charset="-122"/>
                <a:cs typeface="Calibri" pitchFamily="34" charset="-120"/>
              </a:rPr>
              <a:t>across the system, unlike Hermes, where CVEs are typically contained.</a:t>
            </a:r>
            <a:endParaRPr lang="en-US" sz="1000" dirty="0"/>
          </a:p>
        </p:txBody>
      </p:sp>
      <p:sp>
        <p:nvSpPr>
          <p:cNvPr id="10" name="Shape 8"/>
          <p:cNvSpPr/>
          <p:nvPr/>
        </p:nvSpPr>
        <p:spPr>
          <a:xfrm>
            <a:off x="3200400" y="2350008"/>
            <a:ext cx="2743200" cy="1554480"/>
          </a:xfrm>
          <a:prstGeom prst="rect">
            <a:avLst/>
          </a:prstGeom>
          <a:solidFill>
            <a:srgbClr val="FEF2F2"/>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1" name="Shape 9"/>
          <p:cNvSpPr/>
          <p:nvPr/>
        </p:nvSpPr>
        <p:spPr>
          <a:xfrm>
            <a:off x="3200400" y="2350008"/>
            <a:ext cx="2743200" cy="347472"/>
          </a:xfrm>
          <a:prstGeom prst="rect">
            <a:avLst/>
          </a:prstGeom>
          <a:solidFill>
            <a:srgbClr val="DC2626"/>
          </a:solidFill>
          <a:ln w="12700">
            <a:solidFill>
              <a:srgbClr val="DC2626"/>
            </a:solidFill>
            <a:prstDash val="solid"/>
          </a:ln>
        </p:spPr>
        <p:txBody>
          <a:bodyPr/>
          <a:lstStyle/>
          <a:p>
            <a:endParaRPr lang="en-AU"/>
          </a:p>
        </p:txBody>
      </p:sp>
      <p:sp>
        <p:nvSpPr>
          <p:cNvPr id="12" name="Text 10"/>
          <p:cNvSpPr/>
          <p:nvPr/>
        </p:nvSpPr>
        <p:spPr>
          <a:xfrm>
            <a:off x="3200400" y="2350008"/>
            <a:ext cx="347472"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3584448" y="2350008"/>
            <a:ext cx="2286000" cy="34747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Credential Exposure Across Boundaries</a:t>
            </a:r>
            <a:endParaRPr lang="en-US" sz="950" dirty="0"/>
          </a:p>
        </p:txBody>
      </p:sp>
      <p:sp>
        <p:nvSpPr>
          <p:cNvPr id="14" name="Text 12"/>
          <p:cNvSpPr/>
          <p:nvPr/>
        </p:nvSpPr>
        <p:spPr>
          <a:xfrm>
            <a:off x="3310128" y="2752344"/>
            <a:ext cx="2560320" cy="11155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Inconsistent masking across the gateway, runtime, and skill execution layers creates </a:t>
            </a:r>
            <a:r>
              <a:rPr lang="en-US" sz="1000" b="1" dirty="0">
                <a:solidFill>
                  <a:srgbClr val="64748B"/>
                </a:solidFill>
                <a:latin typeface="Calibri" pitchFamily="34" charset="0"/>
                <a:ea typeface="Calibri" pitchFamily="34" charset="-122"/>
                <a:cs typeface="Calibri" pitchFamily="34" charset="-120"/>
              </a:rPr>
              <a:t>multiple credential leakage pathways</a:t>
            </a:r>
            <a:r>
              <a:rPr lang="en-US" sz="1000" dirty="0">
                <a:solidFill>
                  <a:srgbClr val="64748B"/>
                </a:solidFill>
                <a:latin typeface="Calibri" pitchFamily="34" charset="0"/>
                <a:ea typeface="Calibri" pitchFamily="34" charset="-122"/>
                <a:cs typeface="Calibri" pitchFamily="34" charset="-120"/>
              </a:rPr>
              <a:t>. Credentials exposed in one layer are not filtered before passing to the next.</a:t>
            </a:r>
            <a:endParaRPr lang="en-US" sz="1000" dirty="0"/>
          </a:p>
        </p:txBody>
      </p:sp>
      <p:sp>
        <p:nvSpPr>
          <p:cNvPr id="15" name="Shape 13"/>
          <p:cNvSpPr/>
          <p:nvPr/>
        </p:nvSpPr>
        <p:spPr>
          <a:xfrm>
            <a:off x="6126480" y="2350008"/>
            <a:ext cx="2743200" cy="1554480"/>
          </a:xfrm>
          <a:prstGeom prst="rect">
            <a:avLst/>
          </a:prstGeom>
          <a:solidFill>
            <a:srgbClr val="FEF2F2"/>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6" name="Shape 14"/>
          <p:cNvSpPr/>
          <p:nvPr/>
        </p:nvSpPr>
        <p:spPr>
          <a:xfrm>
            <a:off x="6126480" y="2350008"/>
            <a:ext cx="2743200" cy="347472"/>
          </a:xfrm>
          <a:prstGeom prst="rect">
            <a:avLst/>
          </a:prstGeom>
          <a:solidFill>
            <a:srgbClr val="DC2626"/>
          </a:solidFill>
          <a:ln w="12700">
            <a:solidFill>
              <a:srgbClr val="DC2626"/>
            </a:solidFill>
            <a:prstDash val="solid"/>
          </a:ln>
        </p:spPr>
        <p:txBody>
          <a:bodyPr/>
          <a:lstStyle/>
          <a:p>
            <a:endParaRPr lang="en-AU"/>
          </a:p>
        </p:txBody>
      </p:sp>
      <p:sp>
        <p:nvSpPr>
          <p:cNvPr id="17" name="Text 15"/>
          <p:cNvSpPr/>
          <p:nvPr/>
        </p:nvSpPr>
        <p:spPr>
          <a:xfrm>
            <a:off x="6126480" y="2350008"/>
            <a:ext cx="347472"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6510528" y="2350008"/>
            <a:ext cx="2286000" cy="34747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Supply Chain Contamination via ClawHub</a:t>
            </a:r>
            <a:endParaRPr lang="en-US" sz="950" dirty="0"/>
          </a:p>
        </p:txBody>
      </p:sp>
      <p:sp>
        <p:nvSpPr>
          <p:cNvPr id="19" name="Text 17"/>
          <p:cNvSpPr/>
          <p:nvPr/>
        </p:nvSpPr>
        <p:spPr>
          <a:xfrm>
            <a:off x="6236208" y="2752344"/>
            <a:ext cx="2560320" cy="111556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Third-party skills execute with </a:t>
            </a:r>
            <a:r>
              <a:rPr lang="en-US" sz="1000" b="1" dirty="0">
                <a:solidFill>
                  <a:srgbClr val="64748B"/>
                </a:solidFill>
                <a:latin typeface="Calibri" pitchFamily="34" charset="0"/>
                <a:ea typeface="Calibri" pitchFamily="34" charset="-122"/>
                <a:cs typeface="Calibri" pitchFamily="34" charset="-120"/>
              </a:rPr>
              <a:t>native-tool-level privileges</a:t>
            </a:r>
            <a:r>
              <a:rPr lang="en-US" sz="1000" dirty="0">
                <a:solidFill>
                  <a:srgbClr val="64748B"/>
                </a:solidFill>
                <a:latin typeface="Calibri" pitchFamily="34" charset="0"/>
                <a:ea typeface="Calibri" pitchFamily="34" charset="-122"/>
                <a:cs typeface="Calibri" pitchFamily="34" charset="-120"/>
              </a:rPr>
              <a:t>. Malicious or compromised skills can subtly alter preprocessing logic, modify training datasets, or exfiltrate credentials without obvious detection.</a:t>
            </a:r>
            <a:endParaRPr lang="en-US" sz="1000" dirty="0"/>
          </a:p>
        </p:txBody>
      </p:sp>
      <p:sp>
        <p:nvSpPr>
          <p:cNvPr id="64" name="Shape 62"/>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65" name="Text 63"/>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
        <p:nvSpPr>
          <p:cNvPr id="88" name="Text 1">
            <a:extLst>
              <a:ext uri="{FF2B5EF4-FFF2-40B4-BE49-F238E27FC236}">
                <a16:creationId xmlns:a16="http://schemas.microsoft.com/office/drawing/2014/main" id="{5E2C9EF2-3342-4757-5D92-70C24A53EDE5}"/>
              </a:ext>
            </a:extLst>
          </p:cNvPr>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Security Analysis: OpenClaw</a:t>
            </a:r>
            <a:endParaRPr lang="en-US" sz="2800" dirty="0"/>
          </a:p>
        </p:txBody>
      </p:sp>
      <p:sp>
        <p:nvSpPr>
          <p:cNvPr id="90" name="Text 2">
            <a:extLst>
              <a:ext uri="{FF2B5EF4-FFF2-40B4-BE49-F238E27FC236}">
                <a16:creationId xmlns:a16="http://schemas.microsoft.com/office/drawing/2014/main" id="{571A5501-AC76-6D5F-345F-562289027A2A}"/>
              </a:ext>
            </a:extLst>
          </p:cNvPr>
          <p:cNvSpPr/>
          <p:nvPr/>
        </p:nvSpPr>
        <p:spPr>
          <a:xfrm>
            <a:off x="457200" y="685800"/>
            <a:ext cx="8229600" cy="27432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138+ CVEs in under 5 months are clustered into three systemic failure modes</a:t>
            </a:r>
            <a:endParaRPr lang="en-US" sz="1400" dirty="0"/>
          </a:p>
        </p:txBody>
      </p:sp>
      <p:pic>
        <p:nvPicPr>
          <p:cNvPr id="2050" name="Picture 2">
            <a:extLst>
              <a:ext uri="{FF2B5EF4-FFF2-40B4-BE49-F238E27FC236}">
                <a16:creationId xmlns:a16="http://schemas.microsoft.com/office/drawing/2014/main" id="{FDE95225-A9F1-6924-F1A0-CCF82EFC5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981" y="1060704"/>
            <a:ext cx="1309877" cy="130987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redential - Free security icons">
            <a:extLst>
              <a:ext uri="{FF2B5EF4-FFF2-40B4-BE49-F238E27FC236}">
                <a16:creationId xmlns:a16="http://schemas.microsoft.com/office/drawing/2014/main" id="{6B344873-B6AA-C067-95BC-4768D3A0EC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4616" y="1217845"/>
            <a:ext cx="1054767" cy="105476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upply chain - Free shipping and delivery icons">
            <a:extLst>
              <a:ext uri="{FF2B5EF4-FFF2-40B4-BE49-F238E27FC236}">
                <a16:creationId xmlns:a16="http://schemas.microsoft.com/office/drawing/2014/main" id="{B85E12D5-D685-2A1B-1C47-500BE34F3D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8984" y="1184407"/>
            <a:ext cx="1054767" cy="1054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84229-4369-703C-3592-028D586B984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806683-B545-F608-AA07-C569AE61E2B6}"/>
              </a:ext>
            </a:extLst>
          </p:cNvPr>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a:extLst>
              <a:ext uri="{FF2B5EF4-FFF2-40B4-BE49-F238E27FC236}">
                <a16:creationId xmlns:a16="http://schemas.microsoft.com/office/drawing/2014/main" id="{47DA1D17-6B35-23FE-23F1-76CD219BE01A}"/>
              </a:ext>
            </a:extLst>
          </p:cNvPr>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Security Analysis: OpenClaw</a:t>
            </a:r>
            <a:endParaRPr lang="en-US" sz="2800" dirty="0"/>
          </a:p>
        </p:txBody>
      </p:sp>
      <p:sp>
        <p:nvSpPr>
          <p:cNvPr id="4" name="Text 2">
            <a:extLst>
              <a:ext uri="{FF2B5EF4-FFF2-40B4-BE49-F238E27FC236}">
                <a16:creationId xmlns:a16="http://schemas.microsoft.com/office/drawing/2014/main" id="{E5A37941-D59E-C6AB-6FB2-FCB5308ECA4A}"/>
              </a:ext>
            </a:extLst>
          </p:cNvPr>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Configuration-dependent security with a high and growing CVE profile</a:t>
            </a:r>
            <a:endParaRPr lang="en-US" sz="1300" dirty="0"/>
          </a:p>
        </p:txBody>
      </p:sp>
      <p:sp>
        <p:nvSpPr>
          <p:cNvPr id="5" name="Shape 3">
            <a:extLst>
              <a:ext uri="{FF2B5EF4-FFF2-40B4-BE49-F238E27FC236}">
                <a16:creationId xmlns:a16="http://schemas.microsoft.com/office/drawing/2014/main" id="{1EC84F4B-8A84-28DA-847A-59537F569ACA}"/>
              </a:ext>
            </a:extLst>
          </p:cNvPr>
          <p:cNvSpPr/>
          <p:nvPr/>
        </p:nvSpPr>
        <p:spPr>
          <a:xfrm>
            <a:off x="365760" y="1051560"/>
            <a:ext cx="2011680" cy="1097280"/>
          </a:xfrm>
          <a:prstGeom prst="rect">
            <a:avLst/>
          </a:prstGeom>
          <a:solidFill>
            <a:srgbClr val="DC2626"/>
          </a:solidFill>
          <a:ln w="12700">
            <a:solidFill>
              <a:srgbClr val="DC2626"/>
            </a:solidFill>
            <a:prstDash val="solid"/>
          </a:ln>
          <a:effectLst>
            <a:outerShdw blurRad="101600" dist="38100" dir="8100000" algn="bl" rotWithShape="0">
              <a:srgbClr val="000000">
                <a:alpha val="10000"/>
              </a:srgbClr>
            </a:outerShdw>
          </a:effectLst>
        </p:spPr>
        <p:txBody>
          <a:bodyPr/>
          <a:lstStyle/>
          <a:p>
            <a:endParaRPr lang="en-AU"/>
          </a:p>
        </p:txBody>
      </p:sp>
      <p:sp>
        <p:nvSpPr>
          <p:cNvPr id="6" name="Text 4">
            <a:extLst>
              <a:ext uri="{FF2B5EF4-FFF2-40B4-BE49-F238E27FC236}">
                <a16:creationId xmlns:a16="http://schemas.microsoft.com/office/drawing/2014/main" id="{8D2BF01A-92CB-79C8-3418-D16926EB2917}"/>
              </a:ext>
            </a:extLst>
          </p:cNvPr>
          <p:cNvSpPr/>
          <p:nvPr/>
        </p:nvSpPr>
        <p:spPr>
          <a:xfrm>
            <a:off x="365760" y="1097280"/>
            <a:ext cx="2011680" cy="64008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138+</a:t>
            </a:r>
            <a:endParaRPr lang="en-US" sz="4200" dirty="0"/>
          </a:p>
        </p:txBody>
      </p:sp>
      <p:sp>
        <p:nvSpPr>
          <p:cNvPr id="7" name="Text 5">
            <a:extLst>
              <a:ext uri="{FF2B5EF4-FFF2-40B4-BE49-F238E27FC236}">
                <a16:creationId xmlns:a16="http://schemas.microsoft.com/office/drawing/2014/main" id="{471D5302-4F6A-CA83-F94C-9210D493D791}"/>
              </a:ext>
            </a:extLst>
          </p:cNvPr>
          <p:cNvSpPr/>
          <p:nvPr/>
        </p:nvSpPr>
        <p:spPr>
          <a:xfrm>
            <a:off x="365760" y="1737360"/>
            <a:ext cx="2011680" cy="36576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CVEs disclosed</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in under 5 months</a:t>
            </a:r>
            <a:endParaRPr lang="en-US" sz="950" dirty="0"/>
          </a:p>
        </p:txBody>
      </p:sp>
      <p:sp>
        <p:nvSpPr>
          <p:cNvPr id="8" name="Text 6">
            <a:extLst>
              <a:ext uri="{FF2B5EF4-FFF2-40B4-BE49-F238E27FC236}">
                <a16:creationId xmlns:a16="http://schemas.microsoft.com/office/drawing/2014/main" id="{7E8E76DB-1DDF-8D02-F714-89D6634E1B20}"/>
              </a:ext>
            </a:extLst>
          </p:cNvPr>
          <p:cNvSpPr/>
          <p:nvPr/>
        </p:nvSpPr>
        <p:spPr>
          <a:xfrm>
            <a:off x="2560320" y="1051560"/>
            <a:ext cx="6217920" cy="274320"/>
          </a:xfrm>
          <a:prstGeom prst="rect">
            <a:avLst/>
          </a:prstGeom>
          <a:noFill/>
          <a:ln/>
        </p:spPr>
        <p:txBody>
          <a:bodyPr wrap="square"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Notable CVEs</a:t>
            </a:r>
            <a:endParaRPr lang="en-US" sz="1100" dirty="0"/>
          </a:p>
        </p:txBody>
      </p:sp>
      <p:sp>
        <p:nvSpPr>
          <p:cNvPr id="33" name="Shape 31">
            <a:extLst>
              <a:ext uri="{FF2B5EF4-FFF2-40B4-BE49-F238E27FC236}">
                <a16:creationId xmlns:a16="http://schemas.microsoft.com/office/drawing/2014/main" id="{567BA42D-3B59-DF40-15F7-C11A8A4E1FF8}"/>
              </a:ext>
            </a:extLst>
          </p:cNvPr>
          <p:cNvSpPr/>
          <p:nvPr/>
        </p:nvSpPr>
        <p:spPr>
          <a:xfrm>
            <a:off x="365760" y="4041648"/>
            <a:ext cx="8412480" cy="749808"/>
          </a:xfrm>
          <a:prstGeom prst="rect">
            <a:avLst/>
          </a:prstGeom>
          <a:solidFill>
            <a:srgbClr val="FEF2F2"/>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34" name="Text 32">
            <a:extLst>
              <a:ext uri="{FF2B5EF4-FFF2-40B4-BE49-F238E27FC236}">
                <a16:creationId xmlns:a16="http://schemas.microsoft.com/office/drawing/2014/main" id="{90FB722A-D987-51F5-2CF6-439A26F3F6F5}"/>
              </a:ext>
            </a:extLst>
          </p:cNvPr>
          <p:cNvSpPr/>
          <p:nvPr/>
        </p:nvSpPr>
        <p:spPr>
          <a:xfrm>
            <a:off x="548640" y="4078224"/>
            <a:ext cx="36576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Institutional &amp; Regulatory Response</a:t>
            </a:r>
            <a:endParaRPr lang="en-US" sz="1000" dirty="0"/>
          </a:p>
        </p:txBody>
      </p:sp>
      <p:sp>
        <p:nvSpPr>
          <p:cNvPr id="35" name="Text 33">
            <a:extLst>
              <a:ext uri="{FF2B5EF4-FFF2-40B4-BE49-F238E27FC236}">
                <a16:creationId xmlns:a16="http://schemas.microsoft.com/office/drawing/2014/main" id="{9D6D8978-E587-D2D8-F303-F60F9B5F949F}"/>
              </a:ext>
            </a:extLst>
          </p:cNvPr>
          <p:cNvSpPr/>
          <p:nvPr/>
        </p:nvSpPr>
        <p:spPr>
          <a:xfrm>
            <a:off x="548640" y="4279392"/>
            <a:ext cx="804672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Formal advisories and restrictions issued by: CISA (US) • MIIT (China) • Belgium CCB</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Microsoft, CrowdStrike, Cisco, and Palo Alto Networks have issued enterprise security warnings.</a:t>
            </a:r>
            <a:endParaRPr lang="en-US" sz="950" dirty="0"/>
          </a:p>
        </p:txBody>
      </p:sp>
      <p:sp>
        <p:nvSpPr>
          <p:cNvPr id="36" name="Shape 34">
            <a:extLst>
              <a:ext uri="{FF2B5EF4-FFF2-40B4-BE49-F238E27FC236}">
                <a16:creationId xmlns:a16="http://schemas.microsoft.com/office/drawing/2014/main" id="{E1B5F74F-1067-13DF-B78B-F79C8D5F5503}"/>
              </a:ext>
            </a:extLst>
          </p:cNvPr>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7" name="Text 35">
            <a:extLst>
              <a:ext uri="{FF2B5EF4-FFF2-40B4-BE49-F238E27FC236}">
                <a16:creationId xmlns:a16="http://schemas.microsoft.com/office/drawing/2014/main" id="{3FCBB4E8-3485-1A5D-AF8A-2DE00000DBCD}"/>
              </a:ext>
            </a:extLst>
          </p:cNvPr>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
        <p:nvSpPr>
          <p:cNvPr id="38" name="Shape 7">
            <a:extLst>
              <a:ext uri="{FF2B5EF4-FFF2-40B4-BE49-F238E27FC236}">
                <a16:creationId xmlns:a16="http://schemas.microsoft.com/office/drawing/2014/main" id="{1EC885A9-7833-67C8-8928-536EBDAB7B63}"/>
              </a:ext>
            </a:extLst>
          </p:cNvPr>
          <p:cNvSpPr/>
          <p:nvPr/>
        </p:nvSpPr>
        <p:spPr>
          <a:xfrm>
            <a:off x="2560320" y="1362456"/>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39" name="Shape 8">
            <a:extLst>
              <a:ext uri="{FF2B5EF4-FFF2-40B4-BE49-F238E27FC236}">
                <a16:creationId xmlns:a16="http://schemas.microsoft.com/office/drawing/2014/main" id="{55C609EB-6442-2B34-D3A3-1450432E7DC5}"/>
              </a:ext>
            </a:extLst>
          </p:cNvPr>
          <p:cNvSpPr/>
          <p:nvPr/>
        </p:nvSpPr>
        <p:spPr>
          <a:xfrm>
            <a:off x="2560320" y="1362456"/>
            <a:ext cx="54864" cy="594360"/>
          </a:xfrm>
          <a:prstGeom prst="rect">
            <a:avLst/>
          </a:prstGeom>
          <a:solidFill>
            <a:srgbClr val="DC2626"/>
          </a:solidFill>
          <a:ln w="12700">
            <a:solidFill>
              <a:srgbClr val="DC2626"/>
            </a:solidFill>
            <a:prstDash val="solid"/>
          </a:ln>
        </p:spPr>
        <p:txBody>
          <a:bodyPr/>
          <a:lstStyle/>
          <a:p>
            <a:endParaRPr lang="en-AU"/>
          </a:p>
        </p:txBody>
      </p:sp>
      <p:sp>
        <p:nvSpPr>
          <p:cNvPr id="40" name="Text 9">
            <a:extLst>
              <a:ext uri="{FF2B5EF4-FFF2-40B4-BE49-F238E27FC236}">
                <a16:creationId xmlns:a16="http://schemas.microsoft.com/office/drawing/2014/main" id="{1B0D23C2-5203-3086-64D7-13E19C8CF074}"/>
              </a:ext>
            </a:extLst>
          </p:cNvPr>
          <p:cNvSpPr/>
          <p:nvPr/>
        </p:nvSpPr>
        <p:spPr>
          <a:xfrm>
            <a:off x="2670048" y="1399032"/>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CVE-2026-32922</a:t>
            </a:r>
            <a:endParaRPr lang="en-US" sz="1000" dirty="0"/>
          </a:p>
        </p:txBody>
      </p:sp>
      <p:sp>
        <p:nvSpPr>
          <p:cNvPr id="41" name="Shape 10">
            <a:extLst>
              <a:ext uri="{FF2B5EF4-FFF2-40B4-BE49-F238E27FC236}">
                <a16:creationId xmlns:a16="http://schemas.microsoft.com/office/drawing/2014/main" id="{61BDB494-DE14-5F09-9F42-ECF37BB1BAA0}"/>
              </a:ext>
            </a:extLst>
          </p:cNvPr>
          <p:cNvSpPr/>
          <p:nvPr/>
        </p:nvSpPr>
        <p:spPr>
          <a:xfrm>
            <a:off x="4526280" y="1426464"/>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42" name="Text 11">
            <a:extLst>
              <a:ext uri="{FF2B5EF4-FFF2-40B4-BE49-F238E27FC236}">
                <a16:creationId xmlns:a16="http://schemas.microsoft.com/office/drawing/2014/main" id="{D01210C7-EAD4-DE8F-53F6-23A96C7B6332}"/>
              </a:ext>
            </a:extLst>
          </p:cNvPr>
          <p:cNvSpPr/>
          <p:nvPr/>
        </p:nvSpPr>
        <p:spPr>
          <a:xfrm>
            <a:off x="4526280" y="1426464"/>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9.9 CVSS</a:t>
            </a:r>
            <a:endParaRPr lang="en-US" sz="800" dirty="0"/>
          </a:p>
        </p:txBody>
      </p:sp>
      <p:sp>
        <p:nvSpPr>
          <p:cNvPr id="43" name="Text 12">
            <a:extLst>
              <a:ext uri="{FF2B5EF4-FFF2-40B4-BE49-F238E27FC236}">
                <a16:creationId xmlns:a16="http://schemas.microsoft.com/office/drawing/2014/main" id="{436D31EB-E3B2-A294-5548-84D3E9AC1787}"/>
              </a:ext>
            </a:extLst>
          </p:cNvPr>
          <p:cNvSpPr/>
          <p:nvPr/>
        </p:nvSpPr>
        <p:spPr>
          <a:xfrm>
            <a:off x="2670048" y="1636776"/>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Critical privilege escalation , where a single API call converted a pairing token into full admin control with RCE. Described by ARMO as the most severe in OpenClaw history.</a:t>
            </a:r>
            <a:endParaRPr lang="en-US" sz="900" dirty="0"/>
          </a:p>
        </p:txBody>
      </p:sp>
      <p:sp>
        <p:nvSpPr>
          <p:cNvPr id="44" name="Shape 13">
            <a:extLst>
              <a:ext uri="{FF2B5EF4-FFF2-40B4-BE49-F238E27FC236}">
                <a16:creationId xmlns:a16="http://schemas.microsoft.com/office/drawing/2014/main" id="{D46D254A-87D8-50C1-22C9-EA89405C3EBC}"/>
              </a:ext>
            </a:extLst>
          </p:cNvPr>
          <p:cNvSpPr/>
          <p:nvPr/>
        </p:nvSpPr>
        <p:spPr>
          <a:xfrm>
            <a:off x="2560320" y="2020824"/>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45" name="Shape 14">
            <a:extLst>
              <a:ext uri="{FF2B5EF4-FFF2-40B4-BE49-F238E27FC236}">
                <a16:creationId xmlns:a16="http://schemas.microsoft.com/office/drawing/2014/main" id="{8EE93184-6076-432D-E2CA-9F404590E8BF}"/>
              </a:ext>
            </a:extLst>
          </p:cNvPr>
          <p:cNvSpPr/>
          <p:nvPr/>
        </p:nvSpPr>
        <p:spPr>
          <a:xfrm>
            <a:off x="2560320" y="2020824"/>
            <a:ext cx="54864" cy="594360"/>
          </a:xfrm>
          <a:prstGeom prst="rect">
            <a:avLst/>
          </a:prstGeom>
          <a:solidFill>
            <a:srgbClr val="DC2626"/>
          </a:solidFill>
          <a:ln w="12700">
            <a:solidFill>
              <a:srgbClr val="DC2626"/>
            </a:solidFill>
            <a:prstDash val="solid"/>
          </a:ln>
        </p:spPr>
        <p:txBody>
          <a:bodyPr/>
          <a:lstStyle/>
          <a:p>
            <a:endParaRPr lang="en-AU"/>
          </a:p>
        </p:txBody>
      </p:sp>
      <p:sp>
        <p:nvSpPr>
          <p:cNvPr id="46" name="Text 15">
            <a:extLst>
              <a:ext uri="{FF2B5EF4-FFF2-40B4-BE49-F238E27FC236}">
                <a16:creationId xmlns:a16="http://schemas.microsoft.com/office/drawing/2014/main" id="{097FC41C-1775-C427-F6A0-FD47A4763907}"/>
              </a:ext>
            </a:extLst>
          </p:cNvPr>
          <p:cNvSpPr/>
          <p:nvPr/>
        </p:nvSpPr>
        <p:spPr>
          <a:xfrm>
            <a:off x="2670048" y="2057400"/>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CVE-2026-44112</a:t>
            </a:r>
            <a:endParaRPr lang="en-US" sz="1000" dirty="0"/>
          </a:p>
        </p:txBody>
      </p:sp>
      <p:sp>
        <p:nvSpPr>
          <p:cNvPr id="47" name="Shape 16">
            <a:extLst>
              <a:ext uri="{FF2B5EF4-FFF2-40B4-BE49-F238E27FC236}">
                <a16:creationId xmlns:a16="http://schemas.microsoft.com/office/drawing/2014/main" id="{BC7FDD9E-1DDD-26E6-006A-A362CA100A8B}"/>
              </a:ext>
            </a:extLst>
          </p:cNvPr>
          <p:cNvSpPr/>
          <p:nvPr/>
        </p:nvSpPr>
        <p:spPr>
          <a:xfrm>
            <a:off x="4526280" y="2084832"/>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48" name="Text 17">
            <a:extLst>
              <a:ext uri="{FF2B5EF4-FFF2-40B4-BE49-F238E27FC236}">
                <a16:creationId xmlns:a16="http://schemas.microsoft.com/office/drawing/2014/main" id="{F1544A1F-A61D-224E-40A7-F2296939C583}"/>
              </a:ext>
            </a:extLst>
          </p:cNvPr>
          <p:cNvSpPr/>
          <p:nvPr/>
        </p:nvSpPr>
        <p:spPr>
          <a:xfrm>
            <a:off x="4526280" y="2084832"/>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9.6 CVSS</a:t>
            </a:r>
            <a:endParaRPr lang="en-US" sz="800" dirty="0"/>
          </a:p>
        </p:txBody>
      </p:sp>
      <p:sp>
        <p:nvSpPr>
          <p:cNvPr id="49" name="Text 18">
            <a:extLst>
              <a:ext uri="{FF2B5EF4-FFF2-40B4-BE49-F238E27FC236}">
                <a16:creationId xmlns:a16="http://schemas.microsoft.com/office/drawing/2014/main" id="{3ED2175B-9D6C-BEFE-C6A6-2F863C9C6BCA}"/>
              </a:ext>
            </a:extLst>
          </p:cNvPr>
          <p:cNvSpPr/>
          <p:nvPr/>
        </p:nvSpPr>
        <p:spPr>
          <a:xfrm>
            <a:off x="2670048" y="2295144"/>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TOCTOU race condition in OpenShell sandbox , allowing attackers to modify system config, drop backdoors, and achieve persistent system-level control.</a:t>
            </a:r>
            <a:endParaRPr lang="en-US" sz="900" dirty="0"/>
          </a:p>
        </p:txBody>
      </p:sp>
      <p:sp>
        <p:nvSpPr>
          <p:cNvPr id="50" name="Shape 19">
            <a:extLst>
              <a:ext uri="{FF2B5EF4-FFF2-40B4-BE49-F238E27FC236}">
                <a16:creationId xmlns:a16="http://schemas.microsoft.com/office/drawing/2014/main" id="{F628487A-DC1F-691C-B61C-F31B73C658DF}"/>
              </a:ext>
            </a:extLst>
          </p:cNvPr>
          <p:cNvSpPr/>
          <p:nvPr/>
        </p:nvSpPr>
        <p:spPr>
          <a:xfrm>
            <a:off x="2560320" y="2679192"/>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51" name="Shape 20">
            <a:extLst>
              <a:ext uri="{FF2B5EF4-FFF2-40B4-BE49-F238E27FC236}">
                <a16:creationId xmlns:a16="http://schemas.microsoft.com/office/drawing/2014/main" id="{ABE108EC-F7CA-BAA8-52BF-725D79A90F60}"/>
              </a:ext>
            </a:extLst>
          </p:cNvPr>
          <p:cNvSpPr/>
          <p:nvPr/>
        </p:nvSpPr>
        <p:spPr>
          <a:xfrm>
            <a:off x="2560320" y="2679192"/>
            <a:ext cx="54864" cy="594360"/>
          </a:xfrm>
          <a:prstGeom prst="rect">
            <a:avLst/>
          </a:prstGeom>
          <a:solidFill>
            <a:srgbClr val="DC2626"/>
          </a:solidFill>
          <a:ln w="12700">
            <a:solidFill>
              <a:srgbClr val="DC2626"/>
            </a:solidFill>
            <a:prstDash val="solid"/>
          </a:ln>
        </p:spPr>
        <p:txBody>
          <a:bodyPr/>
          <a:lstStyle/>
          <a:p>
            <a:endParaRPr lang="en-AU"/>
          </a:p>
        </p:txBody>
      </p:sp>
      <p:sp>
        <p:nvSpPr>
          <p:cNvPr id="52" name="Text 21">
            <a:extLst>
              <a:ext uri="{FF2B5EF4-FFF2-40B4-BE49-F238E27FC236}">
                <a16:creationId xmlns:a16="http://schemas.microsoft.com/office/drawing/2014/main" id="{FB44E6E8-7366-6660-244B-550669031FAD}"/>
              </a:ext>
            </a:extLst>
          </p:cNvPr>
          <p:cNvSpPr/>
          <p:nvPr/>
        </p:nvSpPr>
        <p:spPr>
          <a:xfrm>
            <a:off x="2670048" y="2715768"/>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CVE-2026-25253</a:t>
            </a:r>
            <a:endParaRPr lang="en-US" sz="1000" dirty="0"/>
          </a:p>
        </p:txBody>
      </p:sp>
      <p:sp>
        <p:nvSpPr>
          <p:cNvPr id="53" name="Shape 22">
            <a:extLst>
              <a:ext uri="{FF2B5EF4-FFF2-40B4-BE49-F238E27FC236}">
                <a16:creationId xmlns:a16="http://schemas.microsoft.com/office/drawing/2014/main" id="{FFE94531-E379-E397-4853-933036F8396B}"/>
              </a:ext>
            </a:extLst>
          </p:cNvPr>
          <p:cNvSpPr/>
          <p:nvPr/>
        </p:nvSpPr>
        <p:spPr>
          <a:xfrm>
            <a:off x="4526280" y="2743200"/>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54" name="Text 23">
            <a:extLst>
              <a:ext uri="{FF2B5EF4-FFF2-40B4-BE49-F238E27FC236}">
                <a16:creationId xmlns:a16="http://schemas.microsoft.com/office/drawing/2014/main" id="{B0FFEFBE-5CE1-D73B-F209-B53302B5D341}"/>
              </a:ext>
            </a:extLst>
          </p:cNvPr>
          <p:cNvSpPr/>
          <p:nvPr/>
        </p:nvSpPr>
        <p:spPr>
          <a:xfrm>
            <a:off x="4526280" y="2743200"/>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High</a:t>
            </a:r>
            <a:endParaRPr lang="en-US" sz="800" dirty="0"/>
          </a:p>
        </p:txBody>
      </p:sp>
      <p:sp>
        <p:nvSpPr>
          <p:cNvPr id="55" name="Text 24">
            <a:extLst>
              <a:ext uri="{FF2B5EF4-FFF2-40B4-BE49-F238E27FC236}">
                <a16:creationId xmlns:a16="http://schemas.microsoft.com/office/drawing/2014/main" id="{4C1F3BAB-0CD3-C4E3-1A8B-0F7CCD138C10}"/>
              </a:ext>
            </a:extLst>
          </p:cNvPr>
          <p:cNvSpPr/>
          <p:nvPr/>
        </p:nvSpPr>
        <p:spPr>
          <a:xfrm>
            <a:off x="2670048" y="2953512"/>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Gateway takeover enabling downstream remote code execution. OAuth credentials were stored in plaintext JSON.</a:t>
            </a:r>
            <a:endParaRPr lang="en-US" sz="900" dirty="0"/>
          </a:p>
        </p:txBody>
      </p:sp>
      <p:sp>
        <p:nvSpPr>
          <p:cNvPr id="56" name="Shape 25">
            <a:extLst>
              <a:ext uri="{FF2B5EF4-FFF2-40B4-BE49-F238E27FC236}">
                <a16:creationId xmlns:a16="http://schemas.microsoft.com/office/drawing/2014/main" id="{CF273107-4E9E-7C38-F930-A77BB33E2EE5}"/>
              </a:ext>
            </a:extLst>
          </p:cNvPr>
          <p:cNvSpPr/>
          <p:nvPr/>
        </p:nvSpPr>
        <p:spPr>
          <a:xfrm>
            <a:off x="2560320" y="3337560"/>
            <a:ext cx="6217920" cy="594360"/>
          </a:xfrm>
          <a:prstGeom prst="rect">
            <a:avLst/>
          </a:prstGeom>
          <a:solidFill>
            <a:srgbClr val="F8FAFF"/>
          </a:solidFill>
          <a:ln w="1016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57" name="Shape 26">
            <a:extLst>
              <a:ext uri="{FF2B5EF4-FFF2-40B4-BE49-F238E27FC236}">
                <a16:creationId xmlns:a16="http://schemas.microsoft.com/office/drawing/2014/main" id="{B7EBDF72-5EB7-8E40-A5D6-C2B97EC00AD4}"/>
              </a:ext>
            </a:extLst>
          </p:cNvPr>
          <p:cNvSpPr/>
          <p:nvPr/>
        </p:nvSpPr>
        <p:spPr>
          <a:xfrm>
            <a:off x="2560320" y="3337560"/>
            <a:ext cx="54864" cy="594360"/>
          </a:xfrm>
          <a:prstGeom prst="rect">
            <a:avLst/>
          </a:prstGeom>
          <a:solidFill>
            <a:srgbClr val="DC2626"/>
          </a:solidFill>
          <a:ln w="12700">
            <a:solidFill>
              <a:srgbClr val="DC2626"/>
            </a:solidFill>
            <a:prstDash val="solid"/>
          </a:ln>
        </p:spPr>
        <p:txBody>
          <a:bodyPr/>
          <a:lstStyle/>
          <a:p>
            <a:endParaRPr lang="en-AU"/>
          </a:p>
        </p:txBody>
      </p:sp>
      <p:sp>
        <p:nvSpPr>
          <p:cNvPr id="58" name="Text 27">
            <a:extLst>
              <a:ext uri="{FF2B5EF4-FFF2-40B4-BE49-F238E27FC236}">
                <a16:creationId xmlns:a16="http://schemas.microsoft.com/office/drawing/2014/main" id="{D55E10D2-95AA-E13A-08F5-5A14F9928850}"/>
              </a:ext>
            </a:extLst>
          </p:cNvPr>
          <p:cNvSpPr/>
          <p:nvPr/>
        </p:nvSpPr>
        <p:spPr>
          <a:xfrm>
            <a:off x="2670048" y="3374136"/>
            <a:ext cx="18288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CVE-2026-44115</a:t>
            </a:r>
            <a:endParaRPr lang="en-US" sz="1000" dirty="0"/>
          </a:p>
        </p:txBody>
      </p:sp>
      <p:sp>
        <p:nvSpPr>
          <p:cNvPr id="59" name="Shape 28">
            <a:extLst>
              <a:ext uri="{FF2B5EF4-FFF2-40B4-BE49-F238E27FC236}">
                <a16:creationId xmlns:a16="http://schemas.microsoft.com/office/drawing/2014/main" id="{17A4D307-FA24-9C6A-88DF-C4433C57926F}"/>
              </a:ext>
            </a:extLst>
          </p:cNvPr>
          <p:cNvSpPr/>
          <p:nvPr/>
        </p:nvSpPr>
        <p:spPr>
          <a:xfrm>
            <a:off x="4526280" y="3401568"/>
            <a:ext cx="822960" cy="182880"/>
          </a:xfrm>
          <a:prstGeom prst="rect">
            <a:avLst/>
          </a:prstGeom>
          <a:solidFill>
            <a:srgbClr val="DC2626">
              <a:alpha val="15000"/>
            </a:srgbClr>
          </a:solidFill>
          <a:ln w="6350">
            <a:solidFill>
              <a:srgbClr val="DC2626"/>
            </a:solidFill>
            <a:prstDash val="solid"/>
          </a:ln>
        </p:spPr>
        <p:txBody>
          <a:bodyPr/>
          <a:lstStyle/>
          <a:p>
            <a:endParaRPr lang="en-AU"/>
          </a:p>
        </p:txBody>
      </p:sp>
      <p:sp>
        <p:nvSpPr>
          <p:cNvPr id="60" name="Text 29">
            <a:extLst>
              <a:ext uri="{FF2B5EF4-FFF2-40B4-BE49-F238E27FC236}">
                <a16:creationId xmlns:a16="http://schemas.microsoft.com/office/drawing/2014/main" id="{49D5512C-6D62-58E6-5F77-3C07C87E1BAF}"/>
              </a:ext>
            </a:extLst>
          </p:cNvPr>
          <p:cNvSpPr/>
          <p:nvPr/>
        </p:nvSpPr>
        <p:spPr>
          <a:xfrm>
            <a:off x="4526280" y="3401568"/>
            <a:ext cx="822960" cy="18288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8.8 CVSS</a:t>
            </a:r>
            <a:endParaRPr lang="en-US" sz="800" dirty="0"/>
          </a:p>
        </p:txBody>
      </p:sp>
      <p:sp>
        <p:nvSpPr>
          <p:cNvPr id="61" name="Text 30">
            <a:extLst>
              <a:ext uri="{FF2B5EF4-FFF2-40B4-BE49-F238E27FC236}">
                <a16:creationId xmlns:a16="http://schemas.microsoft.com/office/drawing/2014/main" id="{A4A3EE40-328C-2418-FF5D-8A414C69866C}"/>
              </a:ext>
            </a:extLst>
          </p:cNvPr>
          <p:cNvSpPr/>
          <p:nvPr/>
        </p:nvSpPr>
        <p:spPr>
          <a:xfrm>
            <a:off x="2670048" y="3611880"/>
            <a:ext cx="5989320" cy="29260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Logic flaw exposing API keys, tokens, and credentials during sensitive data access.</a:t>
            </a:r>
            <a:endParaRPr lang="en-US" sz="900" dirty="0"/>
          </a:p>
        </p:txBody>
      </p:sp>
    </p:spTree>
    <p:extLst>
      <p:ext uri="{BB962C8B-B14F-4D97-AF65-F5344CB8AC3E}">
        <p14:creationId xmlns:p14="http://schemas.microsoft.com/office/powerpoint/2010/main" val="2765875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475488"/>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5.2  OpenClaw: Systemic Security Failures</a:t>
            </a:r>
            <a:endParaRPr lang="en-US" sz="2600" dirty="0"/>
          </a:p>
        </p:txBody>
      </p:sp>
      <p:sp>
        <p:nvSpPr>
          <p:cNvPr id="4" name="Text 2"/>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Five structural failure modes across the gateway, sandbox, credential, supply chain, and network layers</a:t>
            </a:r>
            <a:endParaRPr lang="en-US" sz="1200" dirty="0"/>
          </a:p>
        </p:txBody>
      </p:sp>
      <p:sp>
        <p:nvSpPr>
          <p:cNvPr id="5" name="Shape 3"/>
          <p:cNvSpPr/>
          <p:nvPr/>
        </p:nvSpPr>
        <p:spPr>
          <a:xfrm>
            <a:off x="1091408" y="944717"/>
            <a:ext cx="7924292" cy="670942"/>
          </a:xfrm>
          <a:prstGeom prst="rect">
            <a:avLst/>
          </a:prstGeom>
          <a:solidFill>
            <a:srgbClr val="FEF2F2"/>
          </a:solidFill>
          <a:ln w="889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6" name="Shape 4"/>
          <p:cNvSpPr/>
          <p:nvPr/>
        </p:nvSpPr>
        <p:spPr>
          <a:xfrm>
            <a:off x="1091408" y="944717"/>
            <a:ext cx="60294" cy="670942"/>
          </a:xfrm>
          <a:prstGeom prst="rect">
            <a:avLst/>
          </a:prstGeom>
          <a:solidFill>
            <a:srgbClr val="DC2626"/>
          </a:solidFill>
          <a:ln w="12700">
            <a:solidFill>
              <a:srgbClr val="DC2626"/>
            </a:solidFill>
            <a:prstDash val="solid"/>
          </a:ln>
        </p:spPr>
        <p:txBody>
          <a:bodyPr/>
          <a:lstStyle/>
          <a:p>
            <a:endParaRPr lang="en-AU"/>
          </a:p>
        </p:txBody>
      </p:sp>
      <p:sp>
        <p:nvSpPr>
          <p:cNvPr id="7" name="Text 5"/>
          <p:cNvSpPr/>
          <p:nvPr/>
        </p:nvSpPr>
        <p:spPr>
          <a:xfrm>
            <a:off x="1246856" y="949546"/>
            <a:ext cx="7622824" cy="218056"/>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(a) Shared Session Architecture</a:t>
            </a:r>
            <a:endParaRPr lang="en-US" sz="1050" dirty="0"/>
          </a:p>
        </p:txBody>
      </p:sp>
      <p:sp>
        <p:nvSpPr>
          <p:cNvPr id="8" name="Text 6"/>
          <p:cNvSpPr/>
          <p:nvPr/>
        </p:nvSpPr>
        <p:spPr>
          <a:xfrm>
            <a:off x="1246856" y="1193290"/>
            <a:ext cx="7622824" cy="385792"/>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Default mode uses a shared agent session across users:</a:t>
            </a:r>
            <a:r>
              <a:rPr lang="en-US" sz="900" dirty="0">
                <a:solidFill>
                  <a:srgbClr val="64748B"/>
                </a:solidFill>
                <a:latin typeface="Calibri" pitchFamily="34" charset="0"/>
                <a:ea typeface="Calibri" pitchFamily="34" charset="-122"/>
                <a:cs typeface="Calibri" pitchFamily="34" charset="-120"/>
              </a:rPr>
              <a:t> session isolation requires enabling the Secure DM Mode, implying that security boundaries are configuration-dependent, not architecture-enforced, creating variance across deployments.</a:t>
            </a:r>
            <a:endParaRPr lang="en-US" sz="900" dirty="0"/>
          </a:p>
        </p:txBody>
      </p:sp>
      <p:sp>
        <p:nvSpPr>
          <p:cNvPr id="9" name="Shape 7"/>
          <p:cNvSpPr/>
          <p:nvPr/>
        </p:nvSpPr>
        <p:spPr>
          <a:xfrm>
            <a:off x="1091408" y="1740245"/>
            <a:ext cx="7924292" cy="670942"/>
          </a:xfrm>
          <a:prstGeom prst="rect">
            <a:avLst/>
          </a:prstGeom>
          <a:solidFill>
            <a:srgbClr val="FFFFFF"/>
          </a:solidFill>
          <a:ln w="889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0" name="Shape 8"/>
          <p:cNvSpPr/>
          <p:nvPr/>
        </p:nvSpPr>
        <p:spPr>
          <a:xfrm>
            <a:off x="1091408" y="1740245"/>
            <a:ext cx="60294" cy="670942"/>
          </a:xfrm>
          <a:prstGeom prst="rect">
            <a:avLst/>
          </a:prstGeom>
          <a:solidFill>
            <a:srgbClr val="DC2626"/>
          </a:solidFill>
          <a:ln w="12700">
            <a:solidFill>
              <a:srgbClr val="DC2626"/>
            </a:solidFill>
            <a:prstDash val="solid"/>
          </a:ln>
        </p:spPr>
        <p:txBody>
          <a:bodyPr/>
          <a:lstStyle/>
          <a:p>
            <a:endParaRPr lang="en-AU"/>
          </a:p>
        </p:txBody>
      </p:sp>
      <p:sp>
        <p:nvSpPr>
          <p:cNvPr id="11" name="Text 9"/>
          <p:cNvSpPr/>
          <p:nvPr/>
        </p:nvSpPr>
        <p:spPr>
          <a:xfrm>
            <a:off x="1246856" y="1745074"/>
            <a:ext cx="7622824" cy="218056"/>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(b) Sandbox Isolation (OpenShell)</a:t>
            </a:r>
            <a:endParaRPr lang="en-US" sz="1050" dirty="0"/>
          </a:p>
        </p:txBody>
      </p:sp>
      <p:sp>
        <p:nvSpPr>
          <p:cNvPr id="12" name="Text 10"/>
          <p:cNvSpPr/>
          <p:nvPr/>
        </p:nvSpPr>
        <p:spPr>
          <a:xfrm>
            <a:off x="1246856" y="1988818"/>
            <a:ext cx="7622824" cy="385792"/>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Sandbox isolation is policy-driven</a:t>
            </a:r>
            <a:r>
              <a:rPr lang="en-US" sz="900" dirty="0">
                <a:solidFill>
                  <a:srgbClr val="64748B"/>
                </a:solidFill>
                <a:latin typeface="Calibri" pitchFamily="34" charset="0"/>
                <a:ea typeface="Calibri" pitchFamily="34" charset="-122"/>
                <a:cs typeface="Calibri" pitchFamily="34" charset="-120"/>
              </a:rPr>
              <a:t>, not strictly OS-enforced in a container-first sense. Historical CVEs show TOCTOU race conditions in state validation, and boundary enforcement degrades under concurrent multi-session load.</a:t>
            </a:r>
            <a:endParaRPr lang="en-US" sz="900" dirty="0"/>
          </a:p>
        </p:txBody>
      </p:sp>
      <p:sp>
        <p:nvSpPr>
          <p:cNvPr id="13" name="Shape 11"/>
          <p:cNvSpPr/>
          <p:nvPr/>
        </p:nvSpPr>
        <p:spPr>
          <a:xfrm>
            <a:off x="1091408" y="2535773"/>
            <a:ext cx="7924292" cy="670942"/>
          </a:xfrm>
          <a:prstGeom prst="rect">
            <a:avLst/>
          </a:prstGeom>
          <a:solidFill>
            <a:srgbClr val="FEF2F2"/>
          </a:solidFill>
          <a:ln w="889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4" name="Shape 12"/>
          <p:cNvSpPr/>
          <p:nvPr/>
        </p:nvSpPr>
        <p:spPr>
          <a:xfrm>
            <a:off x="1091408" y="2535773"/>
            <a:ext cx="60294" cy="670942"/>
          </a:xfrm>
          <a:prstGeom prst="rect">
            <a:avLst/>
          </a:prstGeom>
          <a:solidFill>
            <a:srgbClr val="DC2626"/>
          </a:solidFill>
          <a:ln w="12700">
            <a:solidFill>
              <a:srgbClr val="DC2626"/>
            </a:solidFill>
            <a:prstDash val="solid"/>
          </a:ln>
        </p:spPr>
        <p:txBody>
          <a:bodyPr/>
          <a:lstStyle/>
          <a:p>
            <a:endParaRPr lang="en-AU"/>
          </a:p>
        </p:txBody>
      </p:sp>
      <p:sp>
        <p:nvSpPr>
          <p:cNvPr id="15" name="Text 13"/>
          <p:cNvSpPr/>
          <p:nvPr/>
        </p:nvSpPr>
        <p:spPr>
          <a:xfrm>
            <a:off x="1246856" y="2540602"/>
            <a:ext cx="7622824" cy="218056"/>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(c) Credential &amp; Secret Handling</a:t>
            </a:r>
            <a:endParaRPr lang="en-US" sz="1050" dirty="0"/>
          </a:p>
        </p:txBody>
      </p:sp>
      <p:sp>
        <p:nvSpPr>
          <p:cNvPr id="16" name="Text 14"/>
          <p:cNvSpPr/>
          <p:nvPr/>
        </p:nvSpPr>
        <p:spPr>
          <a:xfrm>
            <a:off x="1246856" y="2784346"/>
            <a:ext cx="7622824" cy="385792"/>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Credentials historically stored in plaintext config formats:</a:t>
            </a:r>
            <a:r>
              <a:rPr lang="en-US" sz="900" dirty="0">
                <a:solidFill>
                  <a:srgbClr val="64748B"/>
                </a:solidFill>
                <a:latin typeface="Calibri" pitchFamily="34" charset="0"/>
                <a:ea typeface="Calibri" pitchFamily="34" charset="-122"/>
                <a:cs typeface="Calibri" pitchFamily="34" charset="-120"/>
              </a:rPr>
              <a:t> API keys and tokens exposed through logs and runtime error traces. Inconsistent masking across gateway, runtime, and skill execution layers, creating broader exposure surface than Hermes.</a:t>
            </a:r>
            <a:endParaRPr lang="en-US" sz="900" dirty="0"/>
          </a:p>
        </p:txBody>
      </p:sp>
      <p:sp>
        <p:nvSpPr>
          <p:cNvPr id="17" name="Shape 15"/>
          <p:cNvSpPr/>
          <p:nvPr/>
        </p:nvSpPr>
        <p:spPr>
          <a:xfrm>
            <a:off x="1091408" y="3331301"/>
            <a:ext cx="7924292" cy="670942"/>
          </a:xfrm>
          <a:prstGeom prst="rect">
            <a:avLst/>
          </a:prstGeom>
          <a:solidFill>
            <a:srgbClr val="FFFFFF"/>
          </a:solidFill>
          <a:ln w="889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18" name="Shape 16"/>
          <p:cNvSpPr/>
          <p:nvPr/>
        </p:nvSpPr>
        <p:spPr>
          <a:xfrm>
            <a:off x="1091408" y="3331301"/>
            <a:ext cx="60294" cy="670942"/>
          </a:xfrm>
          <a:prstGeom prst="rect">
            <a:avLst/>
          </a:prstGeom>
          <a:solidFill>
            <a:srgbClr val="DC2626"/>
          </a:solidFill>
          <a:ln w="12700">
            <a:solidFill>
              <a:srgbClr val="DC2626"/>
            </a:solidFill>
            <a:prstDash val="solid"/>
          </a:ln>
        </p:spPr>
        <p:txBody>
          <a:bodyPr/>
          <a:lstStyle/>
          <a:p>
            <a:endParaRPr lang="en-AU"/>
          </a:p>
        </p:txBody>
      </p:sp>
      <p:sp>
        <p:nvSpPr>
          <p:cNvPr id="19" name="Text 17"/>
          <p:cNvSpPr/>
          <p:nvPr/>
        </p:nvSpPr>
        <p:spPr>
          <a:xfrm>
            <a:off x="1246856" y="3336130"/>
            <a:ext cx="7622824" cy="218056"/>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(d) ClawHub Supply Chain</a:t>
            </a:r>
            <a:endParaRPr lang="en-US" sz="1050" dirty="0"/>
          </a:p>
        </p:txBody>
      </p:sp>
      <p:sp>
        <p:nvSpPr>
          <p:cNvPr id="20" name="Text 18"/>
          <p:cNvSpPr/>
          <p:nvPr/>
        </p:nvSpPr>
        <p:spPr>
          <a:xfrm>
            <a:off x="1246856" y="3579874"/>
            <a:ext cx="7622824" cy="385792"/>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Open publishing model with historically low verification thresholds: </a:t>
            </a:r>
            <a:r>
              <a:rPr lang="en-US" sz="900" dirty="0">
                <a:solidFill>
                  <a:srgbClr val="64748B"/>
                </a:solidFill>
                <a:latin typeface="Calibri" pitchFamily="34" charset="0"/>
                <a:ea typeface="Calibri" pitchFamily="34" charset="-122"/>
                <a:cs typeface="Calibri" pitchFamily="34" charset="-120"/>
              </a:rPr>
              <a:t>Skills execute with broad runtime privileges similar to native tools. Marketplace growth exceeds manual review capacity, with more than 1,400 confirmed  malicious skills and 20% of the ecosystem flagged as unsafe.</a:t>
            </a:r>
            <a:endParaRPr lang="en-US" sz="900" dirty="0"/>
          </a:p>
        </p:txBody>
      </p:sp>
      <p:sp>
        <p:nvSpPr>
          <p:cNvPr id="21" name="Shape 19"/>
          <p:cNvSpPr/>
          <p:nvPr/>
        </p:nvSpPr>
        <p:spPr>
          <a:xfrm>
            <a:off x="1091408" y="4126829"/>
            <a:ext cx="7924292" cy="670942"/>
          </a:xfrm>
          <a:prstGeom prst="rect">
            <a:avLst/>
          </a:prstGeom>
          <a:solidFill>
            <a:srgbClr val="FEF2F2"/>
          </a:solidFill>
          <a:ln w="8890">
            <a:solidFill>
              <a:srgbClr val="FCA5A5"/>
            </a:solidFill>
            <a:prstDash val="solid"/>
          </a:ln>
          <a:effectLst>
            <a:outerShdw blurRad="101600" dist="38100" dir="8100000" algn="bl" rotWithShape="0">
              <a:srgbClr val="000000">
                <a:alpha val="10000"/>
              </a:srgbClr>
            </a:outerShdw>
          </a:effectLst>
        </p:spPr>
        <p:txBody>
          <a:bodyPr/>
          <a:lstStyle/>
          <a:p>
            <a:endParaRPr lang="en-AU"/>
          </a:p>
        </p:txBody>
      </p:sp>
      <p:sp>
        <p:nvSpPr>
          <p:cNvPr id="22" name="Shape 20"/>
          <p:cNvSpPr/>
          <p:nvPr/>
        </p:nvSpPr>
        <p:spPr>
          <a:xfrm>
            <a:off x="1091408" y="4126829"/>
            <a:ext cx="60294" cy="670942"/>
          </a:xfrm>
          <a:prstGeom prst="rect">
            <a:avLst/>
          </a:prstGeom>
          <a:solidFill>
            <a:srgbClr val="DC2626"/>
          </a:solidFill>
          <a:ln w="12700">
            <a:solidFill>
              <a:srgbClr val="DC2626"/>
            </a:solidFill>
            <a:prstDash val="solid"/>
          </a:ln>
        </p:spPr>
        <p:txBody>
          <a:bodyPr/>
          <a:lstStyle/>
          <a:p>
            <a:endParaRPr lang="en-AU"/>
          </a:p>
        </p:txBody>
      </p:sp>
      <p:sp>
        <p:nvSpPr>
          <p:cNvPr id="23" name="Text 21"/>
          <p:cNvSpPr/>
          <p:nvPr/>
        </p:nvSpPr>
        <p:spPr>
          <a:xfrm>
            <a:off x="1246856" y="4131658"/>
            <a:ext cx="7622824" cy="218056"/>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(e) Network &amp; Gateway Exposure</a:t>
            </a:r>
            <a:endParaRPr lang="en-US" sz="1050" dirty="0"/>
          </a:p>
        </p:txBody>
      </p:sp>
      <p:sp>
        <p:nvSpPr>
          <p:cNvPr id="24" name="Text 22"/>
          <p:cNvSpPr/>
          <p:nvPr/>
        </p:nvSpPr>
        <p:spPr>
          <a:xfrm>
            <a:off x="1246856" y="4375402"/>
            <a:ext cx="7622824" cy="38579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Gateway endpoints may be </a:t>
            </a:r>
            <a:r>
              <a:rPr lang="en-US" sz="900" b="1" dirty="0">
                <a:solidFill>
                  <a:srgbClr val="64748B"/>
                </a:solidFill>
                <a:latin typeface="Calibri" pitchFamily="34" charset="0"/>
                <a:ea typeface="Calibri" pitchFamily="34" charset="-122"/>
                <a:cs typeface="Calibri" pitchFamily="34" charset="-120"/>
              </a:rPr>
              <a:t>exposed</a:t>
            </a:r>
            <a:r>
              <a:rPr lang="en-US" sz="900" dirty="0">
                <a:solidFill>
                  <a:srgbClr val="64748B"/>
                </a:solidFill>
                <a:latin typeface="Calibri" pitchFamily="34" charset="0"/>
                <a:ea typeface="Calibri" pitchFamily="34" charset="-122"/>
                <a:cs typeface="Calibri" pitchFamily="34" charset="-120"/>
              </a:rPr>
              <a:t> without strict origin validation. Authentication enforcement varies by deployment configuration. Default setups may route through cloud-connected endpoints. Misconfiguration is a dominant failure mode observed in large-scale deployments.</a:t>
            </a:r>
            <a:endParaRPr lang="en-US" sz="900" dirty="0"/>
          </a:p>
        </p:txBody>
      </p:sp>
      <p:sp>
        <p:nvSpPr>
          <p:cNvPr id="25" name="Shape 23"/>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26" name="Text 2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Security Posture: Side-by-Side</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Structural vs configuration-dependent security — a fundamental architectural difference</a:t>
            </a:r>
            <a:endParaRPr lang="en-US" sz="1300" dirty="0"/>
          </a:p>
        </p:txBody>
      </p:sp>
      <p:sp>
        <p:nvSpPr>
          <p:cNvPr id="5" name="Shape 3"/>
          <p:cNvSpPr/>
          <p:nvPr/>
        </p:nvSpPr>
        <p:spPr>
          <a:xfrm>
            <a:off x="3200400" y="1051560"/>
            <a:ext cx="2743200" cy="347472"/>
          </a:xfrm>
          <a:prstGeom prst="rect">
            <a:avLst/>
          </a:prstGeom>
          <a:solidFill>
            <a:srgbClr val="1E2761"/>
          </a:solidFill>
          <a:ln w="12700">
            <a:solidFill>
              <a:srgbClr val="1E2761"/>
            </a:solidFill>
            <a:prstDash val="solid"/>
          </a:ln>
        </p:spPr>
        <p:txBody>
          <a:bodyPr/>
          <a:lstStyle/>
          <a:p>
            <a:endParaRPr lang="en-AU"/>
          </a:p>
        </p:txBody>
      </p:sp>
      <p:sp>
        <p:nvSpPr>
          <p:cNvPr id="6" name="Text 4"/>
          <p:cNvSpPr/>
          <p:nvPr/>
        </p:nvSpPr>
        <p:spPr>
          <a:xfrm>
            <a:off x="3200400" y="1051560"/>
            <a:ext cx="274320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Hermes Agent</a:t>
            </a:r>
            <a:endParaRPr lang="en-US" sz="1100" dirty="0"/>
          </a:p>
        </p:txBody>
      </p:sp>
      <p:sp>
        <p:nvSpPr>
          <p:cNvPr id="7" name="Shape 5"/>
          <p:cNvSpPr/>
          <p:nvPr/>
        </p:nvSpPr>
        <p:spPr>
          <a:xfrm>
            <a:off x="6035040" y="1051560"/>
            <a:ext cx="2743200" cy="347472"/>
          </a:xfrm>
          <a:prstGeom prst="rect">
            <a:avLst/>
          </a:prstGeom>
          <a:solidFill>
            <a:srgbClr val="FEF2F2"/>
          </a:solidFill>
          <a:ln w="12700">
            <a:solidFill>
              <a:srgbClr val="FCA5A5"/>
            </a:solidFill>
            <a:prstDash val="solid"/>
          </a:ln>
        </p:spPr>
        <p:txBody>
          <a:bodyPr/>
          <a:lstStyle/>
          <a:p>
            <a:endParaRPr lang="en-AU"/>
          </a:p>
        </p:txBody>
      </p:sp>
      <p:sp>
        <p:nvSpPr>
          <p:cNvPr id="8" name="Text 6"/>
          <p:cNvSpPr/>
          <p:nvPr/>
        </p:nvSpPr>
        <p:spPr>
          <a:xfrm>
            <a:off x="6035040" y="1051560"/>
            <a:ext cx="2743200" cy="347472"/>
          </a:xfrm>
          <a:prstGeom prst="rect">
            <a:avLst/>
          </a:prstGeom>
          <a:noFill/>
          <a:ln/>
        </p:spPr>
        <p:txBody>
          <a:bodyPr wrap="square"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OpenClaw</a:t>
            </a:r>
            <a:endParaRPr lang="en-US" sz="1100" dirty="0"/>
          </a:p>
        </p:txBody>
      </p:sp>
      <p:sp>
        <p:nvSpPr>
          <p:cNvPr id="9" name="Shape 7"/>
          <p:cNvSpPr/>
          <p:nvPr/>
        </p:nvSpPr>
        <p:spPr>
          <a:xfrm>
            <a:off x="365760" y="1463040"/>
            <a:ext cx="8412480" cy="393192"/>
          </a:xfrm>
          <a:prstGeom prst="rect">
            <a:avLst/>
          </a:prstGeom>
          <a:solidFill>
            <a:srgbClr val="F8FAFF"/>
          </a:solidFill>
          <a:ln w="6350">
            <a:solidFill>
              <a:srgbClr val="CADCFC">
                <a:alpha val="40000"/>
              </a:srgbClr>
            </a:solidFill>
            <a:prstDash val="solid"/>
          </a:ln>
        </p:spPr>
        <p:txBody>
          <a:bodyPr/>
          <a:lstStyle/>
          <a:p>
            <a:endParaRPr lang="en-AU"/>
          </a:p>
        </p:txBody>
      </p:sp>
      <p:sp>
        <p:nvSpPr>
          <p:cNvPr id="10" name="Text 8"/>
          <p:cNvSpPr/>
          <p:nvPr/>
        </p:nvSpPr>
        <p:spPr>
          <a:xfrm>
            <a:off x="457200" y="1490472"/>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Default Posture</a:t>
            </a:r>
            <a:endParaRPr lang="en-US" sz="950" dirty="0"/>
          </a:p>
        </p:txBody>
      </p:sp>
      <p:sp>
        <p:nvSpPr>
          <p:cNvPr id="11" name="Shape 9"/>
          <p:cNvSpPr/>
          <p:nvPr/>
        </p:nvSpPr>
        <p:spPr>
          <a:xfrm>
            <a:off x="3200400" y="1517904"/>
            <a:ext cx="164592" cy="164592"/>
          </a:xfrm>
          <a:prstGeom prst="rect">
            <a:avLst/>
          </a:prstGeom>
          <a:solidFill>
            <a:srgbClr val="16A34A"/>
          </a:solidFill>
          <a:ln w="12700">
            <a:solidFill>
              <a:srgbClr val="16A34A"/>
            </a:solidFill>
            <a:prstDash val="solid"/>
          </a:ln>
        </p:spPr>
        <p:txBody>
          <a:bodyPr/>
          <a:lstStyle/>
          <a:p>
            <a:endParaRPr lang="en-AU"/>
          </a:p>
        </p:txBody>
      </p:sp>
      <p:sp>
        <p:nvSpPr>
          <p:cNvPr id="12" name="Text 10"/>
          <p:cNvSpPr/>
          <p:nvPr/>
        </p:nvSpPr>
        <p:spPr>
          <a:xfrm>
            <a:off x="3429000" y="1490472"/>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Secure-by-default</a:t>
            </a:r>
            <a:r>
              <a:rPr lang="en-US" sz="900" dirty="0">
                <a:solidFill>
                  <a:srgbClr val="64748B"/>
                </a:solidFill>
                <a:latin typeface="Calibri" pitchFamily="34" charset="0"/>
                <a:ea typeface="Calibri" pitchFamily="34" charset="-122"/>
                <a:cs typeface="Calibri" pitchFamily="34" charset="-120"/>
              </a:rPr>
              <a:t> using fail-closed protections</a:t>
            </a:r>
            <a:endParaRPr lang="en-US" sz="900" dirty="0"/>
          </a:p>
        </p:txBody>
      </p:sp>
      <p:sp>
        <p:nvSpPr>
          <p:cNvPr id="13" name="Shape 11"/>
          <p:cNvSpPr/>
          <p:nvPr/>
        </p:nvSpPr>
        <p:spPr>
          <a:xfrm>
            <a:off x="6035040" y="1517904"/>
            <a:ext cx="164592" cy="164592"/>
          </a:xfrm>
          <a:prstGeom prst="rect">
            <a:avLst/>
          </a:prstGeom>
          <a:solidFill>
            <a:srgbClr val="DC2626"/>
          </a:solidFill>
          <a:ln w="12700">
            <a:solidFill>
              <a:srgbClr val="DC2626"/>
            </a:solidFill>
            <a:prstDash val="solid"/>
          </a:ln>
        </p:spPr>
        <p:txBody>
          <a:bodyPr/>
          <a:lstStyle/>
          <a:p>
            <a:endParaRPr lang="en-AU"/>
          </a:p>
        </p:txBody>
      </p:sp>
      <p:sp>
        <p:nvSpPr>
          <p:cNvPr id="14" name="Text 12"/>
          <p:cNvSpPr/>
          <p:nvPr/>
        </p:nvSpPr>
        <p:spPr>
          <a:xfrm>
            <a:off x="6263640" y="1490472"/>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Variable</a:t>
            </a:r>
            <a:r>
              <a:rPr lang="en-US" sz="900" dirty="0">
                <a:solidFill>
                  <a:srgbClr val="64748B"/>
                </a:solidFill>
                <a:latin typeface="Calibri" pitchFamily="34" charset="0"/>
                <a:ea typeface="Calibri" pitchFamily="34" charset="-122"/>
                <a:cs typeface="Calibri" pitchFamily="34" charset="-120"/>
              </a:rPr>
              <a:t> as it requires manual hardening for safe deployment</a:t>
            </a:r>
            <a:endParaRPr lang="en-US" sz="900" dirty="0"/>
          </a:p>
        </p:txBody>
      </p:sp>
      <p:sp>
        <p:nvSpPr>
          <p:cNvPr id="15" name="Shape 13"/>
          <p:cNvSpPr/>
          <p:nvPr/>
        </p:nvSpPr>
        <p:spPr>
          <a:xfrm>
            <a:off x="365760" y="1883664"/>
            <a:ext cx="8412480" cy="393192"/>
          </a:xfrm>
          <a:prstGeom prst="rect">
            <a:avLst/>
          </a:prstGeom>
          <a:solidFill>
            <a:srgbClr val="FFFFFF"/>
          </a:solidFill>
          <a:ln w="6350">
            <a:solidFill>
              <a:srgbClr val="CADCFC">
                <a:alpha val="40000"/>
              </a:srgbClr>
            </a:solidFill>
            <a:prstDash val="solid"/>
          </a:ln>
        </p:spPr>
        <p:txBody>
          <a:bodyPr/>
          <a:lstStyle/>
          <a:p>
            <a:endParaRPr lang="en-AU"/>
          </a:p>
        </p:txBody>
      </p:sp>
      <p:sp>
        <p:nvSpPr>
          <p:cNvPr id="16" name="Text 14"/>
          <p:cNvSpPr/>
          <p:nvPr/>
        </p:nvSpPr>
        <p:spPr>
          <a:xfrm>
            <a:off x="457200" y="1911096"/>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Isolation Model</a:t>
            </a:r>
            <a:endParaRPr lang="en-US" sz="950" dirty="0"/>
          </a:p>
        </p:txBody>
      </p:sp>
      <p:sp>
        <p:nvSpPr>
          <p:cNvPr id="17" name="Shape 15"/>
          <p:cNvSpPr/>
          <p:nvPr/>
        </p:nvSpPr>
        <p:spPr>
          <a:xfrm>
            <a:off x="3200400" y="1938528"/>
            <a:ext cx="164592" cy="164592"/>
          </a:xfrm>
          <a:prstGeom prst="rect">
            <a:avLst/>
          </a:prstGeom>
          <a:solidFill>
            <a:srgbClr val="16A34A"/>
          </a:solidFill>
          <a:ln w="12700">
            <a:solidFill>
              <a:srgbClr val="16A34A"/>
            </a:solidFill>
            <a:prstDash val="solid"/>
          </a:ln>
        </p:spPr>
        <p:txBody>
          <a:bodyPr/>
          <a:lstStyle/>
          <a:p>
            <a:endParaRPr lang="en-AU"/>
          </a:p>
        </p:txBody>
      </p:sp>
      <p:sp>
        <p:nvSpPr>
          <p:cNvPr id="18" name="Text 16"/>
          <p:cNvSpPr/>
          <p:nvPr/>
        </p:nvSpPr>
        <p:spPr>
          <a:xfrm>
            <a:off x="3429000" y="1911096"/>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Per-user isolation </a:t>
            </a:r>
            <a:r>
              <a:rPr lang="en-US" sz="900" dirty="0">
                <a:solidFill>
                  <a:srgbClr val="64748B"/>
                </a:solidFill>
                <a:latin typeface="Calibri" pitchFamily="34" charset="0"/>
                <a:ea typeface="Calibri" pitchFamily="34" charset="-122"/>
                <a:cs typeface="Calibri" pitchFamily="34" charset="-120"/>
              </a:rPr>
              <a:t>enforced</a:t>
            </a:r>
            <a:r>
              <a:rPr lang="en-US" sz="900" b="1" dirty="0">
                <a:solidFill>
                  <a:srgbClr val="64748B"/>
                </a:solidFill>
                <a:latin typeface="Calibri" pitchFamily="34" charset="0"/>
                <a:ea typeface="Calibri" pitchFamily="34" charset="-122"/>
                <a:cs typeface="Calibri" pitchFamily="34" charset="-120"/>
              </a:rPr>
              <a:t> </a:t>
            </a:r>
            <a:r>
              <a:rPr lang="en-US" sz="900" dirty="0">
                <a:solidFill>
                  <a:srgbClr val="64748B"/>
                </a:solidFill>
                <a:latin typeface="Calibri" pitchFamily="34" charset="0"/>
                <a:ea typeface="Calibri" pitchFamily="34" charset="-122"/>
                <a:cs typeface="Calibri" pitchFamily="34" charset="-120"/>
              </a:rPr>
              <a:t>at system architecture level</a:t>
            </a:r>
            <a:endParaRPr lang="en-US" sz="900" dirty="0"/>
          </a:p>
        </p:txBody>
      </p:sp>
      <p:sp>
        <p:nvSpPr>
          <p:cNvPr id="19" name="Shape 17"/>
          <p:cNvSpPr/>
          <p:nvPr/>
        </p:nvSpPr>
        <p:spPr>
          <a:xfrm>
            <a:off x="6035040" y="1938528"/>
            <a:ext cx="164592" cy="164592"/>
          </a:xfrm>
          <a:prstGeom prst="rect">
            <a:avLst/>
          </a:prstGeom>
          <a:solidFill>
            <a:srgbClr val="DC2626"/>
          </a:solidFill>
          <a:ln w="12700">
            <a:solidFill>
              <a:srgbClr val="DC2626"/>
            </a:solidFill>
            <a:prstDash val="solid"/>
          </a:ln>
        </p:spPr>
        <p:txBody>
          <a:bodyPr/>
          <a:lstStyle/>
          <a:p>
            <a:endParaRPr lang="en-AU"/>
          </a:p>
        </p:txBody>
      </p:sp>
      <p:sp>
        <p:nvSpPr>
          <p:cNvPr id="20" name="Text 18"/>
          <p:cNvSpPr/>
          <p:nvPr/>
        </p:nvSpPr>
        <p:spPr>
          <a:xfrm>
            <a:off x="6263640" y="1911096"/>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Shared session by default:</a:t>
            </a:r>
            <a:r>
              <a:rPr lang="en-US" sz="900" dirty="0">
                <a:solidFill>
                  <a:srgbClr val="64748B"/>
                </a:solidFill>
                <a:latin typeface="Calibri" pitchFamily="34" charset="0"/>
                <a:ea typeface="Calibri" pitchFamily="34" charset="-122"/>
                <a:cs typeface="Calibri" pitchFamily="34" charset="-120"/>
              </a:rPr>
              <a:t> isolation is opt-in via config</a:t>
            </a:r>
            <a:endParaRPr lang="en-US" sz="900" dirty="0"/>
          </a:p>
        </p:txBody>
      </p:sp>
      <p:sp>
        <p:nvSpPr>
          <p:cNvPr id="21" name="Shape 19"/>
          <p:cNvSpPr/>
          <p:nvPr/>
        </p:nvSpPr>
        <p:spPr>
          <a:xfrm>
            <a:off x="365760" y="2304288"/>
            <a:ext cx="8412480" cy="393192"/>
          </a:xfrm>
          <a:prstGeom prst="rect">
            <a:avLst/>
          </a:prstGeom>
          <a:solidFill>
            <a:srgbClr val="F8FAFF"/>
          </a:solidFill>
          <a:ln w="6350">
            <a:solidFill>
              <a:srgbClr val="CADCFC">
                <a:alpha val="40000"/>
              </a:srgbClr>
            </a:solidFill>
            <a:prstDash val="solid"/>
          </a:ln>
        </p:spPr>
        <p:txBody>
          <a:bodyPr/>
          <a:lstStyle/>
          <a:p>
            <a:endParaRPr lang="en-AU"/>
          </a:p>
        </p:txBody>
      </p:sp>
      <p:sp>
        <p:nvSpPr>
          <p:cNvPr id="22" name="Text 20"/>
          <p:cNvSpPr/>
          <p:nvPr/>
        </p:nvSpPr>
        <p:spPr>
          <a:xfrm>
            <a:off x="457200" y="2331720"/>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Credential Security</a:t>
            </a:r>
            <a:endParaRPr lang="en-US" sz="950" dirty="0"/>
          </a:p>
        </p:txBody>
      </p:sp>
      <p:sp>
        <p:nvSpPr>
          <p:cNvPr id="23" name="Shape 21"/>
          <p:cNvSpPr/>
          <p:nvPr/>
        </p:nvSpPr>
        <p:spPr>
          <a:xfrm>
            <a:off x="3200400" y="2359152"/>
            <a:ext cx="164592" cy="164592"/>
          </a:xfrm>
          <a:prstGeom prst="rect">
            <a:avLst/>
          </a:prstGeom>
          <a:solidFill>
            <a:srgbClr val="16A34A"/>
          </a:solidFill>
          <a:ln w="12700">
            <a:solidFill>
              <a:srgbClr val="16A34A"/>
            </a:solidFill>
            <a:prstDash val="solid"/>
          </a:ln>
        </p:spPr>
        <p:txBody>
          <a:bodyPr/>
          <a:lstStyle/>
          <a:p>
            <a:endParaRPr lang="en-AU"/>
          </a:p>
        </p:txBody>
      </p:sp>
      <p:sp>
        <p:nvSpPr>
          <p:cNvPr id="24" name="Text 22"/>
          <p:cNvSpPr/>
          <p:nvPr/>
        </p:nvSpPr>
        <p:spPr>
          <a:xfrm>
            <a:off x="3429000" y="2331720"/>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Strict filtering, read-only secrets, sanitised log output</a:t>
            </a:r>
            <a:endParaRPr lang="en-US" sz="900" dirty="0"/>
          </a:p>
        </p:txBody>
      </p:sp>
      <p:sp>
        <p:nvSpPr>
          <p:cNvPr id="25" name="Shape 23"/>
          <p:cNvSpPr/>
          <p:nvPr/>
        </p:nvSpPr>
        <p:spPr>
          <a:xfrm>
            <a:off x="6035040" y="2359152"/>
            <a:ext cx="164592" cy="164592"/>
          </a:xfrm>
          <a:prstGeom prst="rect">
            <a:avLst/>
          </a:prstGeom>
          <a:solidFill>
            <a:srgbClr val="DC2626"/>
          </a:solidFill>
          <a:ln w="12700">
            <a:solidFill>
              <a:srgbClr val="DC2626"/>
            </a:solidFill>
            <a:prstDash val="solid"/>
          </a:ln>
        </p:spPr>
        <p:txBody>
          <a:bodyPr/>
          <a:lstStyle/>
          <a:p>
            <a:endParaRPr lang="en-AU"/>
          </a:p>
        </p:txBody>
      </p:sp>
      <p:sp>
        <p:nvSpPr>
          <p:cNvPr id="26" name="Text 24"/>
          <p:cNvSpPr/>
          <p:nvPr/>
        </p:nvSpPr>
        <p:spPr>
          <a:xfrm>
            <a:off x="6263640" y="2331720"/>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Inconsistent across gateway, runtime, and skill layers</a:t>
            </a:r>
            <a:endParaRPr lang="en-US" sz="900" dirty="0"/>
          </a:p>
        </p:txBody>
      </p:sp>
      <p:sp>
        <p:nvSpPr>
          <p:cNvPr id="27" name="Shape 25"/>
          <p:cNvSpPr/>
          <p:nvPr/>
        </p:nvSpPr>
        <p:spPr>
          <a:xfrm>
            <a:off x="365760" y="2724912"/>
            <a:ext cx="8412480" cy="393192"/>
          </a:xfrm>
          <a:prstGeom prst="rect">
            <a:avLst/>
          </a:prstGeom>
          <a:solidFill>
            <a:srgbClr val="FFFFFF"/>
          </a:solidFill>
          <a:ln w="6350">
            <a:solidFill>
              <a:srgbClr val="CADCFC">
                <a:alpha val="40000"/>
              </a:srgbClr>
            </a:solidFill>
            <a:prstDash val="solid"/>
          </a:ln>
        </p:spPr>
        <p:txBody>
          <a:bodyPr/>
          <a:lstStyle/>
          <a:p>
            <a:endParaRPr lang="en-AU"/>
          </a:p>
        </p:txBody>
      </p:sp>
      <p:sp>
        <p:nvSpPr>
          <p:cNvPr id="28" name="Text 26"/>
          <p:cNvSpPr/>
          <p:nvPr/>
        </p:nvSpPr>
        <p:spPr>
          <a:xfrm>
            <a:off x="457200" y="2752344"/>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Prompt Injection</a:t>
            </a:r>
            <a:endParaRPr lang="en-US" sz="950" dirty="0"/>
          </a:p>
        </p:txBody>
      </p:sp>
      <p:sp>
        <p:nvSpPr>
          <p:cNvPr id="29" name="Shape 27"/>
          <p:cNvSpPr/>
          <p:nvPr/>
        </p:nvSpPr>
        <p:spPr>
          <a:xfrm>
            <a:off x="3200400" y="2779776"/>
            <a:ext cx="164592" cy="164592"/>
          </a:xfrm>
          <a:prstGeom prst="rect">
            <a:avLst/>
          </a:prstGeom>
          <a:solidFill>
            <a:srgbClr val="16A34A"/>
          </a:solidFill>
          <a:ln w="12700">
            <a:solidFill>
              <a:srgbClr val="16A34A"/>
            </a:solidFill>
            <a:prstDash val="solid"/>
          </a:ln>
        </p:spPr>
        <p:txBody>
          <a:bodyPr/>
          <a:lstStyle/>
          <a:p>
            <a:endParaRPr lang="en-AU"/>
          </a:p>
        </p:txBody>
      </p:sp>
      <p:sp>
        <p:nvSpPr>
          <p:cNvPr id="30" name="Text 28"/>
          <p:cNvSpPr/>
          <p:nvPr/>
        </p:nvSpPr>
        <p:spPr>
          <a:xfrm>
            <a:off x="3429000" y="2752344"/>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Pre-ingestion scanning and Tirith semantic execution guard</a:t>
            </a:r>
            <a:endParaRPr lang="en-US" sz="900" dirty="0"/>
          </a:p>
        </p:txBody>
      </p:sp>
      <p:sp>
        <p:nvSpPr>
          <p:cNvPr id="31" name="Shape 29"/>
          <p:cNvSpPr/>
          <p:nvPr/>
        </p:nvSpPr>
        <p:spPr>
          <a:xfrm>
            <a:off x="6035040" y="2779776"/>
            <a:ext cx="164592" cy="164592"/>
          </a:xfrm>
          <a:prstGeom prst="rect">
            <a:avLst/>
          </a:prstGeom>
          <a:solidFill>
            <a:srgbClr val="DC2626"/>
          </a:solidFill>
          <a:ln w="12700">
            <a:solidFill>
              <a:srgbClr val="DC2626"/>
            </a:solidFill>
            <a:prstDash val="solid"/>
          </a:ln>
        </p:spPr>
        <p:txBody>
          <a:bodyPr/>
          <a:lstStyle/>
          <a:p>
            <a:endParaRPr lang="en-AU"/>
          </a:p>
        </p:txBody>
      </p:sp>
      <p:sp>
        <p:nvSpPr>
          <p:cNvPr id="32" name="Text 30"/>
          <p:cNvSpPr/>
          <p:nvPr/>
        </p:nvSpPr>
        <p:spPr>
          <a:xfrm>
            <a:off x="6263640" y="2752344"/>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Partial mitigation as it relies on runtime filtering</a:t>
            </a:r>
            <a:endParaRPr lang="en-US" sz="900" dirty="0"/>
          </a:p>
        </p:txBody>
      </p:sp>
      <p:sp>
        <p:nvSpPr>
          <p:cNvPr id="33" name="Shape 31"/>
          <p:cNvSpPr/>
          <p:nvPr/>
        </p:nvSpPr>
        <p:spPr>
          <a:xfrm>
            <a:off x="365760" y="3145536"/>
            <a:ext cx="8412480" cy="393192"/>
          </a:xfrm>
          <a:prstGeom prst="rect">
            <a:avLst/>
          </a:prstGeom>
          <a:solidFill>
            <a:srgbClr val="F8FAFF"/>
          </a:solidFill>
          <a:ln w="6350">
            <a:solidFill>
              <a:srgbClr val="CADCFC">
                <a:alpha val="40000"/>
              </a:srgbClr>
            </a:solidFill>
            <a:prstDash val="solid"/>
          </a:ln>
        </p:spPr>
        <p:txBody>
          <a:bodyPr/>
          <a:lstStyle/>
          <a:p>
            <a:endParaRPr lang="en-AU"/>
          </a:p>
        </p:txBody>
      </p:sp>
      <p:sp>
        <p:nvSpPr>
          <p:cNvPr id="34" name="Text 32"/>
          <p:cNvSpPr/>
          <p:nvPr/>
        </p:nvSpPr>
        <p:spPr>
          <a:xfrm>
            <a:off x="457200" y="3172968"/>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SSRF Protection</a:t>
            </a:r>
            <a:endParaRPr lang="en-US" sz="950" dirty="0"/>
          </a:p>
        </p:txBody>
      </p:sp>
      <p:sp>
        <p:nvSpPr>
          <p:cNvPr id="35" name="Shape 33"/>
          <p:cNvSpPr/>
          <p:nvPr/>
        </p:nvSpPr>
        <p:spPr>
          <a:xfrm>
            <a:off x="3200400" y="3200400"/>
            <a:ext cx="164592" cy="164592"/>
          </a:xfrm>
          <a:prstGeom prst="rect">
            <a:avLst/>
          </a:prstGeom>
          <a:solidFill>
            <a:srgbClr val="16A34A"/>
          </a:solidFill>
          <a:ln w="12700">
            <a:solidFill>
              <a:srgbClr val="16A34A"/>
            </a:solidFill>
            <a:prstDash val="solid"/>
          </a:ln>
        </p:spPr>
        <p:txBody>
          <a:bodyPr/>
          <a:lstStyle/>
          <a:p>
            <a:endParaRPr lang="en-AU"/>
          </a:p>
        </p:txBody>
      </p:sp>
      <p:sp>
        <p:nvSpPr>
          <p:cNvPr id="36" name="Text 34"/>
          <p:cNvSpPr/>
          <p:nvPr/>
        </p:nvSpPr>
        <p:spPr>
          <a:xfrm>
            <a:off x="3429000" y="3172968"/>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Fail-closed</a:t>
            </a:r>
            <a:r>
              <a:rPr lang="en-US" sz="900" dirty="0">
                <a:solidFill>
                  <a:srgbClr val="64748B"/>
                </a:solidFill>
                <a:latin typeface="Calibri" pitchFamily="34" charset="0"/>
                <a:ea typeface="Calibri" pitchFamily="34" charset="-122"/>
                <a:cs typeface="Calibri" pitchFamily="34" charset="-120"/>
              </a:rPr>
              <a:t>, blocks all private ranges and metadata services</a:t>
            </a:r>
            <a:endParaRPr lang="en-US" sz="900" dirty="0"/>
          </a:p>
        </p:txBody>
      </p:sp>
      <p:sp>
        <p:nvSpPr>
          <p:cNvPr id="37" name="Shape 35"/>
          <p:cNvSpPr/>
          <p:nvPr/>
        </p:nvSpPr>
        <p:spPr>
          <a:xfrm>
            <a:off x="6035040" y="3200400"/>
            <a:ext cx="164592" cy="164592"/>
          </a:xfrm>
          <a:prstGeom prst="rect">
            <a:avLst/>
          </a:prstGeom>
          <a:solidFill>
            <a:srgbClr val="DC2626"/>
          </a:solidFill>
          <a:ln w="12700">
            <a:solidFill>
              <a:srgbClr val="DC2626"/>
            </a:solidFill>
            <a:prstDash val="solid"/>
          </a:ln>
        </p:spPr>
        <p:txBody>
          <a:bodyPr/>
          <a:lstStyle/>
          <a:p>
            <a:endParaRPr lang="en-AU"/>
          </a:p>
        </p:txBody>
      </p:sp>
      <p:sp>
        <p:nvSpPr>
          <p:cNvPr id="38" name="Text 36"/>
          <p:cNvSpPr/>
          <p:nvPr/>
        </p:nvSpPr>
        <p:spPr>
          <a:xfrm>
            <a:off x="6263640" y="3172968"/>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No uniform enforcement</a:t>
            </a:r>
            <a:r>
              <a:rPr lang="en-US" sz="900" dirty="0">
                <a:solidFill>
                  <a:srgbClr val="64748B"/>
                </a:solidFill>
                <a:latin typeface="Calibri" pitchFamily="34" charset="0"/>
                <a:ea typeface="Calibri" pitchFamily="34" charset="-122"/>
                <a:cs typeface="Calibri" pitchFamily="34" charset="-120"/>
              </a:rPr>
              <a:t>: deployment configuration dependent</a:t>
            </a:r>
            <a:endParaRPr lang="en-US" sz="900" dirty="0"/>
          </a:p>
        </p:txBody>
      </p:sp>
      <p:sp>
        <p:nvSpPr>
          <p:cNvPr id="39" name="Shape 37"/>
          <p:cNvSpPr/>
          <p:nvPr/>
        </p:nvSpPr>
        <p:spPr>
          <a:xfrm>
            <a:off x="365760" y="3566160"/>
            <a:ext cx="8412480" cy="393192"/>
          </a:xfrm>
          <a:prstGeom prst="rect">
            <a:avLst/>
          </a:prstGeom>
          <a:solidFill>
            <a:srgbClr val="FFFFFF"/>
          </a:solidFill>
          <a:ln w="6350">
            <a:solidFill>
              <a:srgbClr val="CADCFC">
                <a:alpha val="40000"/>
              </a:srgbClr>
            </a:solidFill>
            <a:prstDash val="solid"/>
          </a:ln>
        </p:spPr>
        <p:txBody>
          <a:bodyPr/>
          <a:lstStyle/>
          <a:p>
            <a:endParaRPr lang="en-AU"/>
          </a:p>
        </p:txBody>
      </p:sp>
      <p:sp>
        <p:nvSpPr>
          <p:cNvPr id="40" name="Text 38"/>
          <p:cNvSpPr/>
          <p:nvPr/>
        </p:nvSpPr>
        <p:spPr>
          <a:xfrm>
            <a:off x="457200" y="3593592"/>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Supply Chain</a:t>
            </a:r>
            <a:endParaRPr lang="en-US" sz="950" dirty="0"/>
          </a:p>
        </p:txBody>
      </p:sp>
      <p:sp>
        <p:nvSpPr>
          <p:cNvPr id="41" name="Shape 39"/>
          <p:cNvSpPr/>
          <p:nvPr/>
        </p:nvSpPr>
        <p:spPr>
          <a:xfrm>
            <a:off x="3200400" y="3621024"/>
            <a:ext cx="164592" cy="164592"/>
          </a:xfrm>
          <a:prstGeom prst="rect">
            <a:avLst/>
          </a:prstGeom>
          <a:solidFill>
            <a:srgbClr val="16A34A"/>
          </a:solidFill>
          <a:ln w="12700">
            <a:solidFill>
              <a:srgbClr val="16A34A"/>
            </a:solidFill>
            <a:prstDash val="solid"/>
          </a:ln>
        </p:spPr>
        <p:txBody>
          <a:bodyPr/>
          <a:lstStyle/>
          <a:p>
            <a:endParaRPr lang="en-AU"/>
          </a:p>
        </p:txBody>
      </p:sp>
      <p:sp>
        <p:nvSpPr>
          <p:cNvPr id="42" name="Text 40"/>
          <p:cNvSpPr/>
          <p:nvPr/>
        </p:nvSpPr>
        <p:spPr>
          <a:xfrm>
            <a:off x="3429000" y="3593592"/>
            <a:ext cx="2468880" cy="338328"/>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Curated</a:t>
            </a:r>
            <a:r>
              <a:rPr lang="en-US" sz="900" dirty="0">
                <a:solidFill>
                  <a:srgbClr val="64748B"/>
                </a:solidFill>
                <a:latin typeface="Calibri" pitchFamily="34" charset="0"/>
                <a:ea typeface="Calibri" pitchFamily="34" charset="-122"/>
                <a:cs typeface="Calibri" pitchFamily="34" charset="-120"/>
              </a:rPr>
              <a:t> </a:t>
            </a:r>
            <a:r>
              <a:rPr lang="en-US" sz="900" b="1" dirty="0">
                <a:solidFill>
                  <a:srgbClr val="64748B"/>
                </a:solidFill>
                <a:latin typeface="Calibri" pitchFamily="34" charset="0"/>
                <a:ea typeface="Calibri" pitchFamily="34" charset="-122"/>
                <a:cs typeface="Calibri" pitchFamily="34" charset="-120"/>
              </a:rPr>
              <a:t>registry</a:t>
            </a:r>
            <a:r>
              <a:rPr lang="en-US" sz="900" dirty="0">
                <a:solidFill>
                  <a:srgbClr val="64748B"/>
                </a:solidFill>
                <a:latin typeface="Calibri" pitchFamily="34" charset="0"/>
                <a:ea typeface="Calibri" pitchFamily="34" charset="-122"/>
                <a:cs typeface="Calibri" pitchFamily="34" charset="-120"/>
              </a:rPr>
              <a:t> with security scanning, currently 0 malicious skills</a:t>
            </a:r>
            <a:endParaRPr lang="en-US" sz="900" dirty="0"/>
          </a:p>
        </p:txBody>
      </p:sp>
      <p:sp>
        <p:nvSpPr>
          <p:cNvPr id="43" name="Shape 41"/>
          <p:cNvSpPr/>
          <p:nvPr/>
        </p:nvSpPr>
        <p:spPr>
          <a:xfrm>
            <a:off x="6035040" y="3621024"/>
            <a:ext cx="164592" cy="164592"/>
          </a:xfrm>
          <a:prstGeom prst="rect">
            <a:avLst/>
          </a:prstGeom>
          <a:solidFill>
            <a:srgbClr val="DC2626"/>
          </a:solidFill>
          <a:ln w="12700">
            <a:solidFill>
              <a:srgbClr val="DC2626"/>
            </a:solidFill>
            <a:prstDash val="solid"/>
          </a:ln>
        </p:spPr>
        <p:txBody>
          <a:bodyPr/>
          <a:lstStyle/>
          <a:p>
            <a:endParaRPr lang="en-AU"/>
          </a:p>
        </p:txBody>
      </p:sp>
      <p:sp>
        <p:nvSpPr>
          <p:cNvPr id="44" name="Text 42"/>
          <p:cNvSpPr/>
          <p:nvPr/>
        </p:nvSpPr>
        <p:spPr>
          <a:xfrm>
            <a:off x="6263640" y="3593592"/>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ClawHub: </a:t>
            </a:r>
            <a:r>
              <a:rPr lang="en-US" sz="900" b="1" dirty="0">
                <a:solidFill>
                  <a:srgbClr val="64748B"/>
                </a:solidFill>
                <a:latin typeface="Calibri" pitchFamily="34" charset="0"/>
                <a:ea typeface="Calibri" pitchFamily="34" charset="-122"/>
                <a:cs typeface="Calibri" pitchFamily="34" charset="-120"/>
              </a:rPr>
              <a:t>1,400+ </a:t>
            </a:r>
            <a:r>
              <a:rPr lang="en-US" sz="900" dirty="0">
                <a:solidFill>
                  <a:srgbClr val="64748B"/>
                </a:solidFill>
                <a:latin typeface="Calibri" pitchFamily="34" charset="0"/>
                <a:ea typeface="Calibri" pitchFamily="34" charset="-122"/>
                <a:cs typeface="Calibri" pitchFamily="34" charset="-120"/>
              </a:rPr>
              <a:t>malicious skills flagged (20% of ecosystem)</a:t>
            </a:r>
            <a:endParaRPr lang="en-US" sz="900" dirty="0"/>
          </a:p>
        </p:txBody>
      </p:sp>
      <p:sp>
        <p:nvSpPr>
          <p:cNvPr id="45" name="Shape 43"/>
          <p:cNvSpPr/>
          <p:nvPr/>
        </p:nvSpPr>
        <p:spPr>
          <a:xfrm>
            <a:off x="365760" y="3986784"/>
            <a:ext cx="8412480" cy="393192"/>
          </a:xfrm>
          <a:prstGeom prst="rect">
            <a:avLst/>
          </a:prstGeom>
          <a:solidFill>
            <a:srgbClr val="F8FAFF"/>
          </a:solidFill>
          <a:ln w="6350">
            <a:solidFill>
              <a:srgbClr val="CADCFC">
                <a:alpha val="40000"/>
              </a:srgbClr>
            </a:solidFill>
            <a:prstDash val="solid"/>
          </a:ln>
        </p:spPr>
        <p:txBody>
          <a:bodyPr/>
          <a:lstStyle/>
          <a:p>
            <a:endParaRPr lang="en-AU"/>
          </a:p>
        </p:txBody>
      </p:sp>
      <p:sp>
        <p:nvSpPr>
          <p:cNvPr id="46" name="Text 44"/>
          <p:cNvSpPr/>
          <p:nvPr/>
        </p:nvSpPr>
        <p:spPr>
          <a:xfrm>
            <a:off x="457200" y="4014216"/>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CVE Profile</a:t>
            </a:r>
            <a:endParaRPr lang="en-US" sz="950" dirty="0"/>
          </a:p>
        </p:txBody>
      </p:sp>
      <p:sp>
        <p:nvSpPr>
          <p:cNvPr id="47" name="Shape 45"/>
          <p:cNvSpPr/>
          <p:nvPr/>
        </p:nvSpPr>
        <p:spPr>
          <a:xfrm>
            <a:off x="3200400" y="4041648"/>
            <a:ext cx="164592" cy="164592"/>
          </a:xfrm>
          <a:prstGeom prst="rect">
            <a:avLst/>
          </a:prstGeom>
          <a:solidFill>
            <a:srgbClr val="16A34A"/>
          </a:solidFill>
          <a:ln w="12700">
            <a:solidFill>
              <a:srgbClr val="16A34A"/>
            </a:solidFill>
            <a:prstDash val="solid"/>
          </a:ln>
        </p:spPr>
        <p:txBody>
          <a:bodyPr/>
          <a:lstStyle/>
          <a:p>
            <a:endParaRPr lang="en-AU"/>
          </a:p>
        </p:txBody>
      </p:sp>
      <p:sp>
        <p:nvSpPr>
          <p:cNvPr id="48" name="Text 46"/>
          <p:cNvSpPr/>
          <p:nvPr/>
        </p:nvSpPr>
        <p:spPr>
          <a:xfrm>
            <a:off x="3429000" y="4014216"/>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CVE that is contained and mitigated</a:t>
            </a:r>
            <a:endParaRPr lang="en-US" sz="900" dirty="0"/>
          </a:p>
        </p:txBody>
      </p:sp>
      <p:sp>
        <p:nvSpPr>
          <p:cNvPr id="49" name="Shape 47"/>
          <p:cNvSpPr/>
          <p:nvPr/>
        </p:nvSpPr>
        <p:spPr>
          <a:xfrm>
            <a:off x="6035040" y="4041648"/>
            <a:ext cx="164592" cy="164592"/>
          </a:xfrm>
          <a:prstGeom prst="rect">
            <a:avLst/>
          </a:prstGeom>
          <a:solidFill>
            <a:srgbClr val="DC2626"/>
          </a:solidFill>
          <a:ln w="12700">
            <a:solidFill>
              <a:srgbClr val="DC2626"/>
            </a:solidFill>
            <a:prstDash val="solid"/>
          </a:ln>
        </p:spPr>
        <p:txBody>
          <a:bodyPr/>
          <a:lstStyle/>
          <a:p>
            <a:endParaRPr lang="en-AU"/>
          </a:p>
        </p:txBody>
      </p:sp>
      <p:sp>
        <p:nvSpPr>
          <p:cNvPr id="50" name="Text 48"/>
          <p:cNvSpPr/>
          <p:nvPr/>
        </p:nvSpPr>
        <p:spPr>
          <a:xfrm>
            <a:off x="6263640" y="4014216"/>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138+ CVEs across privilege escalation, RCE, sandbox escape</a:t>
            </a:r>
            <a:endParaRPr lang="en-US" sz="900" dirty="0"/>
          </a:p>
        </p:txBody>
      </p:sp>
      <p:sp>
        <p:nvSpPr>
          <p:cNvPr id="51" name="Shape 49"/>
          <p:cNvSpPr/>
          <p:nvPr/>
        </p:nvSpPr>
        <p:spPr>
          <a:xfrm>
            <a:off x="365760" y="4407408"/>
            <a:ext cx="8412480" cy="393192"/>
          </a:xfrm>
          <a:prstGeom prst="rect">
            <a:avLst/>
          </a:prstGeom>
          <a:solidFill>
            <a:srgbClr val="FFFFFF"/>
          </a:solidFill>
          <a:ln w="6350">
            <a:solidFill>
              <a:srgbClr val="CADCFC">
                <a:alpha val="40000"/>
              </a:srgbClr>
            </a:solidFill>
            <a:prstDash val="solid"/>
          </a:ln>
        </p:spPr>
        <p:txBody>
          <a:bodyPr/>
          <a:lstStyle/>
          <a:p>
            <a:endParaRPr lang="en-AU"/>
          </a:p>
        </p:txBody>
      </p:sp>
      <p:sp>
        <p:nvSpPr>
          <p:cNvPr id="52" name="Text 50"/>
          <p:cNvSpPr/>
          <p:nvPr/>
        </p:nvSpPr>
        <p:spPr>
          <a:xfrm>
            <a:off x="457200" y="4434840"/>
            <a:ext cx="2651760" cy="33832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Govt. Advisories</a:t>
            </a:r>
            <a:endParaRPr lang="en-US" sz="950" dirty="0"/>
          </a:p>
        </p:txBody>
      </p:sp>
      <p:sp>
        <p:nvSpPr>
          <p:cNvPr id="53" name="Shape 51"/>
          <p:cNvSpPr/>
          <p:nvPr/>
        </p:nvSpPr>
        <p:spPr>
          <a:xfrm>
            <a:off x="3200400" y="4462272"/>
            <a:ext cx="164592" cy="164592"/>
          </a:xfrm>
          <a:prstGeom prst="rect">
            <a:avLst/>
          </a:prstGeom>
          <a:solidFill>
            <a:srgbClr val="16A34A"/>
          </a:solidFill>
          <a:ln w="12700">
            <a:solidFill>
              <a:srgbClr val="16A34A"/>
            </a:solidFill>
            <a:prstDash val="solid"/>
          </a:ln>
        </p:spPr>
        <p:txBody>
          <a:bodyPr/>
          <a:lstStyle/>
          <a:p>
            <a:endParaRPr lang="en-AU"/>
          </a:p>
        </p:txBody>
      </p:sp>
      <p:sp>
        <p:nvSpPr>
          <p:cNvPr id="54" name="Text 52"/>
          <p:cNvSpPr/>
          <p:nvPr/>
        </p:nvSpPr>
        <p:spPr>
          <a:xfrm>
            <a:off x="3429000" y="4434840"/>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None issued</a:t>
            </a:r>
            <a:endParaRPr lang="en-US" sz="900" dirty="0"/>
          </a:p>
        </p:txBody>
      </p:sp>
      <p:sp>
        <p:nvSpPr>
          <p:cNvPr id="55" name="Shape 53"/>
          <p:cNvSpPr/>
          <p:nvPr/>
        </p:nvSpPr>
        <p:spPr>
          <a:xfrm>
            <a:off x="6035040" y="4462272"/>
            <a:ext cx="164592" cy="164592"/>
          </a:xfrm>
          <a:prstGeom prst="rect">
            <a:avLst/>
          </a:prstGeom>
          <a:solidFill>
            <a:srgbClr val="DC2626"/>
          </a:solidFill>
          <a:ln w="12700">
            <a:solidFill>
              <a:srgbClr val="DC2626"/>
            </a:solidFill>
            <a:prstDash val="solid"/>
          </a:ln>
        </p:spPr>
        <p:txBody>
          <a:bodyPr/>
          <a:lstStyle/>
          <a:p>
            <a:endParaRPr lang="en-AU"/>
          </a:p>
        </p:txBody>
      </p:sp>
      <p:sp>
        <p:nvSpPr>
          <p:cNvPr id="56" name="Text 54"/>
          <p:cNvSpPr/>
          <p:nvPr/>
        </p:nvSpPr>
        <p:spPr>
          <a:xfrm>
            <a:off x="6263640" y="4434840"/>
            <a:ext cx="2468880" cy="3383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CISA, MIIT, Belgium CCB; enterprise restrictions enforced</a:t>
            </a:r>
            <a:endParaRPr lang="en-US" sz="900" dirty="0"/>
          </a:p>
        </p:txBody>
      </p:sp>
      <p:sp>
        <p:nvSpPr>
          <p:cNvPr id="57" name="Shape 55"/>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58" name="Text 56"/>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1123863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686800" cy="502920"/>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Deployment, Isolation &amp; OpenWebUI Integration</a:t>
            </a:r>
            <a:endParaRPr lang="en-US" sz="26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How each platform fits DSO's infrastructure and multi-analyst requirements</a:t>
            </a:r>
            <a:endParaRPr lang="en-US" sz="1300" dirty="0"/>
          </a:p>
        </p:txBody>
      </p:sp>
      <p:sp>
        <p:nvSpPr>
          <p:cNvPr id="5" name="Text 3"/>
          <p:cNvSpPr/>
          <p:nvPr/>
        </p:nvSpPr>
        <p:spPr>
          <a:xfrm>
            <a:off x="457200" y="1051560"/>
            <a:ext cx="82296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Air-Gapped Deployment</a:t>
            </a:r>
            <a:endParaRPr lang="en-US" sz="1200" dirty="0"/>
          </a:p>
        </p:txBody>
      </p:sp>
      <p:sp>
        <p:nvSpPr>
          <p:cNvPr id="6" name="Shape 4"/>
          <p:cNvSpPr/>
          <p:nvPr/>
        </p:nvSpPr>
        <p:spPr>
          <a:xfrm>
            <a:off x="457200" y="1389888"/>
            <a:ext cx="4160520" cy="914400"/>
          </a:xfrm>
          <a:prstGeom prst="rect">
            <a:avLst/>
          </a:prstGeom>
          <a:solidFill>
            <a:srgbClr val="1E2761"/>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7" name="Text 5"/>
          <p:cNvSpPr/>
          <p:nvPr/>
        </p:nvSpPr>
        <p:spPr>
          <a:xfrm>
            <a:off x="594360" y="1435608"/>
            <a:ext cx="2286000" cy="256032"/>
          </a:xfrm>
          <a:prstGeom prst="rect">
            <a:avLst/>
          </a:prstGeom>
          <a:noFill/>
          <a:ln/>
        </p:spPr>
        <p:txBody>
          <a:bodyPr wrap="square"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Hermes Agent</a:t>
            </a:r>
            <a:endParaRPr lang="en-US" sz="1100" dirty="0"/>
          </a:p>
        </p:txBody>
      </p:sp>
      <p:sp>
        <p:nvSpPr>
          <p:cNvPr id="8" name="Shape 6"/>
          <p:cNvSpPr/>
          <p:nvPr/>
        </p:nvSpPr>
        <p:spPr>
          <a:xfrm>
            <a:off x="3291840" y="1435608"/>
            <a:ext cx="1188720" cy="219456"/>
          </a:xfrm>
          <a:prstGeom prst="rect">
            <a:avLst/>
          </a:prstGeom>
          <a:solidFill>
            <a:srgbClr val="16A34A">
              <a:alpha val="20000"/>
            </a:srgbClr>
          </a:solidFill>
          <a:ln w="8890">
            <a:solidFill>
              <a:srgbClr val="16A34A"/>
            </a:solidFill>
            <a:prstDash val="solid"/>
          </a:ln>
        </p:spPr>
        <p:txBody>
          <a:bodyPr/>
          <a:lstStyle/>
          <a:p>
            <a:endParaRPr lang="en-AU"/>
          </a:p>
        </p:txBody>
      </p:sp>
      <p:sp>
        <p:nvSpPr>
          <p:cNvPr id="9" name="Text 7"/>
          <p:cNvSpPr/>
          <p:nvPr/>
        </p:nvSpPr>
        <p:spPr>
          <a:xfrm>
            <a:off x="3291840" y="1435608"/>
            <a:ext cx="1188720" cy="219456"/>
          </a:xfrm>
          <a:prstGeom prst="rect">
            <a:avLst/>
          </a:prstGeom>
          <a:noFill/>
          <a:ln/>
        </p:spPr>
        <p:txBody>
          <a:bodyPr wrap="square" lIns="0" tIns="0" rIns="0" bIns="0" rtlCol="0" anchor="ctr"/>
          <a:lstStyle/>
          <a:p>
            <a:pPr marL="0" indent="0" algn="ctr">
              <a:buNone/>
            </a:pPr>
            <a:r>
              <a:rPr lang="en-US" sz="750" b="1" dirty="0">
                <a:solidFill>
                  <a:srgbClr val="16A34A"/>
                </a:solidFill>
                <a:latin typeface="Calibri" pitchFamily="34" charset="0"/>
                <a:ea typeface="Calibri" pitchFamily="34" charset="-122"/>
                <a:cs typeface="Calibri" pitchFamily="34" charset="-120"/>
              </a:rPr>
              <a:t>✔ Required by DSO</a:t>
            </a:r>
            <a:endParaRPr lang="en-US" sz="750" dirty="0"/>
          </a:p>
        </p:txBody>
      </p:sp>
      <p:sp>
        <p:nvSpPr>
          <p:cNvPr id="10" name="Text 8"/>
          <p:cNvSpPr/>
          <p:nvPr/>
        </p:nvSpPr>
        <p:spPr>
          <a:xfrm>
            <a:off x="594360" y="1691640"/>
            <a:ext cx="3931920" cy="566928"/>
          </a:xfrm>
          <a:prstGeom prst="rect">
            <a:avLst/>
          </a:prstGeom>
          <a:noFill/>
          <a:ln/>
        </p:spPr>
        <p:txBody>
          <a:bodyPr wrap="square" rtlCol="0" anchor="ctr"/>
          <a:lstStyle/>
          <a:p>
            <a:pPr marL="171450" indent="-171450">
              <a:buFont typeface="Arial" panose="020B0604020202020204" pitchFamily="34" charset="0"/>
              <a:buChar char="•"/>
            </a:pPr>
            <a:r>
              <a:rPr lang="en-US" sz="950" dirty="0">
                <a:solidFill>
                  <a:srgbClr val="FFFFFF"/>
                </a:solidFill>
                <a:latin typeface="Calibri" pitchFamily="34" charset="0"/>
                <a:ea typeface="Calibri" pitchFamily="34" charset="-122"/>
                <a:cs typeface="Calibri" pitchFamily="34" charset="-120"/>
              </a:rPr>
              <a:t>Fully documented and supported. </a:t>
            </a:r>
          </a:p>
          <a:p>
            <a:pPr marL="171450" indent="-171450">
              <a:buFont typeface="Arial" panose="020B0604020202020204" pitchFamily="34" charset="0"/>
              <a:buChar char="•"/>
            </a:pPr>
            <a:r>
              <a:rPr lang="en-US" sz="950" dirty="0">
                <a:solidFill>
                  <a:srgbClr val="FFFFFF"/>
                </a:solidFill>
                <a:latin typeface="Calibri" pitchFamily="34" charset="0"/>
                <a:ea typeface="Calibri" pitchFamily="34" charset="-122"/>
                <a:cs typeface="Calibri" pitchFamily="34" charset="-120"/>
              </a:rPr>
              <a:t>Runs entirely on local Ollama with GGUF-quantised models. </a:t>
            </a:r>
          </a:p>
          <a:p>
            <a:pPr marL="171450" indent="-171450">
              <a:buFont typeface="Arial" panose="020B0604020202020204" pitchFamily="34" charset="0"/>
              <a:buChar char="•"/>
            </a:pPr>
            <a:r>
              <a:rPr lang="en-US" sz="950" dirty="0">
                <a:solidFill>
                  <a:srgbClr val="FFFFFF"/>
                </a:solidFill>
                <a:latin typeface="Calibri" pitchFamily="34" charset="0"/>
                <a:ea typeface="Calibri" pitchFamily="34" charset="-122"/>
                <a:cs typeface="Calibri" pitchFamily="34" charset="-120"/>
              </a:rPr>
              <a:t>No telemetry or cloud dependency</a:t>
            </a:r>
          </a:p>
          <a:p>
            <a:pPr marL="171450" indent="-171450">
              <a:buFont typeface="Arial" panose="020B0604020202020204" pitchFamily="34" charset="0"/>
              <a:buChar char="•"/>
            </a:pPr>
            <a:r>
              <a:rPr lang="en-US" sz="950" dirty="0">
                <a:solidFill>
                  <a:srgbClr val="FFFFFF"/>
                </a:solidFill>
                <a:latin typeface="Calibri" pitchFamily="34" charset="0"/>
                <a:ea typeface="Calibri" pitchFamily="34" charset="-122"/>
                <a:cs typeface="Calibri" pitchFamily="34" charset="-120"/>
              </a:rPr>
              <a:t>Outbound traffic disabled at container level.</a:t>
            </a:r>
            <a:endParaRPr lang="en-US" sz="950" dirty="0"/>
          </a:p>
        </p:txBody>
      </p:sp>
      <p:sp>
        <p:nvSpPr>
          <p:cNvPr id="11" name="Shape 9"/>
          <p:cNvSpPr/>
          <p:nvPr/>
        </p:nvSpPr>
        <p:spPr>
          <a:xfrm>
            <a:off x="4846320" y="1389888"/>
            <a:ext cx="4160520" cy="914400"/>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2" name="Text 10"/>
          <p:cNvSpPr/>
          <p:nvPr/>
        </p:nvSpPr>
        <p:spPr>
          <a:xfrm>
            <a:off x="4983480" y="1435608"/>
            <a:ext cx="228600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OpenClaw</a:t>
            </a:r>
            <a:endParaRPr lang="en-US" sz="1100" dirty="0"/>
          </a:p>
        </p:txBody>
      </p:sp>
      <p:sp>
        <p:nvSpPr>
          <p:cNvPr id="13" name="Shape 11"/>
          <p:cNvSpPr/>
          <p:nvPr/>
        </p:nvSpPr>
        <p:spPr>
          <a:xfrm>
            <a:off x="7680960" y="1435608"/>
            <a:ext cx="1188720" cy="219456"/>
          </a:xfrm>
          <a:prstGeom prst="rect">
            <a:avLst/>
          </a:prstGeom>
          <a:solidFill>
            <a:srgbClr val="DC2626">
              <a:alpha val="20000"/>
            </a:srgbClr>
          </a:solidFill>
          <a:ln w="8890">
            <a:solidFill>
              <a:srgbClr val="DC2626"/>
            </a:solidFill>
            <a:prstDash val="solid"/>
          </a:ln>
        </p:spPr>
        <p:txBody>
          <a:bodyPr/>
          <a:lstStyle/>
          <a:p>
            <a:endParaRPr lang="en-AU"/>
          </a:p>
        </p:txBody>
      </p:sp>
      <p:sp>
        <p:nvSpPr>
          <p:cNvPr id="14" name="Text 12"/>
          <p:cNvSpPr/>
          <p:nvPr/>
        </p:nvSpPr>
        <p:spPr>
          <a:xfrm>
            <a:off x="7680960" y="1435608"/>
            <a:ext cx="1188720" cy="219456"/>
          </a:xfrm>
          <a:prstGeom prst="rect">
            <a:avLst/>
          </a:prstGeom>
          <a:noFill/>
          <a:ln/>
        </p:spPr>
        <p:txBody>
          <a:bodyPr wrap="square" lIns="0" tIns="0" rIns="0" bIns="0" rtlCol="0" anchor="ctr"/>
          <a:lstStyle/>
          <a:p>
            <a:pPr marL="0" indent="0" algn="ctr">
              <a:buNone/>
            </a:pPr>
            <a:r>
              <a:rPr lang="en-US" sz="750" b="1" dirty="0">
                <a:solidFill>
                  <a:srgbClr val="DC2626"/>
                </a:solidFill>
                <a:latin typeface="Calibri" pitchFamily="34" charset="0"/>
                <a:ea typeface="Calibri" pitchFamily="34" charset="-122"/>
                <a:cs typeface="Calibri" pitchFamily="34" charset="-120"/>
              </a:rPr>
              <a:t>✖ High Engineering Effort</a:t>
            </a:r>
            <a:endParaRPr lang="en-US" sz="750" dirty="0"/>
          </a:p>
        </p:txBody>
      </p:sp>
      <p:sp>
        <p:nvSpPr>
          <p:cNvPr id="15" name="Text 13"/>
          <p:cNvSpPr/>
          <p:nvPr/>
        </p:nvSpPr>
        <p:spPr>
          <a:xfrm>
            <a:off x="4983480" y="1691640"/>
            <a:ext cx="3931920" cy="566928"/>
          </a:xfrm>
          <a:prstGeom prst="rect">
            <a:avLst/>
          </a:prstGeom>
          <a:noFill/>
          <a:ln/>
        </p:spPr>
        <p:txBody>
          <a:bodyPr wrap="square" rtlCol="0" anchor="ctr"/>
          <a:lstStyle/>
          <a:p>
            <a:pPr marL="171450" indent="-171450">
              <a:buFont typeface="Arial" panose="020B0604020202020204" pitchFamily="34" charset="0"/>
              <a:buChar char="•"/>
            </a:pPr>
            <a:r>
              <a:rPr lang="en-US" sz="950" dirty="0">
                <a:solidFill>
                  <a:srgbClr val="64748B"/>
                </a:solidFill>
                <a:latin typeface="Calibri" pitchFamily="34" charset="0"/>
                <a:ea typeface="Calibri" pitchFamily="34" charset="-122"/>
                <a:cs typeface="Calibri" pitchFamily="34" charset="-120"/>
              </a:rPr>
              <a:t>Not natively supported. </a:t>
            </a:r>
          </a:p>
          <a:p>
            <a:pPr marL="171450" indent="-171450">
              <a:buFont typeface="Arial" panose="020B0604020202020204" pitchFamily="34" charset="0"/>
              <a:buChar char="•"/>
            </a:pPr>
            <a:r>
              <a:rPr lang="en-US" sz="950" dirty="0">
                <a:solidFill>
                  <a:srgbClr val="64748B"/>
                </a:solidFill>
                <a:latin typeface="Calibri" pitchFamily="34" charset="0"/>
                <a:ea typeface="Calibri" pitchFamily="34" charset="-122"/>
                <a:cs typeface="Calibri" pitchFamily="34" charset="-120"/>
              </a:rPr>
              <a:t>Achievable through manual removal of cloud LLM APIs, ClawHub dependencies, and gateway outbound services, but this is infrastructure-managed, not built-in.</a:t>
            </a:r>
            <a:endParaRPr lang="en-US" sz="950" dirty="0"/>
          </a:p>
        </p:txBody>
      </p:sp>
      <p:sp>
        <p:nvSpPr>
          <p:cNvPr id="16" name="Text 14"/>
          <p:cNvSpPr/>
          <p:nvPr/>
        </p:nvSpPr>
        <p:spPr>
          <a:xfrm>
            <a:off x="457200" y="2441448"/>
            <a:ext cx="82296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OpenWebUI Integration</a:t>
            </a:r>
            <a:endParaRPr lang="en-US" sz="1200" dirty="0"/>
          </a:p>
        </p:txBody>
      </p:sp>
      <p:sp>
        <p:nvSpPr>
          <p:cNvPr id="17" name="Shape 15"/>
          <p:cNvSpPr/>
          <p:nvPr/>
        </p:nvSpPr>
        <p:spPr>
          <a:xfrm>
            <a:off x="365760" y="2788920"/>
            <a:ext cx="8412480" cy="384048"/>
          </a:xfrm>
          <a:prstGeom prst="rect">
            <a:avLst/>
          </a:prstGeom>
          <a:solidFill>
            <a:srgbClr val="F8FAFF"/>
          </a:solidFill>
          <a:ln w="6350">
            <a:solidFill>
              <a:srgbClr val="CADCFC">
                <a:alpha val="40000"/>
              </a:srgbClr>
            </a:solidFill>
            <a:prstDash val="solid"/>
          </a:ln>
        </p:spPr>
        <p:txBody>
          <a:bodyPr/>
          <a:lstStyle/>
          <a:p>
            <a:endParaRPr lang="en-AU"/>
          </a:p>
        </p:txBody>
      </p:sp>
      <p:sp>
        <p:nvSpPr>
          <p:cNvPr id="18" name="Text 16"/>
          <p:cNvSpPr/>
          <p:nvPr/>
        </p:nvSpPr>
        <p:spPr>
          <a:xfrm>
            <a:off x="457200" y="2816352"/>
            <a:ext cx="2286000" cy="329184"/>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API Compatibility</a:t>
            </a:r>
            <a:endParaRPr lang="en-US" sz="950" dirty="0"/>
          </a:p>
        </p:txBody>
      </p:sp>
      <p:sp>
        <p:nvSpPr>
          <p:cNvPr id="19" name="Text 17"/>
          <p:cNvSpPr/>
          <p:nvPr/>
        </p:nvSpPr>
        <p:spPr>
          <a:xfrm>
            <a:off x="2834640" y="2816352"/>
            <a:ext cx="292608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Native OpenAI-compatible API server: plug-and-play, no middleware needed</a:t>
            </a:r>
            <a:endParaRPr lang="en-US" sz="900" dirty="0"/>
          </a:p>
        </p:txBody>
      </p:sp>
      <p:sp>
        <p:nvSpPr>
          <p:cNvPr id="20" name="Text 18"/>
          <p:cNvSpPr/>
          <p:nvPr/>
        </p:nvSpPr>
        <p:spPr>
          <a:xfrm>
            <a:off x="5852160" y="2816352"/>
            <a:ext cx="283464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Requires additional adapter or reverse-proxy configuration</a:t>
            </a:r>
            <a:endParaRPr lang="en-US" sz="900" dirty="0"/>
          </a:p>
        </p:txBody>
      </p:sp>
      <p:sp>
        <p:nvSpPr>
          <p:cNvPr id="21" name="Shape 19"/>
          <p:cNvSpPr/>
          <p:nvPr/>
        </p:nvSpPr>
        <p:spPr>
          <a:xfrm>
            <a:off x="365760" y="3200400"/>
            <a:ext cx="8412480" cy="384048"/>
          </a:xfrm>
          <a:prstGeom prst="rect">
            <a:avLst/>
          </a:prstGeom>
          <a:solidFill>
            <a:srgbClr val="FFFFFF"/>
          </a:solidFill>
          <a:ln w="6350">
            <a:solidFill>
              <a:srgbClr val="CADCFC">
                <a:alpha val="40000"/>
              </a:srgbClr>
            </a:solidFill>
            <a:prstDash val="solid"/>
          </a:ln>
        </p:spPr>
        <p:txBody>
          <a:bodyPr/>
          <a:lstStyle/>
          <a:p>
            <a:endParaRPr lang="en-AU"/>
          </a:p>
        </p:txBody>
      </p:sp>
      <p:sp>
        <p:nvSpPr>
          <p:cNvPr id="22" name="Text 20"/>
          <p:cNvSpPr/>
          <p:nvPr/>
        </p:nvSpPr>
        <p:spPr>
          <a:xfrm>
            <a:off x="457200" y="3227832"/>
            <a:ext cx="2286000" cy="329184"/>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Per-User Mapping</a:t>
            </a:r>
            <a:endParaRPr lang="en-US" sz="950" dirty="0"/>
          </a:p>
        </p:txBody>
      </p:sp>
      <p:sp>
        <p:nvSpPr>
          <p:cNvPr id="23" name="Text 21"/>
          <p:cNvSpPr/>
          <p:nvPr/>
        </p:nvSpPr>
        <p:spPr>
          <a:xfrm>
            <a:off x="2834640" y="3227832"/>
            <a:ext cx="292608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Admin assigns each OpenWebUI user to a dedicated isolated Hermes profile</a:t>
            </a:r>
            <a:endParaRPr lang="en-US" sz="900" dirty="0"/>
          </a:p>
        </p:txBody>
      </p:sp>
      <p:sp>
        <p:nvSpPr>
          <p:cNvPr id="24" name="Text 22"/>
          <p:cNvSpPr/>
          <p:nvPr/>
        </p:nvSpPr>
        <p:spPr>
          <a:xfrm>
            <a:off x="5852160" y="3227832"/>
            <a:ext cx="283464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No native per-user profile mapping; isolation is external</a:t>
            </a:r>
            <a:endParaRPr lang="en-US" sz="900" dirty="0"/>
          </a:p>
        </p:txBody>
      </p:sp>
      <p:sp>
        <p:nvSpPr>
          <p:cNvPr id="25" name="Shape 23"/>
          <p:cNvSpPr/>
          <p:nvPr/>
        </p:nvSpPr>
        <p:spPr>
          <a:xfrm>
            <a:off x="365760" y="3611880"/>
            <a:ext cx="8412480" cy="384048"/>
          </a:xfrm>
          <a:prstGeom prst="rect">
            <a:avLst/>
          </a:prstGeom>
          <a:solidFill>
            <a:srgbClr val="F8FAFF"/>
          </a:solidFill>
          <a:ln w="6350">
            <a:solidFill>
              <a:srgbClr val="CADCFC">
                <a:alpha val="40000"/>
              </a:srgbClr>
            </a:solidFill>
            <a:prstDash val="solid"/>
          </a:ln>
        </p:spPr>
        <p:txBody>
          <a:bodyPr/>
          <a:lstStyle/>
          <a:p>
            <a:endParaRPr lang="en-AU"/>
          </a:p>
        </p:txBody>
      </p:sp>
      <p:sp>
        <p:nvSpPr>
          <p:cNvPr id="26" name="Text 24"/>
          <p:cNvSpPr/>
          <p:nvPr/>
        </p:nvSpPr>
        <p:spPr>
          <a:xfrm>
            <a:off x="457200" y="3639312"/>
            <a:ext cx="2286000" cy="329184"/>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Session Isolation</a:t>
            </a:r>
            <a:endParaRPr lang="en-US" sz="950" dirty="0"/>
          </a:p>
        </p:txBody>
      </p:sp>
      <p:sp>
        <p:nvSpPr>
          <p:cNvPr id="27" name="Text 25"/>
          <p:cNvSpPr/>
          <p:nvPr/>
        </p:nvSpPr>
        <p:spPr>
          <a:xfrm>
            <a:off x="2834640" y="3639312"/>
            <a:ext cx="292608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Structurally enforced: </a:t>
            </a:r>
            <a:r>
              <a:rPr lang="en-US" sz="900" dirty="0" err="1">
                <a:solidFill>
                  <a:srgbClr val="64748B"/>
                </a:solidFill>
                <a:latin typeface="Calibri" pitchFamily="34" charset="0"/>
                <a:ea typeface="Calibri" pitchFamily="34" charset="-122"/>
                <a:cs typeface="Calibri" pitchFamily="34" charset="-120"/>
              </a:rPr>
              <a:t>analyst_a</a:t>
            </a:r>
            <a:r>
              <a:rPr lang="en-US" sz="900" dirty="0">
                <a:solidFill>
                  <a:srgbClr val="64748B"/>
                </a:solidFill>
                <a:latin typeface="Calibri" pitchFamily="34" charset="0"/>
                <a:ea typeface="Calibri" pitchFamily="34" charset="-122"/>
                <a:cs typeface="Calibri" pitchFamily="34" charset="-120"/>
              </a:rPr>
              <a:t> and analyst_b cannot share context</a:t>
            </a:r>
            <a:endParaRPr lang="en-US" sz="900" dirty="0"/>
          </a:p>
        </p:txBody>
      </p:sp>
      <p:sp>
        <p:nvSpPr>
          <p:cNvPr id="28" name="Text 26"/>
          <p:cNvSpPr/>
          <p:nvPr/>
        </p:nvSpPr>
        <p:spPr>
          <a:xfrm>
            <a:off x="5852160" y="3639312"/>
            <a:ext cx="283464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Dependent on correct Secure DM Mode configuration</a:t>
            </a:r>
            <a:endParaRPr lang="en-US" sz="900" dirty="0"/>
          </a:p>
        </p:txBody>
      </p:sp>
      <p:sp>
        <p:nvSpPr>
          <p:cNvPr id="29" name="Shape 27"/>
          <p:cNvSpPr/>
          <p:nvPr/>
        </p:nvSpPr>
        <p:spPr>
          <a:xfrm>
            <a:off x="365760" y="4023360"/>
            <a:ext cx="8412480" cy="384048"/>
          </a:xfrm>
          <a:prstGeom prst="rect">
            <a:avLst/>
          </a:prstGeom>
          <a:solidFill>
            <a:srgbClr val="FFFFFF"/>
          </a:solidFill>
          <a:ln w="6350">
            <a:solidFill>
              <a:srgbClr val="CADCFC">
                <a:alpha val="40000"/>
              </a:srgbClr>
            </a:solidFill>
            <a:prstDash val="solid"/>
          </a:ln>
        </p:spPr>
        <p:txBody>
          <a:bodyPr/>
          <a:lstStyle/>
          <a:p>
            <a:endParaRPr lang="en-AU"/>
          </a:p>
        </p:txBody>
      </p:sp>
      <p:sp>
        <p:nvSpPr>
          <p:cNvPr id="30" name="Text 28"/>
          <p:cNvSpPr/>
          <p:nvPr/>
        </p:nvSpPr>
        <p:spPr>
          <a:xfrm>
            <a:off x="457200" y="4050792"/>
            <a:ext cx="2286000" cy="329184"/>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Deployment Complexity</a:t>
            </a:r>
            <a:endParaRPr lang="en-US" sz="950" dirty="0"/>
          </a:p>
        </p:txBody>
      </p:sp>
      <p:sp>
        <p:nvSpPr>
          <p:cNvPr id="31" name="Text 29"/>
          <p:cNvSpPr/>
          <p:nvPr/>
        </p:nvSpPr>
        <p:spPr>
          <a:xfrm>
            <a:off x="2834640" y="4050792"/>
            <a:ext cx="292608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Official Docker Compose setup so relatively low operational overhead</a:t>
            </a:r>
            <a:endParaRPr lang="en-US" sz="900" dirty="0"/>
          </a:p>
        </p:txBody>
      </p:sp>
      <p:sp>
        <p:nvSpPr>
          <p:cNvPr id="32" name="Text 30"/>
          <p:cNvSpPr/>
          <p:nvPr/>
        </p:nvSpPr>
        <p:spPr>
          <a:xfrm>
            <a:off x="5852160" y="4050792"/>
            <a:ext cx="2834640" cy="32918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Custom networking and relay setup required so higher complexity</a:t>
            </a:r>
            <a:endParaRPr lang="en-US" sz="900" dirty="0"/>
          </a:p>
        </p:txBody>
      </p:sp>
      <p:sp>
        <p:nvSpPr>
          <p:cNvPr id="33" name="Shape 31"/>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4" name="Text 32"/>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3983467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Platform Recommendation</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Why Hermes Agent is the right platform for DSO's analytical environment</a:t>
            </a:r>
            <a:endParaRPr lang="en-US" sz="1300" dirty="0"/>
          </a:p>
        </p:txBody>
      </p:sp>
      <p:sp>
        <p:nvSpPr>
          <p:cNvPr id="5" name="Shape 3"/>
          <p:cNvSpPr/>
          <p:nvPr/>
        </p:nvSpPr>
        <p:spPr>
          <a:xfrm>
            <a:off x="365760" y="1051560"/>
            <a:ext cx="8412480" cy="685800"/>
          </a:xfrm>
          <a:prstGeom prst="rect">
            <a:avLst/>
          </a:prstGeom>
          <a:solidFill>
            <a:srgbClr val="1E2761"/>
          </a:solidFill>
          <a:ln w="12700">
            <a:solidFill>
              <a:srgbClr val="1E2761"/>
            </a:solidFill>
            <a:prstDash val="solid"/>
          </a:ln>
          <a:effectLst>
            <a:outerShdw blurRad="101600" dist="38100" dir="8100000" algn="bl" rotWithShape="0">
              <a:srgbClr val="000000">
                <a:alpha val="10000"/>
              </a:srgbClr>
            </a:outerShdw>
          </a:effectLst>
        </p:spPr>
        <p:txBody>
          <a:bodyPr/>
          <a:lstStyle/>
          <a:p>
            <a:endParaRPr lang="en-AU"/>
          </a:p>
        </p:txBody>
      </p:sp>
      <p:sp>
        <p:nvSpPr>
          <p:cNvPr id="6" name="Text 4"/>
          <p:cNvSpPr/>
          <p:nvPr/>
        </p:nvSpPr>
        <p:spPr>
          <a:xfrm>
            <a:off x="640080" y="1078992"/>
            <a:ext cx="5486400" cy="320040"/>
          </a:xfrm>
          <a:prstGeom prst="rect">
            <a:avLst/>
          </a:prstGeom>
          <a:noFill/>
          <a:ln/>
        </p:spPr>
        <p:txBody>
          <a:bodyPr wrap="square" rtlCol="0" anchor="ctr"/>
          <a:lstStyle/>
          <a:p>
            <a:pPr marL="0" indent="0">
              <a:buNone/>
            </a:pPr>
            <a:r>
              <a:rPr lang="en-US" sz="1600" b="1" dirty="0">
                <a:solidFill>
                  <a:srgbClr val="CADCFC"/>
                </a:solidFill>
                <a:latin typeface="Georgia" pitchFamily="34" charset="0"/>
                <a:ea typeface="Georgia" pitchFamily="34" charset="-122"/>
                <a:cs typeface="Georgia" pitchFamily="34" charset="-120"/>
              </a:rPr>
              <a:t>Selected Platform: Hermes Agent</a:t>
            </a:r>
            <a:endParaRPr lang="en-US" sz="1600" dirty="0"/>
          </a:p>
        </p:txBody>
      </p:sp>
      <p:sp>
        <p:nvSpPr>
          <p:cNvPr id="7" name="Text 5"/>
          <p:cNvSpPr/>
          <p:nvPr/>
        </p:nvSpPr>
        <p:spPr>
          <a:xfrm>
            <a:off x="640080" y="1371600"/>
            <a:ext cx="795528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Recommended for sandboxing, hardening, and OpenWebUI integration testing at DSO.</a:t>
            </a:r>
            <a:endParaRPr lang="en-US" sz="1100" dirty="0"/>
          </a:p>
        </p:txBody>
      </p:sp>
      <p:sp>
        <p:nvSpPr>
          <p:cNvPr id="8" name="Shape 6"/>
          <p:cNvSpPr/>
          <p:nvPr/>
        </p:nvSpPr>
        <p:spPr>
          <a:xfrm>
            <a:off x="365760" y="1874520"/>
            <a:ext cx="4160520" cy="89611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9" name="Shape 7"/>
          <p:cNvSpPr/>
          <p:nvPr/>
        </p:nvSpPr>
        <p:spPr>
          <a:xfrm>
            <a:off x="365760" y="1874520"/>
            <a:ext cx="310896" cy="896112"/>
          </a:xfrm>
          <a:prstGeom prst="rect">
            <a:avLst/>
          </a:prstGeom>
          <a:solidFill>
            <a:srgbClr val="1E2761"/>
          </a:solidFill>
          <a:ln w="12700">
            <a:solidFill>
              <a:srgbClr val="1E2761"/>
            </a:solidFill>
            <a:prstDash val="solid"/>
          </a:ln>
        </p:spPr>
        <p:txBody>
          <a:bodyPr/>
          <a:lstStyle/>
          <a:p>
            <a:endParaRPr lang="en-AU"/>
          </a:p>
        </p:txBody>
      </p:sp>
      <p:sp>
        <p:nvSpPr>
          <p:cNvPr id="10" name="Text 8"/>
          <p:cNvSpPr/>
          <p:nvPr/>
        </p:nvSpPr>
        <p:spPr>
          <a:xfrm>
            <a:off x="365760" y="1874520"/>
            <a:ext cx="310896" cy="896112"/>
          </a:xfrm>
          <a:prstGeom prst="rect">
            <a:avLst/>
          </a:prstGeom>
          <a:noFill/>
          <a:ln/>
        </p:spPr>
        <p:txBody>
          <a:bodyPr wrap="square" lIns="0" tIns="0" rIns="0" bIns="0" rtlCol="0" anchor="ctr"/>
          <a:lstStyle/>
          <a:p>
            <a:pPr marL="0" indent="0" algn="ctr">
              <a:buNone/>
            </a:pPr>
            <a:r>
              <a:rPr lang="en-US" sz="1200" b="1" dirty="0">
                <a:solidFill>
                  <a:srgbClr val="4F9CF9"/>
                </a:solidFill>
                <a:latin typeface="Georgia" pitchFamily="34" charset="0"/>
                <a:ea typeface="Georgia" pitchFamily="34" charset="-122"/>
                <a:cs typeface="Georgia" pitchFamily="34" charset="-120"/>
              </a:rPr>
              <a:t>1</a:t>
            </a:r>
            <a:endParaRPr lang="en-US" sz="1200" dirty="0"/>
          </a:p>
        </p:txBody>
      </p:sp>
      <p:sp>
        <p:nvSpPr>
          <p:cNvPr id="11" name="Text 9"/>
          <p:cNvSpPr/>
          <p:nvPr/>
        </p:nvSpPr>
        <p:spPr>
          <a:xfrm>
            <a:off x="749808" y="1920240"/>
            <a:ext cx="3657600" cy="219456"/>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CVE Profile</a:t>
            </a:r>
            <a:endParaRPr lang="en-US" sz="1050" dirty="0"/>
          </a:p>
        </p:txBody>
      </p:sp>
      <p:sp>
        <p:nvSpPr>
          <p:cNvPr id="12" name="Text 10"/>
          <p:cNvSpPr/>
          <p:nvPr/>
        </p:nvSpPr>
        <p:spPr>
          <a:xfrm>
            <a:off x="749808" y="2130552"/>
            <a:ext cx="3657600" cy="18288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1 CVE (Hermes) vs 138+ CVEs (OpenClaw)</a:t>
            </a:r>
            <a:endParaRPr lang="en-US" sz="900" dirty="0"/>
          </a:p>
        </p:txBody>
      </p:sp>
      <p:sp>
        <p:nvSpPr>
          <p:cNvPr id="13" name="Text 11"/>
          <p:cNvSpPr/>
          <p:nvPr/>
        </p:nvSpPr>
        <p:spPr>
          <a:xfrm>
            <a:off x="749808" y="2304288"/>
            <a:ext cx="3657600" cy="4297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The gap in vulnerability counts reflects a structural difference in security design philosophy, not just patch velocity.</a:t>
            </a:r>
            <a:endParaRPr lang="en-US" sz="900" dirty="0"/>
          </a:p>
        </p:txBody>
      </p:sp>
      <p:sp>
        <p:nvSpPr>
          <p:cNvPr id="14" name="Shape 12"/>
          <p:cNvSpPr/>
          <p:nvPr/>
        </p:nvSpPr>
        <p:spPr>
          <a:xfrm>
            <a:off x="4754880" y="1874520"/>
            <a:ext cx="4160520" cy="89611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5" name="Shape 13"/>
          <p:cNvSpPr/>
          <p:nvPr/>
        </p:nvSpPr>
        <p:spPr>
          <a:xfrm>
            <a:off x="4754880" y="1874520"/>
            <a:ext cx="310896" cy="896112"/>
          </a:xfrm>
          <a:prstGeom prst="rect">
            <a:avLst/>
          </a:prstGeom>
          <a:solidFill>
            <a:srgbClr val="1E2761"/>
          </a:solidFill>
          <a:ln w="12700">
            <a:solidFill>
              <a:srgbClr val="1E2761"/>
            </a:solidFill>
            <a:prstDash val="solid"/>
          </a:ln>
        </p:spPr>
        <p:txBody>
          <a:bodyPr/>
          <a:lstStyle/>
          <a:p>
            <a:endParaRPr lang="en-AU"/>
          </a:p>
        </p:txBody>
      </p:sp>
      <p:sp>
        <p:nvSpPr>
          <p:cNvPr id="16" name="Text 14"/>
          <p:cNvSpPr/>
          <p:nvPr/>
        </p:nvSpPr>
        <p:spPr>
          <a:xfrm>
            <a:off x="4754880" y="1874520"/>
            <a:ext cx="310896" cy="896112"/>
          </a:xfrm>
          <a:prstGeom prst="rect">
            <a:avLst/>
          </a:prstGeom>
          <a:noFill/>
          <a:ln/>
        </p:spPr>
        <p:txBody>
          <a:bodyPr wrap="square" lIns="0" tIns="0" rIns="0" bIns="0" rtlCol="0" anchor="ctr"/>
          <a:lstStyle/>
          <a:p>
            <a:pPr marL="0" indent="0" algn="ctr">
              <a:buNone/>
            </a:pPr>
            <a:r>
              <a:rPr lang="en-US" sz="1200" b="1" dirty="0">
                <a:solidFill>
                  <a:srgbClr val="4F9CF9"/>
                </a:solidFill>
                <a:latin typeface="Georgia" pitchFamily="34" charset="0"/>
                <a:ea typeface="Georgia" pitchFamily="34" charset="-122"/>
                <a:cs typeface="Georgia" pitchFamily="34" charset="-120"/>
              </a:rPr>
              <a:t>2</a:t>
            </a:r>
            <a:endParaRPr lang="en-US" sz="1200" dirty="0"/>
          </a:p>
        </p:txBody>
      </p:sp>
      <p:sp>
        <p:nvSpPr>
          <p:cNvPr id="17" name="Text 15"/>
          <p:cNvSpPr/>
          <p:nvPr/>
        </p:nvSpPr>
        <p:spPr>
          <a:xfrm>
            <a:off x="5138928" y="1920240"/>
            <a:ext cx="3657600" cy="219456"/>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Government Advisories</a:t>
            </a:r>
            <a:endParaRPr lang="en-US" sz="1050" dirty="0"/>
          </a:p>
        </p:txBody>
      </p:sp>
      <p:sp>
        <p:nvSpPr>
          <p:cNvPr id="18" name="Text 16"/>
          <p:cNvSpPr/>
          <p:nvPr/>
        </p:nvSpPr>
        <p:spPr>
          <a:xfrm>
            <a:off x="5138928" y="2130552"/>
            <a:ext cx="3657600" cy="18288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No advisories vs CISA, MIIT, Belgium CCB</a:t>
            </a:r>
            <a:endParaRPr lang="en-US" sz="900" dirty="0"/>
          </a:p>
        </p:txBody>
      </p:sp>
      <p:sp>
        <p:nvSpPr>
          <p:cNvPr id="19" name="Text 17"/>
          <p:cNvSpPr/>
          <p:nvPr/>
        </p:nvSpPr>
        <p:spPr>
          <a:xfrm>
            <a:off x="5138928" y="2304288"/>
            <a:ext cx="3657600" cy="4297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OpenClaw has been formally restricted or flagged by multiple national cybersecurity agencies while Hermes has received none.</a:t>
            </a:r>
            <a:endParaRPr lang="en-US" sz="900" dirty="0"/>
          </a:p>
        </p:txBody>
      </p:sp>
      <p:sp>
        <p:nvSpPr>
          <p:cNvPr id="20" name="Shape 18"/>
          <p:cNvSpPr/>
          <p:nvPr/>
        </p:nvSpPr>
        <p:spPr>
          <a:xfrm>
            <a:off x="365760" y="2862072"/>
            <a:ext cx="4160520" cy="89611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1" name="Shape 19"/>
          <p:cNvSpPr/>
          <p:nvPr/>
        </p:nvSpPr>
        <p:spPr>
          <a:xfrm>
            <a:off x="365760" y="2862072"/>
            <a:ext cx="310896" cy="896112"/>
          </a:xfrm>
          <a:prstGeom prst="rect">
            <a:avLst/>
          </a:prstGeom>
          <a:solidFill>
            <a:srgbClr val="1E2761"/>
          </a:solidFill>
          <a:ln w="12700">
            <a:solidFill>
              <a:srgbClr val="1E2761"/>
            </a:solidFill>
            <a:prstDash val="solid"/>
          </a:ln>
        </p:spPr>
        <p:txBody>
          <a:bodyPr/>
          <a:lstStyle/>
          <a:p>
            <a:endParaRPr lang="en-AU"/>
          </a:p>
        </p:txBody>
      </p:sp>
      <p:sp>
        <p:nvSpPr>
          <p:cNvPr id="22" name="Text 20"/>
          <p:cNvSpPr/>
          <p:nvPr/>
        </p:nvSpPr>
        <p:spPr>
          <a:xfrm>
            <a:off x="365760" y="2862072"/>
            <a:ext cx="310896" cy="896112"/>
          </a:xfrm>
          <a:prstGeom prst="rect">
            <a:avLst/>
          </a:prstGeom>
          <a:noFill/>
          <a:ln/>
        </p:spPr>
        <p:txBody>
          <a:bodyPr wrap="square" lIns="0" tIns="0" rIns="0" bIns="0" rtlCol="0" anchor="ctr"/>
          <a:lstStyle/>
          <a:p>
            <a:pPr marL="0" indent="0" algn="ctr">
              <a:buNone/>
            </a:pPr>
            <a:r>
              <a:rPr lang="en-US" sz="1200" b="1" dirty="0">
                <a:solidFill>
                  <a:srgbClr val="4F9CF9"/>
                </a:solidFill>
                <a:latin typeface="Georgia" pitchFamily="34" charset="0"/>
                <a:ea typeface="Georgia" pitchFamily="34" charset="-122"/>
                <a:cs typeface="Georgia" pitchFamily="34" charset="-120"/>
              </a:rPr>
              <a:t>3</a:t>
            </a:r>
            <a:endParaRPr lang="en-US" sz="1200" dirty="0"/>
          </a:p>
        </p:txBody>
      </p:sp>
      <p:sp>
        <p:nvSpPr>
          <p:cNvPr id="23" name="Text 21"/>
          <p:cNvSpPr/>
          <p:nvPr/>
        </p:nvSpPr>
        <p:spPr>
          <a:xfrm>
            <a:off x="749808" y="2907792"/>
            <a:ext cx="3657600" cy="219456"/>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Air-Gapped Operation</a:t>
            </a:r>
            <a:endParaRPr lang="en-US" sz="1050" dirty="0"/>
          </a:p>
        </p:txBody>
      </p:sp>
      <p:sp>
        <p:nvSpPr>
          <p:cNvPr id="24" name="Text 22"/>
          <p:cNvSpPr/>
          <p:nvPr/>
        </p:nvSpPr>
        <p:spPr>
          <a:xfrm>
            <a:off x="749808" y="3118104"/>
            <a:ext cx="3657600" cy="18288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Fully documented offline mode</a:t>
            </a:r>
            <a:endParaRPr lang="en-US" sz="900" dirty="0"/>
          </a:p>
        </p:txBody>
      </p:sp>
      <p:sp>
        <p:nvSpPr>
          <p:cNvPr id="25" name="Text 23"/>
          <p:cNvSpPr/>
          <p:nvPr/>
        </p:nvSpPr>
        <p:spPr>
          <a:xfrm>
            <a:off x="749808" y="3291840"/>
            <a:ext cx="3657600" cy="4297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Hermes explicitly supports and documents air-gapped deployment with local </a:t>
            </a:r>
            <a:r>
              <a:rPr lang="en-US" sz="900" dirty="0" err="1">
                <a:solidFill>
                  <a:srgbClr val="64748B"/>
                </a:solidFill>
                <a:latin typeface="Calibri" pitchFamily="34" charset="0"/>
                <a:ea typeface="Calibri" pitchFamily="34" charset="-122"/>
                <a:cs typeface="Calibri" pitchFamily="34" charset="-120"/>
              </a:rPr>
              <a:t>Ollama</a:t>
            </a:r>
            <a:r>
              <a:rPr lang="en-US" sz="900" dirty="0">
                <a:solidFill>
                  <a:srgbClr val="64748B"/>
                </a:solidFill>
                <a:latin typeface="Calibri" pitchFamily="34" charset="0"/>
                <a:ea typeface="Calibri" pitchFamily="34" charset="-122"/>
                <a:cs typeface="Calibri" pitchFamily="34" charset="-120"/>
              </a:rPr>
              <a:t> inference, a hard requirement for classified environments.</a:t>
            </a:r>
            <a:endParaRPr lang="en-US" sz="900" dirty="0"/>
          </a:p>
        </p:txBody>
      </p:sp>
      <p:sp>
        <p:nvSpPr>
          <p:cNvPr id="26" name="Shape 24"/>
          <p:cNvSpPr/>
          <p:nvPr/>
        </p:nvSpPr>
        <p:spPr>
          <a:xfrm>
            <a:off x="4754880" y="2862072"/>
            <a:ext cx="4160520" cy="89611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7" name="Shape 25"/>
          <p:cNvSpPr/>
          <p:nvPr/>
        </p:nvSpPr>
        <p:spPr>
          <a:xfrm>
            <a:off x="4754880" y="2862072"/>
            <a:ext cx="310896" cy="896112"/>
          </a:xfrm>
          <a:prstGeom prst="rect">
            <a:avLst/>
          </a:prstGeom>
          <a:solidFill>
            <a:srgbClr val="1E2761"/>
          </a:solidFill>
          <a:ln w="12700">
            <a:solidFill>
              <a:srgbClr val="1E2761"/>
            </a:solidFill>
            <a:prstDash val="solid"/>
          </a:ln>
        </p:spPr>
        <p:txBody>
          <a:bodyPr/>
          <a:lstStyle/>
          <a:p>
            <a:endParaRPr lang="en-AU"/>
          </a:p>
        </p:txBody>
      </p:sp>
      <p:sp>
        <p:nvSpPr>
          <p:cNvPr id="28" name="Text 26"/>
          <p:cNvSpPr/>
          <p:nvPr/>
        </p:nvSpPr>
        <p:spPr>
          <a:xfrm>
            <a:off x="4754880" y="2862072"/>
            <a:ext cx="310896" cy="896112"/>
          </a:xfrm>
          <a:prstGeom prst="rect">
            <a:avLst/>
          </a:prstGeom>
          <a:noFill/>
          <a:ln/>
        </p:spPr>
        <p:txBody>
          <a:bodyPr wrap="square" lIns="0" tIns="0" rIns="0" bIns="0" rtlCol="0" anchor="ctr"/>
          <a:lstStyle/>
          <a:p>
            <a:pPr marL="0" indent="0" algn="ctr">
              <a:buNone/>
            </a:pPr>
            <a:r>
              <a:rPr lang="en-US" sz="1200" b="1" dirty="0">
                <a:solidFill>
                  <a:srgbClr val="4F9CF9"/>
                </a:solidFill>
                <a:latin typeface="Georgia" pitchFamily="34" charset="0"/>
                <a:ea typeface="Georgia" pitchFamily="34" charset="-122"/>
                <a:cs typeface="Georgia" pitchFamily="34" charset="-120"/>
              </a:rPr>
              <a:t>4</a:t>
            </a:r>
            <a:endParaRPr lang="en-US" sz="1200" dirty="0"/>
          </a:p>
        </p:txBody>
      </p:sp>
      <p:sp>
        <p:nvSpPr>
          <p:cNvPr id="29" name="Text 27"/>
          <p:cNvSpPr/>
          <p:nvPr/>
        </p:nvSpPr>
        <p:spPr>
          <a:xfrm>
            <a:off x="5138928" y="2907792"/>
            <a:ext cx="3657600" cy="219456"/>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Default Security Posture</a:t>
            </a:r>
            <a:endParaRPr lang="en-US" sz="1050" dirty="0"/>
          </a:p>
        </p:txBody>
      </p:sp>
      <p:sp>
        <p:nvSpPr>
          <p:cNvPr id="30" name="Text 28"/>
          <p:cNvSpPr/>
          <p:nvPr/>
        </p:nvSpPr>
        <p:spPr>
          <a:xfrm>
            <a:off x="5138928" y="3118104"/>
            <a:ext cx="3657600" cy="18288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Secure-by-default vs auth disabled by default</a:t>
            </a:r>
            <a:endParaRPr lang="en-US" sz="900" dirty="0"/>
          </a:p>
        </p:txBody>
      </p:sp>
      <p:sp>
        <p:nvSpPr>
          <p:cNvPr id="31" name="Text 29"/>
          <p:cNvSpPr/>
          <p:nvPr/>
        </p:nvSpPr>
        <p:spPr>
          <a:xfrm>
            <a:off x="5138928" y="3291840"/>
            <a:ext cx="3657600" cy="4297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Hermes ships with authentication, dangerous command approval gates, and credential isolation enabled. OpenClaw required manual hardening from initial releases.</a:t>
            </a:r>
            <a:endParaRPr lang="en-US" sz="900" dirty="0"/>
          </a:p>
        </p:txBody>
      </p:sp>
      <p:sp>
        <p:nvSpPr>
          <p:cNvPr id="32" name="Shape 30"/>
          <p:cNvSpPr/>
          <p:nvPr/>
        </p:nvSpPr>
        <p:spPr>
          <a:xfrm>
            <a:off x="365760" y="3849624"/>
            <a:ext cx="4160520" cy="89611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33" name="Shape 31"/>
          <p:cNvSpPr/>
          <p:nvPr/>
        </p:nvSpPr>
        <p:spPr>
          <a:xfrm>
            <a:off x="365760" y="3849624"/>
            <a:ext cx="310896" cy="896112"/>
          </a:xfrm>
          <a:prstGeom prst="rect">
            <a:avLst/>
          </a:prstGeom>
          <a:solidFill>
            <a:srgbClr val="1E2761"/>
          </a:solidFill>
          <a:ln w="12700">
            <a:solidFill>
              <a:srgbClr val="1E2761"/>
            </a:solidFill>
            <a:prstDash val="solid"/>
          </a:ln>
        </p:spPr>
        <p:txBody>
          <a:bodyPr/>
          <a:lstStyle/>
          <a:p>
            <a:endParaRPr lang="en-AU"/>
          </a:p>
        </p:txBody>
      </p:sp>
      <p:sp>
        <p:nvSpPr>
          <p:cNvPr id="34" name="Text 32"/>
          <p:cNvSpPr/>
          <p:nvPr/>
        </p:nvSpPr>
        <p:spPr>
          <a:xfrm>
            <a:off x="365760" y="3849624"/>
            <a:ext cx="310896" cy="896112"/>
          </a:xfrm>
          <a:prstGeom prst="rect">
            <a:avLst/>
          </a:prstGeom>
          <a:noFill/>
          <a:ln/>
        </p:spPr>
        <p:txBody>
          <a:bodyPr wrap="square" lIns="0" tIns="0" rIns="0" bIns="0" rtlCol="0" anchor="ctr"/>
          <a:lstStyle/>
          <a:p>
            <a:pPr marL="0" indent="0" algn="ctr">
              <a:buNone/>
            </a:pPr>
            <a:r>
              <a:rPr lang="en-US" sz="1200" b="1" dirty="0">
                <a:solidFill>
                  <a:srgbClr val="4F9CF9"/>
                </a:solidFill>
                <a:latin typeface="Georgia" pitchFamily="34" charset="0"/>
                <a:ea typeface="Georgia" pitchFamily="34" charset="-122"/>
                <a:cs typeface="Georgia" pitchFamily="34" charset="-120"/>
              </a:rPr>
              <a:t>5</a:t>
            </a:r>
            <a:endParaRPr lang="en-US" sz="1200" dirty="0"/>
          </a:p>
        </p:txBody>
      </p:sp>
      <p:sp>
        <p:nvSpPr>
          <p:cNvPr id="35" name="Text 33"/>
          <p:cNvSpPr/>
          <p:nvPr/>
        </p:nvSpPr>
        <p:spPr>
          <a:xfrm>
            <a:off x="749808" y="3895344"/>
            <a:ext cx="3657600" cy="219456"/>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Per-User Isolation</a:t>
            </a:r>
            <a:endParaRPr lang="en-US" sz="1050" dirty="0"/>
          </a:p>
        </p:txBody>
      </p:sp>
      <p:sp>
        <p:nvSpPr>
          <p:cNvPr id="36" name="Text 34"/>
          <p:cNvSpPr/>
          <p:nvPr/>
        </p:nvSpPr>
        <p:spPr>
          <a:xfrm>
            <a:off x="749808" y="4105656"/>
            <a:ext cx="3657600" cy="18288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Structural vs configuration-dependent</a:t>
            </a:r>
            <a:endParaRPr lang="en-US" sz="900" dirty="0"/>
          </a:p>
        </p:txBody>
      </p:sp>
      <p:sp>
        <p:nvSpPr>
          <p:cNvPr id="37" name="Text 35"/>
          <p:cNvSpPr/>
          <p:nvPr/>
        </p:nvSpPr>
        <p:spPr>
          <a:xfrm>
            <a:off x="749808" y="4279392"/>
            <a:ext cx="3657600" cy="4297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Hermes natively maps OpenWebUI users to isolated agent profiles. OpenClaw requires manual opt-in configuration with risk of misconfiguration.</a:t>
            </a:r>
            <a:endParaRPr lang="en-US" sz="900" dirty="0"/>
          </a:p>
        </p:txBody>
      </p:sp>
      <p:sp>
        <p:nvSpPr>
          <p:cNvPr id="38" name="Shape 36"/>
          <p:cNvSpPr/>
          <p:nvPr/>
        </p:nvSpPr>
        <p:spPr>
          <a:xfrm>
            <a:off x="4754880" y="3849624"/>
            <a:ext cx="4160520" cy="896112"/>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39" name="Shape 37"/>
          <p:cNvSpPr/>
          <p:nvPr/>
        </p:nvSpPr>
        <p:spPr>
          <a:xfrm>
            <a:off x="4754880" y="3849624"/>
            <a:ext cx="310896" cy="896112"/>
          </a:xfrm>
          <a:prstGeom prst="rect">
            <a:avLst/>
          </a:prstGeom>
          <a:solidFill>
            <a:srgbClr val="1E2761"/>
          </a:solidFill>
          <a:ln w="12700">
            <a:solidFill>
              <a:srgbClr val="1E2761"/>
            </a:solidFill>
            <a:prstDash val="solid"/>
          </a:ln>
        </p:spPr>
        <p:txBody>
          <a:bodyPr/>
          <a:lstStyle/>
          <a:p>
            <a:endParaRPr lang="en-AU"/>
          </a:p>
        </p:txBody>
      </p:sp>
      <p:sp>
        <p:nvSpPr>
          <p:cNvPr id="40" name="Text 38"/>
          <p:cNvSpPr/>
          <p:nvPr/>
        </p:nvSpPr>
        <p:spPr>
          <a:xfrm>
            <a:off x="4754880" y="3849624"/>
            <a:ext cx="310896" cy="896112"/>
          </a:xfrm>
          <a:prstGeom prst="rect">
            <a:avLst/>
          </a:prstGeom>
          <a:noFill/>
          <a:ln/>
        </p:spPr>
        <p:txBody>
          <a:bodyPr wrap="square" lIns="0" tIns="0" rIns="0" bIns="0" rtlCol="0" anchor="ctr"/>
          <a:lstStyle/>
          <a:p>
            <a:pPr marL="0" indent="0" algn="ctr">
              <a:buNone/>
            </a:pPr>
            <a:r>
              <a:rPr lang="en-US" sz="1200" b="1" dirty="0">
                <a:solidFill>
                  <a:srgbClr val="4F9CF9"/>
                </a:solidFill>
                <a:latin typeface="Georgia" pitchFamily="34" charset="0"/>
                <a:ea typeface="Georgia" pitchFamily="34" charset="-122"/>
                <a:cs typeface="Georgia" pitchFamily="34" charset="-120"/>
              </a:rPr>
              <a:t>6</a:t>
            </a:r>
            <a:endParaRPr lang="en-US" sz="1200" dirty="0"/>
          </a:p>
        </p:txBody>
      </p:sp>
      <p:sp>
        <p:nvSpPr>
          <p:cNvPr id="41" name="Text 39"/>
          <p:cNvSpPr/>
          <p:nvPr/>
        </p:nvSpPr>
        <p:spPr>
          <a:xfrm>
            <a:off x="5138928" y="3895344"/>
            <a:ext cx="3657600" cy="219456"/>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Supply Chain Safety</a:t>
            </a:r>
            <a:endParaRPr lang="en-US" sz="1050" dirty="0"/>
          </a:p>
        </p:txBody>
      </p:sp>
      <p:sp>
        <p:nvSpPr>
          <p:cNvPr id="42" name="Text 40"/>
          <p:cNvSpPr/>
          <p:nvPr/>
        </p:nvSpPr>
        <p:spPr>
          <a:xfrm>
            <a:off x="5138928" y="4105656"/>
            <a:ext cx="3657600" cy="18288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0 malicious skills vs 1,400+ flagged on ClawHub</a:t>
            </a:r>
            <a:endParaRPr lang="en-US" sz="900" dirty="0"/>
          </a:p>
        </p:txBody>
      </p:sp>
      <p:sp>
        <p:nvSpPr>
          <p:cNvPr id="43" name="Text 41"/>
          <p:cNvSpPr/>
          <p:nvPr/>
        </p:nvSpPr>
        <p:spPr>
          <a:xfrm>
            <a:off x="5138928" y="4279392"/>
            <a:ext cx="3657600" cy="42976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Hermes' curated skills registry with automated security scanning contrasts sharply with ClawHub's open marketplace, 20% of which has been flagged as unsafe.</a:t>
            </a:r>
            <a:endParaRPr lang="en-US" sz="900" dirty="0"/>
          </a:p>
        </p:txBody>
      </p:sp>
      <p:sp>
        <p:nvSpPr>
          <p:cNvPr id="44" name="Shape 42"/>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45" name="Text 43"/>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698918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Sandboxing &amp; Hardening Plan</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Five-phase plan to deploy Hermes Agent safely within DSO infrastructure</a:t>
            </a:r>
            <a:endParaRPr lang="en-US" sz="1300" dirty="0"/>
          </a:p>
        </p:txBody>
      </p:sp>
      <p:sp>
        <p:nvSpPr>
          <p:cNvPr id="5" name="Shape 3"/>
          <p:cNvSpPr/>
          <p:nvPr/>
        </p:nvSpPr>
        <p:spPr>
          <a:xfrm>
            <a:off x="365760" y="1005840"/>
            <a:ext cx="8412480" cy="384048"/>
          </a:xfrm>
          <a:prstGeom prst="rect">
            <a:avLst/>
          </a:prstGeom>
          <a:solidFill>
            <a:srgbClr val="CADCFC">
              <a:alpha val="45000"/>
            </a:srgbClr>
          </a:solidFill>
          <a:ln w="8890">
            <a:solidFill>
              <a:srgbClr val="4F9CF9"/>
            </a:solidFill>
            <a:prstDash val="solid"/>
          </a:ln>
        </p:spPr>
        <p:txBody>
          <a:bodyPr/>
          <a:lstStyle/>
          <a:p>
            <a:endParaRPr lang="en-AU"/>
          </a:p>
        </p:txBody>
      </p:sp>
      <p:sp>
        <p:nvSpPr>
          <p:cNvPr id="6" name="Text 4"/>
          <p:cNvSpPr/>
          <p:nvPr/>
        </p:nvSpPr>
        <p:spPr>
          <a:xfrm>
            <a:off x="548640" y="1005840"/>
            <a:ext cx="8138160" cy="384048"/>
          </a:xfrm>
          <a:prstGeom prst="rect">
            <a:avLst/>
          </a:prstGeom>
          <a:noFill/>
          <a:ln/>
        </p:spPr>
        <p:txBody>
          <a:bodyPr wrap="square"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All testing is conducted on a disposable Azure VM — not local SSH — so the environment can be discarded if issues arise, with no impact on shared infrastructure.</a:t>
            </a:r>
            <a:endParaRPr lang="en-US" sz="1000" dirty="0"/>
          </a:p>
        </p:txBody>
      </p:sp>
      <p:sp>
        <p:nvSpPr>
          <p:cNvPr id="7" name="Shape 5"/>
          <p:cNvSpPr/>
          <p:nvPr/>
        </p:nvSpPr>
        <p:spPr>
          <a:xfrm>
            <a:off x="365760" y="1490472"/>
            <a:ext cx="4160520" cy="1024128"/>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8" name="Shape 6"/>
          <p:cNvSpPr/>
          <p:nvPr/>
        </p:nvSpPr>
        <p:spPr>
          <a:xfrm>
            <a:off x="365760" y="1490472"/>
            <a:ext cx="1005840" cy="256032"/>
          </a:xfrm>
          <a:prstGeom prst="rect">
            <a:avLst/>
          </a:prstGeom>
          <a:solidFill>
            <a:srgbClr val="1E2761"/>
          </a:solidFill>
          <a:ln w="12700">
            <a:solidFill>
              <a:srgbClr val="1E2761"/>
            </a:solidFill>
            <a:prstDash val="solid"/>
          </a:ln>
        </p:spPr>
        <p:txBody>
          <a:bodyPr/>
          <a:lstStyle/>
          <a:p>
            <a:endParaRPr lang="en-AU"/>
          </a:p>
        </p:txBody>
      </p:sp>
      <p:sp>
        <p:nvSpPr>
          <p:cNvPr id="9" name="Text 7"/>
          <p:cNvSpPr/>
          <p:nvPr/>
        </p:nvSpPr>
        <p:spPr>
          <a:xfrm>
            <a:off x="365760" y="1490472"/>
            <a:ext cx="1005840" cy="256032"/>
          </a:xfrm>
          <a:prstGeom prst="rect">
            <a:avLst/>
          </a:prstGeom>
          <a:noFill/>
          <a:ln/>
        </p:spPr>
        <p:txBody>
          <a:bodyPr wrap="square" lIns="0" tIns="0" rIns="0" bIns="0" rtlCol="0" anchor="ctr"/>
          <a:lstStyle/>
          <a:p>
            <a:pPr marL="0" indent="0" algn="ctr">
              <a:buNone/>
            </a:pPr>
            <a:r>
              <a:rPr lang="en-US" sz="850" b="1" dirty="0">
                <a:solidFill>
                  <a:srgbClr val="4F9CF9"/>
                </a:solidFill>
                <a:latin typeface="Calibri" pitchFamily="34" charset="0"/>
                <a:ea typeface="Calibri" pitchFamily="34" charset="-122"/>
                <a:cs typeface="Calibri" pitchFamily="34" charset="-120"/>
              </a:rPr>
              <a:t>PHASE 0</a:t>
            </a:r>
            <a:endParaRPr lang="en-US" sz="850" dirty="0"/>
          </a:p>
        </p:txBody>
      </p:sp>
      <p:sp>
        <p:nvSpPr>
          <p:cNvPr id="10" name="Text 8"/>
          <p:cNvSpPr/>
          <p:nvPr/>
        </p:nvSpPr>
        <p:spPr>
          <a:xfrm>
            <a:off x="493776" y="1792224"/>
            <a:ext cx="3931920"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Azure VM Provisioning</a:t>
            </a:r>
            <a:endParaRPr lang="en-US" sz="1050" dirty="0"/>
          </a:p>
        </p:txBody>
      </p:sp>
      <p:sp>
        <p:nvSpPr>
          <p:cNvPr id="11" name="Text 9"/>
          <p:cNvSpPr/>
          <p:nvPr/>
        </p:nvSpPr>
        <p:spPr>
          <a:xfrm>
            <a:off x="493776" y="2020824"/>
            <a:ext cx="3931920" cy="4572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Deploy on Standard D8as_v5 (8 vCPU, 32 GB) running Ubuntu 22.04 LTS. Place in a dedicated VNet with no public inbound ports, JIT SSH access, and a separate managed data disk for Hermes runtime data and model weights.</a:t>
            </a:r>
            <a:endParaRPr lang="en-US" sz="900" dirty="0"/>
          </a:p>
        </p:txBody>
      </p:sp>
      <p:sp>
        <p:nvSpPr>
          <p:cNvPr id="12" name="Shape 10"/>
          <p:cNvSpPr/>
          <p:nvPr/>
        </p:nvSpPr>
        <p:spPr>
          <a:xfrm>
            <a:off x="4754880" y="1490472"/>
            <a:ext cx="4160520" cy="1024128"/>
          </a:xfrm>
          <a:prstGeom prst="rect">
            <a:avLst/>
          </a:prstGeom>
          <a:solidFill>
            <a:srgbClr val="FFFF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3" name="Shape 11"/>
          <p:cNvSpPr/>
          <p:nvPr/>
        </p:nvSpPr>
        <p:spPr>
          <a:xfrm>
            <a:off x="4754880" y="1490472"/>
            <a:ext cx="1005840" cy="256032"/>
          </a:xfrm>
          <a:prstGeom prst="rect">
            <a:avLst/>
          </a:prstGeom>
          <a:solidFill>
            <a:srgbClr val="1E2761"/>
          </a:solidFill>
          <a:ln w="12700">
            <a:solidFill>
              <a:srgbClr val="1E2761"/>
            </a:solidFill>
            <a:prstDash val="solid"/>
          </a:ln>
        </p:spPr>
        <p:txBody>
          <a:bodyPr/>
          <a:lstStyle/>
          <a:p>
            <a:endParaRPr lang="en-AU"/>
          </a:p>
        </p:txBody>
      </p:sp>
      <p:sp>
        <p:nvSpPr>
          <p:cNvPr id="14" name="Text 12"/>
          <p:cNvSpPr/>
          <p:nvPr/>
        </p:nvSpPr>
        <p:spPr>
          <a:xfrm>
            <a:off x="4754880" y="1490472"/>
            <a:ext cx="1005840" cy="256032"/>
          </a:xfrm>
          <a:prstGeom prst="rect">
            <a:avLst/>
          </a:prstGeom>
          <a:noFill/>
          <a:ln/>
        </p:spPr>
        <p:txBody>
          <a:bodyPr wrap="square" lIns="0" tIns="0" rIns="0" bIns="0" rtlCol="0" anchor="ctr"/>
          <a:lstStyle/>
          <a:p>
            <a:pPr marL="0" indent="0" algn="ctr">
              <a:buNone/>
            </a:pPr>
            <a:r>
              <a:rPr lang="en-US" sz="850" b="1" dirty="0">
                <a:solidFill>
                  <a:srgbClr val="4F9CF9"/>
                </a:solidFill>
                <a:latin typeface="Calibri" pitchFamily="34" charset="0"/>
                <a:ea typeface="Calibri" pitchFamily="34" charset="-122"/>
                <a:cs typeface="Calibri" pitchFamily="34" charset="-120"/>
              </a:rPr>
              <a:t>PHASE 1</a:t>
            </a:r>
            <a:endParaRPr lang="en-US" sz="850" dirty="0"/>
          </a:p>
        </p:txBody>
      </p:sp>
      <p:sp>
        <p:nvSpPr>
          <p:cNvPr id="15" name="Text 13"/>
          <p:cNvSpPr/>
          <p:nvPr/>
        </p:nvSpPr>
        <p:spPr>
          <a:xfrm>
            <a:off x="4882896" y="1792224"/>
            <a:ext cx="3931920"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Environment Isolation</a:t>
            </a:r>
            <a:endParaRPr lang="en-US" sz="1050" dirty="0"/>
          </a:p>
        </p:txBody>
      </p:sp>
      <p:sp>
        <p:nvSpPr>
          <p:cNvPr id="16" name="Text 14"/>
          <p:cNvSpPr/>
          <p:nvPr/>
        </p:nvSpPr>
        <p:spPr>
          <a:xfrm>
            <a:off x="4882896" y="2020824"/>
            <a:ext cx="3931920" cy="4572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Run Hermes exclusively in Docker with --no-new-privileges, read-only root filesystem, dropped Linux capabilities, and loopback-only API binding. Use local Ollama inference (e.g. Llama-3.1-8B or DeepSeek-R1 GGUF) with no external API calls.</a:t>
            </a:r>
            <a:endParaRPr lang="en-US" sz="900" dirty="0"/>
          </a:p>
        </p:txBody>
      </p:sp>
      <p:sp>
        <p:nvSpPr>
          <p:cNvPr id="17" name="Shape 15"/>
          <p:cNvSpPr/>
          <p:nvPr/>
        </p:nvSpPr>
        <p:spPr>
          <a:xfrm>
            <a:off x="365760" y="2606040"/>
            <a:ext cx="4160520" cy="1024128"/>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18" name="Shape 16"/>
          <p:cNvSpPr/>
          <p:nvPr/>
        </p:nvSpPr>
        <p:spPr>
          <a:xfrm>
            <a:off x="365760" y="2606040"/>
            <a:ext cx="1005840" cy="256032"/>
          </a:xfrm>
          <a:prstGeom prst="rect">
            <a:avLst/>
          </a:prstGeom>
          <a:solidFill>
            <a:srgbClr val="1E2761"/>
          </a:solidFill>
          <a:ln w="12700">
            <a:solidFill>
              <a:srgbClr val="1E2761"/>
            </a:solidFill>
            <a:prstDash val="solid"/>
          </a:ln>
        </p:spPr>
        <p:txBody>
          <a:bodyPr/>
          <a:lstStyle/>
          <a:p>
            <a:endParaRPr lang="en-AU"/>
          </a:p>
        </p:txBody>
      </p:sp>
      <p:sp>
        <p:nvSpPr>
          <p:cNvPr id="19" name="Text 17"/>
          <p:cNvSpPr/>
          <p:nvPr/>
        </p:nvSpPr>
        <p:spPr>
          <a:xfrm>
            <a:off x="365760" y="2606040"/>
            <a:ext cx="1005840" cy="256032"/>
          </a:xfrm>
          <a:prstGeom prst="rect">
            <a:avLst/>
          </a:prstGeom>
          <a:noFill/>
          <a:ln/>
        </p:spPr>
        <p:txBody>
          <a:bodyPr wrap="square" lIns="0" tIns="0" rIns="0" bIns="0" rtlCol="0" anchor="ctr"/>
          <a:lstStyle/>
          <a:p>
            <a:pPr marL="0" indent="0" algn="ctr">
              <a:buNone/>
            </a:pPr>
            <a:r>
              <a:rPr lang="en-US" sz="850" b="1" dirty="0">
                <a:solidFill>
                  <a:srgbClr val="4F9CF9"/>
                </a:solidFill>
                <a:latin typeface="Calibri" pitchFamily="34" charset="0"/>
                <a:ea typeface="Calibri" pitchFamily="34" charset="-122"/>
                <a:cs typeface="Calibri" pitchFamily="34" charset="-120"/>
              </a:rPr>
              <a:t>PHASE 2</a:t>
            </a:r>
            <a:endParaRPr lang="en-US" sz="850" dirty="0"/>
          </a:p>
        </p:txBody>
      </p:sp>
      <p:sp>
        <p:nvSpPr>
          <p:cNvPr id="20" name="Text 18"/>
          <p:cNvSpPr/>
          <p:nvPr/>
        </p:nvSpPr>
        <p:spPr>
          <a:xfrm>
            <a:off x="493776" y="2907792"/>
            <a:ext cx="3931920"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Authentication &amp; Access Control</a:t>
            </a:r>
            <a:endParaRPr lang="en-US" sz="1050" dirty="0"/>
          </a:p>
        </p:txBody>
      </p:sp>
      <p:sp>
        <p:nvSpPr>
          <p:cNvPr id="21" name="Text 19"/>
          <p:cNvSpPr/>
          <p:nvPr/>
        </p:nvSpPr>
        <p:spPr>
          <a:xfrm>
            <a:off x="493776" y="3136392"/>
            <a:ext cx="3931920" cy="4572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Set unique API keys per user profile on a rotation schedule. Enable user allowlists and dangerous command approval gates requiring interactive confirmation for all shell commands, file deletions, and network operations.</a:t>
            </a:r>
            <a:endParaRPr lang="en-US" sz="900" dirty="0"/>
          </a:p>
        </p:txBody>
      </p:sp>
      <p:sp>
        <p:nvSpPr>
          <p:cNvPr id="22" name="Shape 20"/>
          <p:cNvSpPr/>
          <p:nvPr/>
        </p:nvSpPr>
        <p:spPr>
          <a:xfrm>
            <a:off x="4754880" y="2606040"/>
            <a:ext cx="4160520" cy="1024128"/>
          </a:xfrm>
          <a:prstGeom prst="rect">
            <a:avLst/>
          </a:prstGeom>
          <a:solidFill>
            <a:srgbClr val="FFFF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3" name="Shape 21"/>
          <p:cNvSpPr/>
          <p:nvPr/>
        </p:nvSpPr>
        <p:spPr>
          <a:xfrm>
            <a:off x="4754880" y="2606040"/>
            <a:ext cx="1005840" cy="256032"/>
          </a:xfrm>
          <a:prstGeom prst="rect">
            <a:avLst/>
          </a:prstGeom>
          <a:solidFill>
            <a:srgbClr val="1E2761"/>
          </a:solidFill>
          <a:ln w="12700">
            <a:solidFill>
              <a:srgbClr val="1E2761"/>
            </a:solidFill>
            <a:prstDash val="solid"/>
          </a:ln>
        </p:spPr>
        <p:txBody>
          <a:bodyPr/>
          <a:lstStyle/>
          <a:p>
            <a:endParaRPr lang="en-AU"/>
          </a:p>
        </p:txBody>
      </p:sp>
      <p:sp>
        <p:nvSpPr>
          <p:cNvPr id="24" name="Text 22"/>
          <p:cNvSpPr/>
          <p:nvPr/>
        </p:nvSpPr>
        <p:spPr>
          <a:xfrm>
            <a:off x="4754880" y="2606040"/>
            <a:ext cx="1005840" cy="256032"/>
          </a:xfrm>
          <a:prstGeom prst="rect">
            <a:avLst/>
          </a:prstGeom>
          <a:noFill/>
          <a:ln/>
        </p:spPr>
        <p:txBody>
          <a:bodyPr wrap="square" lIns="0" tIns="0" rIns="0" bIns="0" rtlCol="0" anchor="ctr"/>
          <a:lstStyle/>
          <a:p>
            <a:pPr marL="0" indent="0" algn="ctr">
              <a:buNone/>
            </a:pPr>
            <a:r>
              <a:rPr lang="en-US" sz="850" b="1" dirty="0">
                <a:solidFill>
                  <a:srgbClr val="4F9CF9"/>
                </a:solidFill>
                <a:latin typeface="Calibri" pitchFamily="34" charset="0"/>
                <a:ea typeface="Calibri" pitchFamily="34" charset="-122"/>
                <a:cs typeface="Calibri" pitchFamily="34" charset="-120"/>
              </a:rPr>
              <a:t>PHASE 3</a:t>
            </a:r>
            <a:endParaRPr lang="en-US" sz="850" dirty="0"/>
          </a:p>
        </p:txBody>
      </p:sp>
      <p:sp>
        <p:nvSpPr>
          <p:cNvPr id="25" name="Text 23"/>
          <p:cNvSpPr/>
          <p:nvPr/>
        </p:nvSpPr>
        <p:spPr>
          <a:xfrm>
            <a:off x="4882896" y="2907792"/>
            <a:ext cx="3931920"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Skills &amp; Tool Control</a:t>
            </a:r>
            <a:endParaRPr lang="en-US" sz="1050" dirty="0"/>
          </a:p>
        </p:txBody>
      </p:sp>
      <p:sp>
        <p:nvSpPr>
          <p:cNvPr id="26" name="Text 24"/>
          <p:cNvSpPr/>
          <p:nvPr/>
        </p:nvSpPr>
        <p:spPr>
          <a:xfrm>
            <a:off x="4882896" y="3136392"/>
            <a:ext cx="3931920" cy="4572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Disable automatic skill installation from agentskills.io. Operate an internal-only approved skill registry. Whitelist only the tools required for the test use case and enable MCP credential filtering with subprocess-level audit logging.</a:t>
            </a:r>
            <a:endParaRPr lang="en-US" sz="900" dirty="0"/>
          </a:p>
        </p:txBody>
      </p:sp>
      <p:sp>
        <p:nvSpPr>
          <p:cNvPr id="27" name="Shape 25"/>
          <p:cNvSpPr/>
          <p:nvPr/>
        </p:nvSpPr>
        <p:spPr>
          <a:xfrm>
            <a:off x="365760" y="3721608"/>
            <a:ext cx="4160520" cy="1024128"/>
          </a:xfrm>
          <a:prstGeom prst="rect">
            <a:avLst/>
          </a:prstGeom>
          <a:solidFill>
            <a:srgbClr val="F8FA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28" name="Shape 26"/>
          <p:cNvSpPr/>
          <p:nvPr/>
        </p:nvSpPr>
        <p:spPr>
          <a:xfrm>
            <a:off x="365760" y="3721608"/>
            <a:ext cx="1005840" cy="256032"/>
          </a:xfrm>
          <a:prstGeom prst="rect">
            <a:avLst/>
          </a:prstGeom>
          <a:solidFill>
            <a:srgbClr val="1E2761"/>
          </a:solidFill>
          <a:ln w="12700">
            <a:solidFill>
              <a:srgbClr val="1E2761"/>
            </a:solidFill>
            <a:prstDash val="solid"/>
          </a:ln>
        </p:spPr>
        <p:txBody>
          <a:bodyPr/>
          <a:lstStyle/>
          <a:p>
            <a:endParaRPr lang="en-AU"/>
          </a:p>
        </p:txBody>
      </p:sp>
      <p:sp>
        <p:nvSpPr>
          <p:cNvPr id="29" name="Text 27"/>
          <p:cNvSpPr/>
          <p:nvPr/>
        </p:nvSpPr>
        <p:spPr>
          <a:xfrm>
            <a:off x="365760" y="3721608"/>
            <a:ext cx="1005840" cy="256032"/>
          </a:xfrm>
          <a:prstGeom prst="rect">
            <a:avLst/>
          </a:prstGeom>
          <a:noFill/>
          <a:ln/>
        </p:spPr>
        <p:txBody>
          <a:bodyPr wrap="square" lIns="0" tIns="0" rIns="0" bIns="0" rtlCol="0" anchor="ctr"/>
          <a:lstStyle/>
          <a:p>
            <a:pPr marL="0" indent="0" algn="ctr">
              <a:buNone/>
            </a:pPr>
            <a:r>
              <a:rPr lang="en-US" sz="850" b="1" dirty="0">
                <a:solidFill>
                  <a:srgbClr val="4F9CF9"/>
                </a:solidFill>
                <a:latin typeface="Calibri" pitchFamily="34" charset="0"/>
                <a:ea typeface="Calibri" pitchFamily="34" charset="-122"/>
                <a:cs typeface="Calibri" pitchFamily="34" charset="-120"/>
              </a:rPr>
              <a:t>PHASE 4</a:t>
            </a:r>
            <a:endParaRPr lang="en-US" sz="850" dirty="0"/>
          </a:p>
        </p:txBody>
      </p:sp>
      <p:sp>
        <p:nvSpPr>
          <p:cNvPr id="30" name="Text 28"/>
          <p:cNvSpPr/>
          <p:nvPr/>
        </p:nvSpPr>
        <p:spPr>
          <a:xfrm>
            <a:off x="493776" y="4023360"/>
            <a:ext cx="3931920"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Monitoring &amp; Audit</a:t>
            </a:r>
            <a:endParaRPr lang="en-US" sz="1050" dirty="0"/>
          </a:p>
        </p:txBody>
      </p:sp>
      <p:sp>
        <p:nvSpPr>
          <p:cNvPr id="31" name="Text 29"/>
          <p:cNvSpPr/>
          <p:nvPr/>
        </p:nvSpPr>
        <p:spPr>
          <a:xfrm>
            <a:off x="493776" y="4251960"/>
            <a:ext cx="3931920" cy="4572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Capture full gateway.log output to the separate data disk. Periodically review memory and skills directories. Test prompt injection resilience by submitting adversarial inputs and verifying the injection scanning layer blocks or flags them.</a:t>
            </a:r>
            <a:endParaRPr lang="en-US" sz="900" dirty="0"/>
          </a:p>
        </p:txBody>
      </p:sp>
      <p:sp>
        <p:nvSpPr>
          <p:cNvPr id="32" name="Shape 30"/>
          <p:cNvSpPr/>
          <p:nvPr/>
        </p:nvSpPr>
        <p:spPr>
          <a:xfrm>
            <a:off x="4754880" y="3721608"/>
            <a:ext cx="4160520" cy="1024128"/>
          </a:xfrm>
          <a:prstGeom prst="rect">
            <a:avLst/>
          </a:prstGeom>
          <a:solidFill>
            <a:srgbClr val="FFFFFF"/>
          </a:solidFill>
          <a:ln w="8890">
            <a:solidFill>
              <a:srgbClr val="CADCFC"/>
            </a:solidFill>
            <a:prstDash val="solid"/>
          </a:ln>
          <a:effectLst>
            <a:outerShdw blurRad="101600" dist="38100" dir="8100000" algn="bl" rotWithShape="0">
              <a:srgbClr val="000000">
                <a:alpha val="10000"/>
              </a:srgbClr>
            </a:outerShdw>
          </a:effectLst>
        </p:spPr>
        <p:txBody>
          <a:bodyPr/>
          <a:lstStyle/>
          <a:p>
            <a:endParaRPr lang="en-AU"/>
          </a:p>
        </p:txBody>
      </p:sp>
      <p:sp>
        <p:nvSpPr>
          <p:cNvPr id="33" name="Shape 31"/>
          <p:cNvSpPr/>
          <p:nvPr/>
        </p:nvSpPr>
        <p:spPr>
          <a:xfrm>
            <a:off x="4754880" y="3721608"/>
            <a:ext cx="1005840" cy="256032"/>
          </a:xfrm>
          <a:prstGeom prst="rect">
            <a:avLst/>
          </a:prstGeom>
          <a:solidFill>
            <a:srgbClr val="1E2761"/>
          </a:solidFill>
          <a:ln w="12700">
            <a:solidFill>
              <a:srgbClr val="1E2761"/>
            </a:solidFill>
            <a:prstDash val="solid"/>
          </a:ln>
        </p:spPr>
        <p:txBody>
          <a:bodyPr/>
          <a:lstStyle/>
          <a:p>
            <a:endParaRPr lang="en-AU"/>
          </a:p>
        </p:txBody>
      </p:sp>
      <p:sp>
        <p:nvSpPr>
          <p:cNvPr id="34" name="Text 32"/>
          <p:cNvSpPr/>
          <p:nvPr/>
        </p:nvSpPr>
        <p:spPr>
          <a:xfrm>
            <a:off x="4754880" y="3721608"/>
            <a:ext cx="1005840" cy="256032"/>
          </a:xfrm>
          <a:prstGeom prst="rect">
            <a:avLst/>
          </a:prstGeom>
          <a:noFill/>
          <a:ln/>
        </p:spPr>
        <p:txBody>
          <a:bodyPr wrap="square" lIns="0" tIns="0" rIns="0" bIns="0" rtlCol="0" anchor="ctr"/>
          <a:lstStyle/>
          <a:p>
            <a:pPr marL="0" indent="0" algn="ctr">
              <a:buNone/>
            </a:pPr>
            <a:r>
              <a:rPr lang="en-US" sz="850" b="1" dirty="0">
                <a:solidFill>
                  <a:srgbClr val="4F9CF9"/>
                </a:solidFill>
                <a:latin typeface="Calibri" pitchFamily="34" charset="0"/>
                <a:ea typeface="Calibri" pitchFamily="34" charset="-122"/>
                <a:cs typeface="Calibri" pitchFamily="34" charset="-120"/>
              </a:rPr>
              <a:t>PHASE 5</a:t>
            </a:r>
            <a:endParaRPr lang="en-US" sz="850" dirty="0"/>
          </a:p>
        </p:txBody>
      </p:sp>
      <p:sp>
        <p:nvSpPr>
          <p:cNvPr id="35" name="Text 33"/>
          <p:cNvSpPr/>
          <p:nvPr/>
        </p:nvSpPr>
        <p:spPr>
          <a:xfrm>
            <a:off x="4882896" y="4023360"/>
            <a:ext cx="3931920" cy="237744"/>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OpenWebUI Integration Test</a:t>
            </a:r>
            <a:endParaRPr lang="en-US" sz="1050" dirty="0"/>
          </a:p>
        </p:txBody>
      </p:sp>
      <p:sp>
        <p:nvSpPr>
          <p:cNvPr id="36" name="Text 34"/>
          <p:cNvSpPr/>
          <p:nvPr/>
        </p:nvSpPr>
        <p:spPr>
          <a:xfrm>
            <a:off x="4882896" y="4251960"/>
            <a:ext cx="3931920" cy="4572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Stand up OpenWebUI in a separate Docker container on the same internal network. Create two isolated analyst profiles (analyst_a, analyst_b), register as distinct model endpoints, and verify that cross-user memory and conversation history remain fully separated.</a:t>
            </a:r>
            <a:endParaRPr lang="en-US" sz="900" dirty="0"/>
          </a:p>
        </p:txBody>
      </p:sp>
      <p:sp>
        <p:nvSpPr>
          <p:cNvPr id="37" name="Shape 35"/>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38" name="Text 36"/>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2181701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txBody>
          <a:bodyPr/>
          <a:lstStyle/>
          <a:p>
            <a:endParaRPr lang="en-AU"/>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Current Status &amp; Next Steps</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What has been completed and what requires supervisor approval to proceed</a:t>
            </a:r>
            <a:endParaRPr lang="en-US" sz="1300" dirty="0"/>
          </a:p>
        </p:txBody>
      </p:sp>
      <p:sp>
        <p:nvSpPr>
          <p:cNvPr id="5" name="Shape 3"/>
          <p:cNvSpPr/>
          <p:nvPr/>
        </p:nvSpPr>
        <p:spPr>
          <a:xfrm>
            <a:off x="365760" y="964692"/>
            <a:ext cx="8412480" cy="301752"/>
          </a:xfrm>
          <a:prstGeom prst="rect">
            <a:avLst/>
          </a:prstGeom>
          <a:solidFill>
            <a:srgbClr val="F8FAFF"/>
          </a:solidFill>
          <a:ln w="6350">
            <a:solidFill>
              <a:srgbClr val="CADCFC">
                <a:alpha val="30000"/>
              </a:srgbClr>
            </a:solidFill>
            <a:prstDash val="solid"/>
          </a:ln>
        </p:spPr>
        <p:txBody>
          <a:bodyPr/>
          <a:lstStyle/>
          <a:p>
            <a:endParaRPr lang="en-AU"/>
          </a:p>
        </p:txBody>
      </p:sp>
      <p:sp>
        <p:nvSpPr>
          <p:cNvPr id="6" name="Shape 4"/>
          <p:cNvSpPr/>
          <p:nvPr/>
        </p:nvSpPr>
        <p:spPr>
          <a:xfrm>
            <a:off x="365760" y="1028700"/>
            <a:ext cx="146304" cy="146304"/>
          </a:xfrm>
          <a:prstGeom prst="rect">
            <a:avLst/>
          </a:prstGeom>
          <a:solidFill>
            <a:srgbClr val="16A34A"/>
          </a:solidFill>
          <a:ln w="12700">
            <a:solidFill>
              <a:srgbClr val="16A34A"/>
            </a:solidFill>
            <a:prstDash val="solid"/>
          </a:ln>
        </p:spPr>
        <p:txBody>
          <a:bodyPr/>
          <a:lstStyle/>
          <a:p>
            <a:endParaRPr lang="en-AU"/>
          </a:p>
        </p:txBody>
      </p:sp>
      <p:sp>
        <p:nvSpPr>
          <p:cNvPr id="7" name="Text 5"/>
          <p:cNvSpPr/>
          <p:nvPr/>
        </p:nvSpPr>
        <p:spPr>
          <a:xfrm>
            <a:off x="640080" y="964692"/>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Architecture comparison</a:t>
            </a:r>
            <a:endParaRPr lang="en-US" sz="1000" dirty="0"/>
          </a:p>
        </p:txBody>
      </p:sp>
      <p:sp>
        <p:nvSpPr>
          <p:cNvPr id="8" name="Text 6"/>
          <p:cNvSpPr/>
          <p:nvPr/>
        </p:nvSpPr>
        <p:spPr>
          <a:xfrm>
            <a:off x="6492240" y="964692"/>
            <a:ext cx="2194560" cy="301752"/>
          </a:xfrm>
          <a:prstGeom prst="rect">
            <a:avLst/>
          </a:prstGeom>
          <a:noFill/>
          <a:ln/>
        </p:spPr>
        <p:txBody>
          <a:bodyPr wrap="square"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Complete</a:t>
            </a:r>
            <a:endParaRPr lang="en-US" sz="900" dirty="0"/>
          </a:p>
        </p:txBody>
      </p:sp>
      <p:sp>
        <p:nvSpPr>
          <p:cNvPr id="9" name="Shape 7"/>
          <p:cNvSpPr/>
          <p:nvPr/>
        </p:nvSpPr>
        <p:spPr>
          <a:xfrm>
            <a:off x="365760" y="1293876"/>
            <a:ext cx="8412480" cy="301752"/>
          </a:xfrm>
          <a:prstGeom prst="rect">
            <a:avLst/>
          </a:prstGeom>
          <a:solidFill>
            <a:srgbClr val="FFFFFF"/>
          </a:solidFill>
          <a:ln w="6350">
            <a:solidFill>
              <a:srgbClr val="CADCFC">
                <a:alpha val="30000"/>
              </a:srgbClr>
            </a:solidFill>
            <a:prstDash val="solid"/>
          </a:ln>
        </p:spPr>
        <p:txBody>
          <a:bodyPr/>
          <a:lstStyle/>
          <a:p>
            <a:endParaRPr lang="en-AU"/>
          </a:p>
        </p:txBody>
      </p:sp>
      <p:sp>
        <p:nvSpPr>
          <p:cNvPr id="10" name="Shape 8"/>
          <p:cNvSpPr/>
          <p:nvPr/>
        </p:nvSpPr>
        <p:spPr>
          <a:xfrm>
            <a:off x="365760" y="1357884"/>
            <a:ext cx="146304" cy="146304"/>
          </a:xfrm>
          <a:prstGeom prst="rect">
            <a:avLst/>
          </a:prstGeom>
          <a:solidFill>
            <a:srgbClr val="16A34A"/>
          </a:solidFill>
          <a:ln w="12700">
            <a:solidFill>
              <a:srgbClr val="16A34A"/>
            </a:solidFill>
            <a:prstDash val="solid"/>
          </a:ln>
        </p:spPr>
        <p:txBody>
          <a:bodyPr/>
          <a:lstStyle/>
          <a:p>
            <a:endParaRPr lang="en-AU"/>
          </a:p>
        </p:txBody>
      </p:sp>
      <p:sp>
        <p:nvSpPr>
          <p:cNvPr id="11" name="Text 9"/>
          <p:cNvSpPr/>
          <p:nvPr/>
        </p:nvSpPr>
        <p:spPr>
          <a:xfrm>
            <a:off x="640080" y="1293876"/>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Security CVE review (Hermes: 1, OpenClaw: 138+)</a:t>
            </a:r>
            <a:endParaRPr lang="en-US" sz="1000" dirty="0"/>
          </a:p>
        </p:txBody>
      </p:sp>
      <p:sp>
        <p:nvSpPr>
          <p:cNvPr id="12" name="Text 10"/>
          <p:cNvSpPr/>
          <p:nvPr/>
        </p:nvSpPr>
        <p:spPr>
          <a:xfrm>
            <a:off x="6492240" y="1293876"/>
            <a:ext cx="2194560" cy="301752"/>
          </a:xfrm>
          <a:prstGeom prst="rect">
            <a:avLst/>
          </a:prstGeom>
          <a:noFill/>
          <a:ln/>
        </p:spPr>
        <p:txBody>
          <a:bodyPr wrap="square"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Complete</a:t>
            </a:r>
            <a:endParaRPr lang="en-US" sz="900" dirty="0"/>
          </a:p>
        </p:txBody>
      </p:sp>
      <p:sp>
        <p:nvSpPr>
          <p:cNvPr id="13" name="Shape 11"/>
          <p:cNvSpPr/>
          <p:nvPr/>
        </p:nvSpPr>
        <p:spPr>
          <a:xfrm>
            <a:off x="365760" y="1623060"/>
            <a:ext cx="8412480" cy="301752"/>
          </a:xfrm>
          <a:prstGeom prst="rect">
            <a:avLst/>
          </a:prstGeom>
          <a:solidFill>
            <a:srgbClr val="F8FAFF"/>
          </a:solidFill>
          <a:ln w="6350">
            <a:solidFill>
              <a:srgbClr val="CADCFC">
                <a:alpha val="30000"/>
              </a:srgbClr>
            </a:solidFill>
            <a:prstDash val="solid"/>
          </a:ln>
        </p:spPr>
        <p:txBody>
          <a:bodyPr/>
          <a:lstStyle/>
          <a:p>
            <a:endParaRPr lang="en-AU"/>
          </a:p>
        </p:txBody>
      </p:sp>
      <p:sp>
        <p:nvSpPr>
          <p:cNvPr id="14" name="Shape 12"/>
          <p:cNvSpPr/>
          <p:nvPr/>
        </p:nvSpPr>
        <p:spPr>
          <a:xfrm>
            <a:off x="365760" y="1687068"/>
            <a:ext cx="146304" cy="146304"/>
          </a:xfrm>
          <a:prstGeom prst="rect">
            <a:avLst/>
          </a:prstGeom>
          <a:solidFill>
            <a:srgbClr val="16A34A"/>
          </a:solidFill>
          <a:ln w="12700">
            <a:solidFill>
              <a:srgbClr val="16A34A"/>
            </a:solidFill>
            <a:prstDash val="solid"/>
          </a:ln>
        </p:spPr>
        <p:txBody>
          <a:bodyPr/>
          <a:lstStyle/>
          <a:p>
            <a:endParaRPr lang="en-AU"/>
          </a:p>
        </p:txBody>
      </p:sp>
      <p:sp>
        <p:nvSpPr>
          <p:cNvPr id="15" name="Text 13"/>
          <p:cNvSpPr/>
          <p:nvPr/>
        </p:nvSpPr>
        <p:spPr>
          <a:xfrm>
            <a:off x="640080" y="1623060"/>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Government advisory review</a:t>
            </a:r>
            <a:endParaRPr lang="en-US" sz="1000" dirty="0"/>
          </a:p>
        </p:txBody>
      </p:sp>
      <p:sp>
        <p:nvSpPr>
          <p:cNvPr id="16" name="Text 14"/>
          <p:cNvSpPr/>
          <p:nvPr/>
        </p:nvSpPr>
        <p:spPr>
          <a:xfrm>
            <a:off x="6492240" y="1623060"/>
            <a:ext cx="2194560" cy="301752"/>
          </a:xfrm>
          <a:prstGeom prst="rect">
            <a:avLst/>
          </a:prstGeom>
          <a:noFill/>
          <a:ln/>
        </p:spPr>
        <p:txBody>
          <a:bodyPr wrap="square"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Complete</a:t>
            </a:r>
            <a:endParaRPr lang="en-US" sz="900" dirty="0"/>
          </a:p>
        </p:txBody>
      </p:sp>
      <p:sp>
        <p:nvSpPr>
          <p:cNvPr id="17" name="Shape 15"/>
          <p:cNvSpPr/>
          <p:nvPr/>
        </p:nvSpPr>
        <p:spPr>
          <a:xfrm>
            <a:off x="365760" y="1952244"/>
            <a:ext cx="8412480" cy="301752"/>
          </a:xfrm>
          <a:prstGeom prst="rect">
            <a:avLst/>
          </a:prstGeom>
          <a:solidFill>
            <a:srgbClr val="FFFFFF"/>
          </a:solidFill>
          <a:ln w="6350">
            <a:solidFill>
              <a:srgbClr val="CADCFC">
                <a:alpha val="30000"/>
              </a:srgbClr>
            </a:solidFill>
            <a:prstDash val="solid"/>
          </a:ln>
        </p:spPr>
        <p:txBody>
          <a:bodyPr/>
          <a:lstStyle/>
          <a:p>
            <a:endParaRPr lang="en-AU"/>
          </a:p>
        </p:txBody>
      </p:sp>
      <p:sp>
        <p:nvSpPr>
          <p:cNvPr id="18" name="Shape 16"/>
          <p:cNvSpPr/>
          <p:nvPr/>
        </p:nvSpPr>
        <p:spPr>
          <a:xfrm>
            <a:off x="365760" y="2016252"/>
            <a:ext cx="146304" cy="146304"/>
          </a:xfrm>
          <a:prstGeom prst="rect">
            <a:avLst/>
          </a:prstGeom>
          <a:solidFill>
            <a:srgbClr val="16A34A"/>
          </a:solidFill>
          <a:ln w="12700">
            <a:solidFill>
              <a:srgbClr val="16A34A"/>
            </a:solidFill>
            <a:prstDash val="solid"/>
          </a:ln>
        </p:spPr>
        <p:txBody>
          <a:bodyPr/>
          <a:lstStyle/>
          <a:p>
            <a:endParaRPr lang="en-AU"/>
          </a:p>
        </p:txBody>
      </p:sp>
      <p:sp>
        <p:nvSpPr>
          <p:cNvPr id="19" name="Text 17"/>
          <p:cNvSpPr/>
          <p:nvPr/>
        </p:nvSpPr>
        <p:spPr>
          <a:xfrm>
            <a:off x="640080" y="1952244"/>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Privacy &amp; data residency analysis</a:t>
            </a:r>
            <a:endParaRPr lang="en-US" sz="1000" dirty="0"/>
          </a:p>
        </p:txBody>
      </p:sp>
      <p:sp>
        <p:nvSpPr>
          <p:cNvPr id="20" name="Text 18"/>
          <p:cNvSpPr/>
          <p:nvPr/>
        </p:nvSpPr>
        <p:spPr>
          <a:xfrm>
            <a:off x="6492240" y="1952244"/>
            <a:ext cx="2194560" cy="301752"/>
          </a:xfrm>
          <a:prstGeom prst="rect">
            <a:avLst/>
          </a:prstGeom>
          <a:noFill/>
          <a:ln/>
        </p:spPr>
        <p:txBody>
          <a:bodyPr wrap="square"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Complete</a:t>
            </a:r>
            <a:endParaRPr lang="en-US" sz="900" dirty="0"/>
          </a:p>
        </p:txBody>
      </p:sp>
      <p:sp>
        <p:nvSpPr>
          <p:cNvPr id="21" name="Shape 19"/>
          <p:cNvSpPr/>
          <p:nvPr/>
        </p:nvSpPr>
        <p:spPr>
          <a:xfrm>
            <a:off x="365760" y="2281428"/>
            <a:ext cx="8412480" cy="301752"/>
          </a:xfrm>
          <a:prstGeom prst="rect">
            <a:avLst/>
          </a:prstGeom>
          <a:solidFill>
            <a:srgbClr val="F8FAFF"/>
          </a:solidFill>
          <a:ln w="6350">
            <a:solidFill>
              <a:srgbClr val="CADCFC">
                <a:alpha val="30000"/>
              </a:srgbClr>
            </a:solidFill>
            <a:prstDash val="solid"/>
          </a:ln>
        </p:spPr>
        <p:txBody>
          <a:bodyPr/>
          <a:lstStyle/>
          <a:p>
            <a:endParaRPr lang="en-AU"/>
          </a:p>
        </p:txBody>
      </p:sp>
      <p:sp>
        <p:nvSpPr>
          <p:cNvPr id="22" name="Shape 20"/>
          <p:cNvSpPr/>
          <p:nvPr/>
        </p:nvSpPr>
        <p:spPr>
          <a:xfrm>
            <a:off x="365760" y="2345436"/>
            <a:ext cx="146304" cy="146304"/>
          </a:xfrm>
          <a:prstGeom prst="rect">
            <a:avLst/>
          </a:prstGeom>
          <a:solidFill>
            <a:srgbClr val="16A34A"/>
          </a:solidFill>
          <a:ln w="12700">
            <a:solidFill>
              <a:srgbClr val="16A34A"/>
            </a:solidFill>
            <a:prstDash val="solid"/>
          </a:ln>
        </p:spPr>
        <p:txBody>
          <a:bodyPr/>
          <a:lstStyle/>
          <a:p>
            <a:endParaRPr lang="en-AU"/>
          </a:p>
        </p:txBody>
      </p:sp>
      <p:sp>
        <p:nvSpPr>
          <p:cNvPr id="23" name="Text 21"/>
          <p:cNvSpPr/>
          <p:nvPr/>
        </p:nvSpPr>
        <p:spPr>
          <a:xfrm>
            <a:off x="640080" y="2281428"/>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OpenWebUI integration design</a:t>
            </a:r>
            <a:endParaRPr lang="en-US" sz="1000" dirty="0"/>
          </a:p>
        </p:txBody>
      </p:sp>
      <p:sp>
        <p:nvSpPr>
          <p:cNvPr id="24" name="Text 22"/>
          <p:cNvSpPr/>
          <p:nvPr/>
        </p:nvSpPr>
        <p:spPr>
          <a:xfrm>
            <a:off x="6492240" y="2281428"/>
            <a:ext cx="2194560" cy="301752"/>
          </a:xfrm>
          <a:prstGeom prst="rect">
            <a:avLst/>
          </a:prstGeom>
          <a:noFill/>
          <a:ln/>
        </p:spPr>
        <p:txBody>
          <a:bodyPr wrap="square"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Complete</a:t>
            </a:r>
            <a:endParaRPr lang="en-US" sz="900" dirty="0"/>
          </a:p>
        </p:txBody>
      </p:sp>
      <p:sp>
        <p:nvSpPr>
          <p:cNvPr id="25" name="Shape 23"/>
          <p:cNvSpPr/>
          <p:nvPr/>
        </p:nvSpPr>
        <p:spPr>
          <a:xfrm>
            <a:off x="365760" y="2610612"/>
            <a:ext cx="8412480" cy="301752"/>
          </a:xfrm>
          <a:prstGeom prst="rect">
            <a:avLst/>
          </a:prstGeom>
          <a:solidFill>
            <a:srgbClr val="FFFFFF"/>
          </a:solidFill>
          <a:ln w="6350">
            <a:solidFill>
              <a:srgbClr val="CADCFC">
                <a:alpha val="30000"/>
              </a:srgbClr>
            </a:solidFill>
            <a:prstDash val="solid"/>
          </a:ln>
        </p:spPr>
        <p:txBody>
          <a:bodyPr/>
          <a:lstStyle/>
          <a:p>
            <a:endParaRPr lang="en-AU"/>
          </a:p>
        </p:txBody>
      </p:sp>
      <p:sp>
        <p:nvSpPr>
          <p:cNvPr id="26" name="Shape 24"/>
          <p:cNvSpPr/>
          <p:nvPr/>
        </p:nvSpPr>
        <p:spPr>
          <a:xfrm>
            <a:off x="365760" y="2674620"/>
            <a:ext cx="146304" cy="146304"/>
          </a:xfrm>
          <a:prstGeom prst="rect">
            <a:avLst/>
          </a:prstGeom>
          <a:solidFill>
            <a:srgbClr val="16A34A"/>
          </a:solidFill>
          <a:ln w="12700">
            <a:solidFill>
              <a:srgbClr val="16A34A"/>
            </a:solidFill>
            <a:prstDash val="solid"/>
          </a:ln>
        </p:spPr>
        <p:txBody>
          <a:bodyPr/>
          <a:lstStyle/>
          <a:p>
            <a:endParaRPr lang="en-AU"/>
          </a:p>
        </p:txBody>
      </p:sp>
      <p:sp>
        <p:nvSpPr>
          <p:cNvPr id="27" name="Text 25"/>
          <p:cNvSpPr/>
          <p:nvPr/>
        </p:nvSpPr>
        <p:spPr>
          <a:xfrm>
            <a:off x="640080" y="2610612"/>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Platform recommendation</a:t>
            </a:r>
            <a:endParaRPr lang="en-US" sz="1000" dirty="0"/>
          </a:p>
        </p:txBody>
      </p:sp>
      <p:sp>
        <p:nvSpPr>
          <p:cNvPr id="28" name="Text 26"/>
          <p:cNvSpPr/>
          <p:nvPr/>
        </p:nvSpPr>
        <p:spPr>
          <a:xfrm>
            <a:off x="6492240" y="2610612"/>
            <a:ext cx="2194560" cy="301752"/>
          </a:xfrm>
          <a:prstGeom prst="rect">
            <a:avLst/>
          </a:prstGeom>
          <a:noFill/>
          <a:ln/>
        </p:spPr>
        <p:txBody>
          <a:bodyPr wrap="square"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Complete</a:t>
            </a:r>
            <a:endParaRPr lang="en-US" sz="900" dirty="0"/>
          </a:p>
        </p:txBody>
      </p:sp>
      <p:sp>
        <p:nvSpPr>
          <p:cNvPr id="29" name="Shape 27"/>
          <p:cNvSpPr/>
          <p:nvPr/>
        </p:nvSpPr>
        <p:spPr>
          <a:xfrm>
            <a:off x="365760" y="2939796"/>
            <a:ext cx="8412480" cy="301752"/>
          </a:xfrm>
          <a:prstGeom prst="rect">
            <a:avLst/>
          </a:prstGeom>
          <a:solidFill>
            <a:srgbClr val="F8FAFF"/>
          </a:solidFill>
          <a:ln w="6350">
            <a:solidFill>
              <a:srgbClr val="CADCFC">
                <a:alpha val="30000"/>
              </a:srgbClr>
            </a:solidFill>
            <a:prstDash val="solid"/>
          </a:ln>
        </p:spPr>
        <p:txBody>
          <a:bodyPr/>
          <a:lstStyle/>
          <a:p>
            <a:endParaRPr lang="en-AU"/>
          </a:p>
        </p:txBody>
      </p:sp>
      <p:sp>
        <p:nvSpPr>
          <p:cNvPr id="30" name="Shape 28"/>
          <p:cNvSpPr/>
          <p:nvPr/>
        </p:nvSpPr>
        <p:spPr>
          <a:xfrm>
            <a:off x="365760" y="3003804"/>
            <a:ext cx="146304" cy="146304"/>
          </a:xfrm>
          <a:prstGeom prst="rect">
            <a:avLst/>
          </a:prstGeom>
          <a:solidFill>
            <a:srgbClr val="D97706"/>
          </a:solidFill>
          <a:ln w="12700">
            <a:solidFill>
              <a:srgbClr val="D97706"/>
            </a:solidFill>
            <a:prstDash val="solid"/>
          </a:ln>
        </p:spPr>
        <p:txBody>
          <a:bodyPr/>
          <a:lstStyle/>
          <a:p>
            <a:endParaRPr lang="en-AU"/>
          </a:p>
        </p:txBody>
      </p:sp>
      <p:sp>
        <p:nvSpPr>
          <p:cNvPr id="31" name="Text 29"/>
          <p:cNvSpPr/>
          <p:nvPr/>
        </p:nvSpPr>
        <p:spPr>
          <a:xfrm>
            <a:off x="640080" y="2939796"/>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Azure VM</a:t>
            </a:r>
            <a:endParaRPr lang="en-US" sz="1000" dirty="0"/>
          </a:p>
        </p:txBody>
      </p:sp>
      <p:sp>
        <p:nvSpPr>
          <p:cNvPr id="32" name="Text 30"/>
          <p:cNvSpPr/>
          <p:nvPr/>
        </p:nvSpPr>
        <p:spPr>
          <a:xfrm>
            <a:off x="6492240" y="2939796"/>
            <a:ext cx="2194560" cy="301752"/>
          </a:xfrm>
          <a:prstGeom prst="rect">
            <a:avLst/>
          </a:prstGeom>
          <a:noFill/>
          <a:ln/>
        </p:spPr>
        <p:txBody>
          <a:bodyPr wrap="square"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Pending</a:t>
            </a:r>
            <a:endParaRPr lang="en-US" sz="900" dirty="0"/>
          </a:p>
        </p:txBody>
      </p:sp>
      <p:sp>
        <p:nvSpPr>
          <p:cNvPr id="33" name="Shape 31"/>
          <p:cNvSpPr/>
          <p:nvPr/>
        </p:nvSpPr>
        <p:spPr>
          <a:xfrm>
            <a:off x="365760" y="3268980"/>
            <a:ext cx="8412480" cy="301752"/>
          </a:xfrm>
          <a:prstGeom prst="rect">
            <a:avLst/>
          </a:prstGeom>
          <a:solidFill>
            <a:srgbClr val="FFFFFF"/>
          </a:solidFill>
          <a:ln w="6350">
            <a:solidFill>
              <a:srgbClr val="CADCFC">
                <a:alpha val="30000"/>
              </a:srgbClr>
            </a:solidFill>
            <a:prstDash val="solid"/>
          </a:ln>
        </p:spPr>
        <p:txBody>
          <a:bodyPr/>
          <a:lstStyle/>
          <a:p>
            <a:endParaRPr lang="en-AU" dirty="0"/>
          </a:p>
        </p:txBody>
      </p:sp>
      <p:sp>
        <p:nvSpPr>
          <p:cNvPr id="34" name="Shape 32"/>
          <p:cNvSpPr/>
          <p:nvPr/>
        </p:nvSpPr>
        <p:spPr>
          <a:xfrm>
            <a:off x="365760" y="3332988"/>
            <a:ext cx="146304" cy="146304"/>
          </a:xfrm>
          <a:prstGeom prst="rect">
            <a:avLst/>
          </a:prstGeom>
          <a:solidFill>
            <a:srgbClr val="D97706"/>
          </a:solidFill>
          <a:ln w="12700">
            <a:solidFill>
              <a:srgbClr val="D97706"/>
            </a:solidFill>
            <a:prstDash val="solid"/>
          </a:ln>
        </p:spPr>
        <p:txBody>
          <a:bodyPr/>
          <a:lstStyle/>
          <a:p>
            <a:endParaRPr lang="en-AU"/>
          </a:p>
        </p:txBody>
      </p:sp>
      <p:sp>
        <p:nvSpPr>
          <p:cNvPr id="35" name="Text 33"/>
          <p:cNvSpPr/>
          <p:nvPr/>
        </p:nvSpPr>
        <p:spPr>
          <a:xfrm>
            <a:off x="640080" y="3268980"/>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Docker sandbox setup</a:t>
            </a:r>
            <a:endParaRPr lang="en-US" sz="1000" dirty="0"/>
          </a:p>
        </p:txBody>
      </p:sp>
      <p:sp>
        <p:nvSpPr>
          <p:cNvPr id="36" name="Text 34"/>
          <p:cNvSpPr/>
          <p:nvPr/>
        </p:nvSpPr>
        <p:spPr>
          <a:xfrm>
            <a:off x="6492240" y="3268980"/>
            <a:ext cx="2194560" cy="301752"/>
          </a:xfrm>
          <a:prstGeom prst="rect">
            <a:avLst/>
          </a:prstGeom>
          <a:noFill/>
          <a:ln/>
        </p:spPr>
        <p:txBody>
          <a:bodyPr wrap="square"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Pending (begin after approval)</a:t>
            </a:r>
            <a:endParaRPr lang="en-US" sz="900" dirty="0"/>
          </a:p>
        </p:txBody>
      </p:sp>
      <p:sp>
        <p:nvSpPr>
          <p:cNvPr id="37" name="Shape 35"/>
          <p:cNvSpPr/>
          <p:nvPr/>
        </p:nvSpPr>
        <p:spPr>
          <a:xfrm>
            <a:off x="365760" y="3598164"/>
            <a:ext cx="8412480" cy="301752"/>
          </a:xfrm>
          <a:prstGeom prst="rect">
            <a:avLst/>
          </a:prstGeom>
          <a:solidFill>
            <a:srgbClr val="F8FAFF"/>
          </a:solidFill>
          <a:ln w="6350">
            <a:solidFill>
              <a:srgbClr val="CADCFC">
                <a:alpha val="30000"/>
              </a:srgbClr>
            </a:solidFill>
            <a:prstDash val="solid"/>
          </a:ln>
        </p:spPr>
        <p:txBody>
          <a:bodyPr/>
          <a:lstStyle/>
          <a:p>
            <a:endParaRPr lang="en-AU"/>
          </a:p>
        </p:txBody>
      </p:sp>
      <p:sp>
        <p:nvSpPr>
          <p:cNvPr id="38" name="Shape 36"/>
          <p:cNvSpPr/>
          <p:nvPr/>
        </p:nvSpPr>
        <p:spPr>
          <a:xfrm>
            <a:off x="365760" y="3662172"/>
            <a:ext cx="146304" cy="146304"/>
          </a:xfrm>
          <a:prstGeom prst="rect">
            <a:avLst/>
          </a:prstGeom>
          <a:solidFill>
            <a:srgbClr val="D97706"/>
          </a:solidFill>
          <a:ln w="12700">
            <a:solidFill>
              <a:srgbClr val="D97706"/>
            </a:solidFill>
            <a:prstDash val="solid"/>
          </a:ln>
        </p:spPr>
        <p:txBody>
          <a:bodyPr/>
          <a:lstStyle/>
          <a:p>
            <a:endParaRPr lang="en-AU"/>
          </a:p>
        </p:txBody>
      </p:sp>
      <p:sp>
        <p:nvSpPr>
          <p:cNvPr id="39" name="Text 37"/>
          <p:cNvSpPr/>
          <p:nvPr/>
        </p:nvSpPr>
        <p:spPr>
          <a:xfrm>
            <a:off x="640080" y="3598164"/>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Air-gapped inference test (Ollama + GGUF)</a:t>
            </a:r>
            <a:endParaRPr lang="en-US" sz="1000" dirty="0"/>
          </a:p>
        </p:txBody>
      </p:sp>
      <p:sp>
        <p:nvSpPr>
          <p:cNvPr id="40" name="Text 38"/>
          <p:cNvSpPr/>
          <p:nvPr/>
        </p:nvSpPr>
        <p:spPr>
          <a:xfrm>
            <a:off x="6492240" y="3598164"/>
            <a:ext cx="2194560" cy="301752"/>
          </a:xfrm>
          <a:prstGeom prst="rect">
            <a:avLst/>
          </a:prstGeom>
          <a:noFill/>
          <a:ln/>
        </p:spPr>
        <p:txBody>
          <a:bodyPr wrap="square"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Pending</a:t>
            </a:r>
            <a:endParaRPr lang="en-US" sz="900" dirty="0"/>
          </a:p>
        </p:txBody>
      </p:sp>
      <p:sp>
        <p:nvSpPr>
          <p:cNvPr id="41" name="Shape 39"/>
          <p:cNvSpPr/>
          <p:nvPr/>
        </p:nvSpPr>
        <p:spPr>
          <a:xfrm>
            <a:off x="365760" y="3927348"/>
            <a:ext cx="8412480" cy="301752"/>
          </a:xfrm>
          <a:prstGeom prst="rect">
            <a:avLst/>
          </a:prstGeom>
          <a:solidFill>
            <a:srgbClr val="FFFFFF"/>
          </a:solidFill>
          <a:ln w="6350">
            <a:solidFill>
              <a:srgbClr val="CADCFC">
                <a:alpha val="30000"/>
              </a:srgbClr>
            </a:solidFill>
            <a:prstDash val="solid"/>
          </a:ln>
        </p:spPr>
        <p:txBody>
          <a:bodyPr/>
          <a:lstStyle/>
          <a:p>
            <a:endParaRPr lang="en-AU"/>
          </a:p>
        </p:txBody>
      </p:sp>
      <p:sp>
        <p:nvSpPr>
          <p:cNvPr id="42" name="Shape 40"/>
          <p:cNvSpPr/>
          <p:nvPr/>
        </p:nvSpPr>
        <p:spPr>
          <a:xfrm>
            <a:off x="365760" y="3991356"/>
            <a:ext cx="146304" cy="146304"/>
          </a:xfrm>
          <a:prstGeom prst="rect">
            <a:avLst/>
          </a:prstGeom>
          <a:solidFill>
            <a:srgbClr val="D97706"/>
          </a:solidFill>
          <a:ln w="12700">
            <a:solidFill>
              <a:srgbClr val="D97706"/>
            </a:solidFill>
            <a:prstDash val="solid"/>
          </a:ln>
        </p:spPr>
        <p:txBody>
          <a:bodyPr/>
          <a:lstStyle/>
          <a:p>
            <a:endParaRPr lang="en-AU"/>
          </a:p>
        </p:txBody>
      </p:sp>
      <p:sp>
        <p:nvSpPr>
          <p:cNvPr id="43" name="Text 41"/>
          <p:cNvSpPr/>
          <p:nvPr/>
        </p:nvSpPr>
        <p:spPr>
          <a:xfrm>
            <a:off x="640080" y="3927348"/>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Per-user isolation test (dual OpenWebUI profiles)</a:t>
            </a:r>
            <a:endParaRPr lang="en-US" sz="1000" dirty="0"/>
          </a:p>
        </p:txBody>
      </p:sp>
      <p:sp>
        <p:nvSpPr>
          <p:cNvPr id="44" name="Text 42"/>
          <p:cNvSpPr/>
          <p:nvPr/>
        </p:nvSpPr>
        <p:spPr>
          <a:xfrm>
            <a:off x="6492240" y="3927348"/>
            <a:ext cx="2194560" cy="301752"/>
          </a:xfrm>
          <a:prstGeom prst="rect">
            <a:avLst/>
          </a:prstGeom>
          <a:noFill/>
          <a:ln/>
        </p:spPr>
        <p:txBody>
          <a:bodyPr wrap="square"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Pending</a:t>
            </a:r>
            <a:endParaRPr lang="en-US" sz="900" dirty="0"/>
          </a:p>
        </p:txBody>
      </p:sp>
      <p:sp>
        <p:nvSpPr>
          <p:cNvPr id="45" name="Shape 43"/>
          <p:cNvSpPr/>
          <p:nvPr/>
        </p:nvSpPr>
        <p:spPr>
          <a:xfrm>
            <a:off x="365760" y="4256532"/>
            <a:ext cx="8412480" cy="301752"/>
          </a:xfrm>
          <a:prstGeom prst="rect">
            <a:avLst/>
          </a:prstGeom>
          <a:solidFill>
            <a:srgbClr val="F8FAFF"/>
          </a:solidFill>
          <a:ln w="6350">
            <a:solidFill>
              <a:srgbClr val="CADCFC">
                <a:alpha val="30000"/>
              </a:srgbClr>
            </a:solidFill>
            <a:prstDash val="solid"/>
          </a:ln>
        </p:spPr>
        <p:txBody>
          <a:bodyPr/>
          <a:lstStyle/>
          <a:p>
            <a:endParaRPr lang="en-AU"/>
          </a:p>
        </p:txBody>
      </p:sp>
      <p:sp>
        <p:nvSpPr>
          <p:cNvPr id="46" name="Shape 44"/>
          <p:cNvSpPr/>
          <p:nvPr/>
        </p:nvSpPr>
        <p:spPr>
          <a:xfrm>
            <a:off x="365760" y="4320540"/>
            <a:ext cx="146304" cy="146304"/>
          </a:xfrm>
          <a:prstGeom prst="rect">
            <a:avLst/>
          </a:prstGeom>
          <a:solidFill>
            <a:srgbClr val="D97706"/>
          </a:solidFill>
          <a:ln w="12700">
            <a:solidFill>
              <a:srgbClr val="D97706"/>
            </a:solidFill>
            <a:prstDash val="solid"/>
          </a:ln>
        </p:spPr>
        <p:txBody>
          <a:bodyPr/>
          <a:lstStyle/>
          <a:p>
            <a:endParaRPr lang="en-AU"/>
          </a:p>
        </p:txBody>
      </p:sp>
      <p:sp>
        <p:nvSpPr>
          <p:cNvPr id="47" name="Text 45"/>
          <p:cNvSpPr/>
          <p:nvPr/>
        </p:nvSpPr>
        <p:spPr>
          <a:xfrm>
            <a:off x="640080" y="4256532"/>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Prompt injection resilience testing</a:t>
            </a:r>
            <a:endParaRPr lang="en-US" sz="1000" dirty="0"/>
          </a:p>
        </p:txBody>
      </p:sp>
      <p:sp>
        <p:nvSpPr>
          <p:cNvPr id="48" name="Text 46"/>
          <p:cNvSpPr/>
          <p:nvPr/>
        </p:nvSpPr>
        <p:spPr>
          <a:xfrm>
            <a:off x="6492240" y="4256532"/>
            <a:ext cx="2194560" cy="301752"/>
          </a:xfrm>
          <a:prstGeom prst="rect">
            <a:avLst/>
          </a:prstGeom>
          <a:noFill/>
          <a:ln/>
        </p:spPr>
        <p:txBody>
          <a:bodyPr wrap="square"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Pending</a:t>
            </a:r>
            <a:endParaRPr lang="en-US" sz="900" dirty="0"/>
          </a:p>
        </p:txBody>
      </p:sp>
      <p:sp>
        <p:nvSpPr>
          <p:cNvPr id="49" name="Shape 47"/>
          <p:cNvSpPr/>
          <p:nvPr/>
        </p:nvSpPr>
        <p:spPr>
          <a:xfrm>
            <a:off x="365760" y="4585716"/>
            <a:ext cx="8412480" cy="301752"/>
          </a:xfrm>
          <a:prstGeom prst="rect">
            <a:avLst/>
          </a:prstGeom>
          <a:solidFill>
            <a:srgbClr val="FFFFFF"/>
          </a:solidFill>
          <a:ln w="6350">
            <a:solidFill>
              <a:srgbClr val="CADCFC">
                <a:alpha val="30000"/>
              </a:srgbClr>
            </a:solidFill>
            <a:prstDash val="solid"/>
          </a:ln>
        </p:spPr>
        <p:txBody>
          <a:bodyPr/>
          <a:lstStyle/>
          <a:p>
            <a:endParaRPr lang="en-AU"/>
          </a:p>
        </p:txBody>
      </p:sp>
      <p:sp>
        <p:nvSpPr>
          <p:cNvPr id="50" name="Shape 48"/>
          <p:cNvSpPr/>
          <p:nvPr/>
        </p:nvSpPr>
        <p:spPr>
          <a:xfrm>
            <a:off x="365760" y="4649724"/>
            <a:ext cx="146304" cy="146304"/>
          </a:xfrm>
          <a:prstGeom prst="rect">
            <a:avLst/>
          </a:prstGeom>
          <a:solidFill>
            <a:srgbClr val="D97706"/>
          </a:solidFill>
          <a:ln w="12700">
            <a:solidFill>
              <a:srgbClr val="D97706"/>
            </a:solidFill>
            <a:prstDash val="solid"/>
          </a:ln>
        </p:spPr>
        <p:txBody>
          <a:bodyPr/>
          <a:lstStyle/>
          <a:p>
            <a:endParaRPr lang="en-AU"/>
          </a:p>
        </p:txBody>
      </p:sp>
      <p:sp>
        <p:nvSpPr>
          <p:cNvPr id="51" name="Text 49"/>
          <p:cNvSpPr/>
          <p:nvPr/>
        </p:nvSpPr>
        <p:spPr>
          <a:xfrm>
            <a:off x="640080" y="4585716"/>
            <a:ext cx="5760720" cy="301752"/>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Skills whitelist &amp; internal registry policy</a:t>
            </a:r>
            <a:endParaRPr lang="en-US" sz="1000" dirty="0"/>
          </a:p>
        </p:txBody>
      </p:sp>
      <p:sp>
        <p:nvSpPr>
          <p:cNvPr id="52" name="Text 50"/>
          <p:cNvSpPr/>
          <p:nvPr/>
        </p:nvSpPr>
        <p:spPr>
          <a:xfrm>
            <a:off x="6492240" y="4585716"/>
            <a:ext cx="2194560" cy="301752"/>
          </a:xfrm>
          <a:prstGeom prst="rect">
            <a:avLst/>
          </a:prstGeom>
          <a:noFill/>
          <a:ln/>
        </p:spPr>
        <p:txBody>
          <a:bodyPr wrap="square" rtlCol="0" anchor="ctr"/>
          <a:lstStyle/>
          <a:p>
            <a:pPr marL="0" indent="0">
              <a:buNone/>
            </a:pPr>
            <a:r>
              <a:rPr lang="en-US" sz="900" i="1" dirty="0">
                <a:solidFill>
                  <a:srgbClr val="D97706"/>
                </a:solidFill>
                <a:latin typeface="Calibri" pitchFamily="34" charset="0"/>
                <a:ea typeface="Calibri" pitchFamily="34" charset="-122"/>
                <a:cs typeface="Calibri" pitchFamily="34" charset="-120"/>
              </a:rPr>
              <a:t>Pending</a:t>
            </a:r>
            <a:endParaRPr lang="en-US" sz="900" dirty="0"/>
          </a:p>
        </p:txBody>
      </p:sp>
      <p:sp>
        <p:nvSpPr>
          <p:cNvPr id="53" name="Shape 51"/>
          <p:cNvSpPr/>
          <p:nvPr/>
        </p:nvSpPr>
        <p:spPr>
          <a:xfrm>
            <a:off x="0" y="4892040"/>
            <a:ext cx="9144000" cy="251460"/>
          </a:xfrm>
          <a:prstGeom prst="rect">
            <a:avLst/>
          </a:prstGeom>
          <a:solidFill>
            <a:srgbClr val="1E2761"/>
          </a:solidFill>
          <a:ln w="12700">
            <a:solidFill>
              <a:srgbClr val="1E2761"/>
            </a:solidFill>
            <a:prstDash val="solid"/>
          </a:ln>
        </p:spPr>
        <p:txBody>
          <a:bodyPr/>
          <a:lstStyle/>
          <a:p>
            <a:endParaRPr lang="en-AU"/>
          </a:p>
        </p:txBody>
      </p:sp>
      <p:sp>
        <p:nvSpPr>
          <p:cNvPr id="54" name="Text 52"/>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AI Agent Evaluation Report  |  DSO National Laboratories</a:t>
            </a:r>
            <a:endParaRPr lang="en-US" sz="900" dirty="0"/>
          </a:p>
        </p:txBody>
      </p:sp>
    </p:spTree>
    <p:extLst>
      <p:ext uri="{BB962C8B-B14F-4D97-AF65-F5344CB8AC3E}">
        <p14:creationId xmlns:p14="http://schemas.microsoft.com/office/powerpoint/2010/main" val="54747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F1A45"/>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E2761"/>
          </a:solidFill>
          <a:ln w="12700">
            <a:solidFill>
              <a:srgbClr val="1E2761"/>
            </a:solidFill>
            <a:prstDash val="solid"/>
          </a:ln>
        </p:spPr>
        <p:txBody>
          <a:bodyPr/>
          <a:lstStyle/>
          <a:p>
            <a:endParaRPr lang="en-AU"/>
          </a:p>
        </p:txBody>
      </p:sp>
      <p:sp>
        <p:nvSpPr>
          <p:cNvPr id="3" name="Shape 1"/>
          <p:cNvSpPr/>
          <p:nvPr/>
        </p:nvSpPr>
        <p:spPr>
          <a:xfrm>
            <a:off x="3474720" y="0"/>
            <a:ext cx="64008" cy="5143500"/>
          </a:xfrm>
          <a:prstGeom prst="rect">
            <a:avLst/>
          </a:prstGeom>
          <a:solidFill>
            <a:srgbClr val="4F9CF9"/>
          </a:solidFill>
          <a:ln w="12700">
            <a:solidFill>
              <a:srgbClr val="4F9CF9"/>
            </a:solidFill>
            <a:prstDash val="solid"/>
          </a:ln>
        </p:spPr>
        <p:txBody>
          <a:bodyPr/>
          <a:lstStyle/>
          <a:p>
            <a:endParaRPr lang="en-AU"/>
          </a:p>
        </p:txBody>
      </p:sp>
      <p:sp>
        <p:nvSpPr>
          <p:cNvPr id="4" name="Text 2"/>
          <p:cNvSpPr/>
          <p:nvPr/>
        </p:nvSpPr>
        <p:spPr>
          <a:xfrm>
            <a:off x="320040" y="640080"/>
            <a:ext cx="2926080" cy="457200"/>
          </a:xfrm>
          <a:prstGeom prst="rect">
            <a:avLst/>
          </a:prstGeom>
          <a:noFill/>
          <a:ln/>
        </p:spPr>
        <p:txBody>
          <a:bodyPr wrap="square" rtlCol="0" anchor="ctr"/>
          <a:lstStyle/>
          <a:p>
            <a:pPr marL="0" indent="0">
              <a:buNone/>
            </a:pPr>
            <a:r>
              <a:rPr lang="en-US" sz="2200" b="1" dirty="0">
                <a:solidFill>
                  <a:srgbClr val="CADCFC"/>
                </a:solidFill>
                <a:latin typeface="Georgia" pitchFamily="34" charset="0"/>
                <a:ea typeface="Georgia" pitchFamily="34" charset="-122"/>
                <a:cs typeface="Georgia" pitchFamily="34" charset="-120"/>
              </a:rPr>
              <a:t>Summary</a:t>
            </a:r>
            <a:endParaRPr lang="en-US" sz="2200" dirty="0"/>
          </a:p>
        </p:txBody>
      </p:sp>
      <p:sp>
        <p:nvSpPr>
          <p:cNvPr id="5" name="Shape 3"/>
          <p:cNvSpPr/>
          <p:nvPr/>
        </p:nvSpPr>
        <p:spPr>
          <a:xfrm>
            <a:off x="320040" y="1143000"/>
            <a:ext cx="2194560" cy="36576"/>
          </a:xfrm>
          <a:prstGeom prst="rect">
            <a:avLst/>
          </a:prstGeom>
          <a:solidFill>
            <a:srgbClr val="4F9CF9"/>
          </a:solidFill>
          <a:ln w="12700">
            <a:solidFill>
              <a:srgbClr val="4F9CF9"/>
            </a:solidFill>
            <a:prstDash val="solid"/>
          </a:ln>
        </p:spPr>
        <p:txBody>
          <a:bodyPr/>
          <a:lstStyle/>
          <a:p>
            <a:endParaRPr lang="en-AU"/>
          </a:p>
        </p:txBody>
      </p:sp>
      <p:sp>
        <p:nvSpPr>
          <p:cNvPr id="6" name="Text 4"/>
          <p:cNvSpPr/>
          <p:nvPr/>
        </p:nvSpPr>
        <p:spPr>
          <a:xfrm>
            <a:off x="320040" y="1280160"/>
            <a:ext cx="2971800" cy="594360"/>
          </a:xfrm>
          <a:prstGeom prst="rect">
            <a:avLst/>
          </a:prstGeom>
          <a:noFill/>
          <a:ln/>
        </p:spPr>
        <p:txBody>
          <a:bodyPr wrap="square" rtlCol="0" anchor="ctr"/>
          <a:lstStyle/>
          <a:p>
            <a:pPr marL="0" indent="0">
              <a:buNone/>
            </a:pPr>
            <a:r>
              <a:rPr lang="en-US" sz="950" b="1" dirty="0">
                <a:solidFill>
                  <a:srgbClr val="4F9CF9"/>
                </a:solidFill>
                <a:latin typeface="Calibri" pitchFamily="34" charset="0"/>
                <a:ea typeface="Calibri" pitchFamily="34" charset="-122"/>
                <a:cs typeface="Calibri" pitchFamily="34" charset="-120"/>
              </a:rPr>
              <a:t>— </a:t>
            </a:r>
            <a:r>
              <a:rPr lang="en-US" sz="950" dirty="0">
                <a:solidFill>
                  <a:srgbClr val="FFFFFF"/>
                </a:solidFill>
                <a:latin typeface="Calibri" pitchFamily="34" charset="0"/>
                <a:ea typeface="Calibri" pitchFamily="34" charset="-122"/>
                <a:cs typeface="Calibri" pitchFamily="34" charset="-120"/>
              </a:rPr>
              <a:t>Hermes Agent selected as the preferred platform for DSO's agent-based workflow automation.</a:t>
            </a:r>
            <a:endParaRPr lang="en-US" sz="950" dirty="0"/>
          </a:p>
        </p:txBody>
      </p:sp>
      <p:sp>
        <p:nvSpPr>
          <p:cNvPr id="7" name="Text 5"/>
          <p:cNvSpPr/>
          <p:nvPr/>
        </p:nvSpPr>
        <p:spPr>
          <a:xfrm>
            <a:off x="320040" y="1965960"/>
            <a:ext cx="2971800" cy="594360"/>
          </a:xfrm>
          <a:prstGeom prst="rect">
            <a:avLst/>
          </a:prstGeom>
          <a:noFill/>
          <a:ln/>
        </p:spPr>
        <p:txBody>
          <a:bodyPr wrap="square" rtlCol="0" anchor="ctr"/>
          <a:lstStyle/>
          <a:p>
            <a:pPr marL="0" indent="0">
              <a:buNone/>
            </a:pPr>
            <a:r>
              <a:rPr lang="en-US" sz="950" b="1" dirty="0">
                <a:solidFill>
                  <a:srgbClr val="4F9CF9"/>
                </a:solidFill>
                <a:latin typeface="Calibri" pitchFamily="34" charset="0"/>
                <a:ea typeface="Calibri" pitchFamily="34" charset="-122"/>
                <a:cs typeface="Calibri" pitchFamily="34" charset="-120"/>
              </a:rPr>
              <a:t>— </a:t>
            </a:r>
            <a:r>
              <a:rPr lang="en-US" sz="950" dirty="0">
                <a:solidFill>
                  <a:srgbClr val="FFFFFF"/>
                </a:solidFill>
                <a:latin typeface="Calibri" pitchFamily="34" charset="0"/>
                <a:ea typeface="Calibri" pitchFamily="34" charset="-122"/>
                <a:cs typeface="Calibri" pitchFamily="34" charset="-120"/>
              </a:rPr>
              <a:t>Its defence-in-depth architecture provides structurally enforced security — not reliant on configuration discipline.</a:t>
            </a:r>
            <a:endParaRPr lang="en-US" sz="950" dirty="0"/>
          </a:p>
        </p:txBody>
      </p:sp>
      <p:sp>
        <p:nvSpPr>
          <p:cNvPr id="8" name="Text 6"/>
          <p:cNvSpPr/>
          <p:nvPr/>
        </p:nvSpPr>
        <p:spPr>
          <a:xfrm>
            <a:off x="320040" y="2651760"/>
            <a:ext cx="2971800" cy="594360"/>
          </a:xfrm>
          <a:prstGeom prst="rect">
            <a:avLst/>
          </a:prstGeom>
          <a:noFill/>
          <a:ln/>
        </p:spPr>
        <p:txBody>
          <a:bodyPr wrap="square" rtlCol="0" anchor="ctr"/>
          <a:lstStyle/>
          <a:p>
            <a:pPr marL="0" indent="0">
              <a:buNone/>
            </a:pPr>
            <a:r>
              <a:rPr lang="en-US" sz="950" b="1" dirty="0">
                <a:solidFill>
                  <a:srgbClr val="4F9CF9"/>
                </a:solidFill>
                <a:latin typeface="Calibri" pitchFamily="34" charset="0"/>
                <a:ea typeface="Calibri" pitchFamily="34" charset="-122"/>
                <a:cs typeface="Calibri" pitchFamily="34" charset="-120"/>
              </a:rPr>
              <a:t>— </a:t>
            </a:r>
            <a:r>
              <a:rPr lang="en-US" sz="950" dirty="0">
                <a:solidFill>
                  <a:srgbClr val="FFFFFF"/>
                </a:solidFill>
                <a:latin typeface="Calibri" pitchFamily="34" charset="0"/>
                <a:ea typeface="Calibri" pitchFamily="34" charset="-122"/>
                <a:cs typeface="Calibri" pitchFamily="34" charset="-120"/>
              </a:rPr>
              <a:t>Air-gapped, per-user isolated, and natively integrated with OpenWebUI — all hard requirements for DSO are met.</a:t>
            </a:r>
            <a:endParaRPr lang="en-US" sz="950" dirty="0"/>
          </a:p>
        </p:txBody>
      </p:sp>
      <p:sp>
        <p:nvSpPr>
          <p:cNvPr id="9" name="Text 7"/>
          <p:cNvSpPr/>
          <p:nvPr/>
        </p:nvSpPr>
        <p:spPr>
          <a:xfrm>
            <a:off x="320040" y="3337560"/>
            <a:ext cx="2971800" cy="594360"/>
          </a:xfrm>
          <a:prstGeom prst="rect">
            <a:avLst/>
          </a:prstGeom>
          <a:noFill/>
          <a:ln/>
        </p:spPr>
        <p:txBody>
          <a:bodyPr wrap="square" rtlCol="0" anchor="ctr"/>
          <a:lstStyle/>
          <a:p>
            <a:pPr marL="0" indent="0">
              <a:buNone/>
            </a:pPr>
            <a:r>
              <a:rPr lang="en-US" sz="950" b="1" dirty="0">
                <a:solidFill>
                  <a:srgbClr val="4F9CF9"/>
                </a:solidFill>
                <a:latin typeface="Calibri" pitchFamily="34" charset="0"/>
                <a:ea typeface="Calibri" pitchFamily="34" charset="-122"/>
                <a:cs typeface="Calibri" pitchFamily="34" charset="-120"/>
              </a:rPr>
              <a:t>— </a:t>
            </a:r>
            <a:r>
              <a:rPr lang="en-US" sz="950" dirty="0">
                <a:solidFill>
                  <a:srgbClr val="FFFFFF"/>
                </a:solidFill>
                <a:latin typeface="Calibri" pitchFamily="34" charset="0"/>
                <a:ea typeface="Calibri" pitchFamily="34" charset="-122"/>
                <a:cs typeface="Calibri" pitchFamily="34" charset="-120"/>
              </a:rPr>
              <a:t>OpenClaw remains viable for future low-sensitivity use cases pending its security maturity trajectory.</a:t>
            </a:r>
            <a:endParaRPr lang="en-US" sz="950" dirty="0"/>
          </a:p>
        </p:txBody>
      </p:sp>
      <p:sp>
        <p:nvSpPr>
          <p:cNvPr id="10" name="Text 8"/>
          <p:cNvSpPr/>
          <p:nvPr/>
        </p:nvSpPr>
        <p:spPr>
          <a:xfrm>
            <a:off x="320040" y="4023360"/>
            <a:ext cx="2971800" cy="594360"/>
          </a:xfrm>
          <a:prstGeom prst="rect">
            <a:avLst/>
          </a:prstGeom>
          <a:noFill/>
          <a:ln/>
        </p:spPr>
        <p:txBody>
          <a:bodyPr wrap="square" rtlCol="0" anchor="ctr"/>
          <a:lstStyle/>
          <a:p>
            <a:pPr marL="0" indent="0">
              <a:buNone/>
            </a:pPr>
            <a:endParaRPr lang="en-US" sz="950" dirty="0"/>
          </a:p>
        </p:txBody>
      </p:sp>
      <p:sp>
        <p:nvSpPr>
          <p:cNvPr id="11" name="Text 9"/>
          <p:cNvSpPr/>
          <p:nvPr/>
        </p:nvSpPr>
        <p:spPr>
          <a:xfrm>
            <a:off x="3840480" y="640080"/>
            <a:ext cx="5029200" cy="64008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Prepared by: Tan Dan Feng</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26 May 2026</a:t>
            </a:r>
            <a:endParaRPr lang="en-US" sz="1200" dirty="0"/>
          </a:p>
        </p:txBody>
      </p:sp>
      <p:sp>
        <p:nvSpPr>
          <p:cNvPr id="12" name="Text 10"/>
          <p:cNvSpPr/>
          <p:nvPr/>
        </p:nvSpPr>
        <p:spPr>
          <a:xfrm>
            <a:off x="3840480" y="1463040"/>
            <a:ext cx="5029200" cy="77724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13" name="Shape 11"/>
          <p:cNvSpPr/>
          <p:nvPr/>
        </p:nvSpPr>
        <p:spPr>
          <a:xfrm>
            <a:off x="3840480" y="2286000"/>
            <a:ext cx="4114800" cy="36576"/>
          </a:xfrm>
          <a:prstGeom prst="rect">
            <a:avLst/>
          </a:prstGeom>
          <a:solidFill>
            <a:srgbClr val="4F9CF9"/>
          </a:solidFill>
          <a:ln w="12700">
            <a:solidFill>
              <a:srgbClr val="4F9CF9"/>
            </a:solidFill>
            <a:prstDash val="solid"/>
          </a:ln>
        </p:spPr>
        <p:txBody>
          <a:bodyPr/>
          <a:lstStyle/>
          <a:p>
            <a:endParaRPr lang="en-AU"/>
          </a:p>
        </p:txBody>
      </p:sp>
      <p:sp>
        <p:nvSpPr>
          <p:cNvPr id="14" name="Text 12"/>
          <p:cNvSpPr/>
          <p:nvPr/>
        </p:nvSpPr>
        <p:spPr>
          <a:xfrm>
            <a:off x="3840480" y="2395728"/>
            <a:ext cx="50292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Questions &amp; Discussion</a:t>
            </a:r>
            <a:endParaRPr lang="en-US" sz="1400" dirty="0"/>
          </a:p>
        </p:txBody>
      </p:sp>
      <p:sp>
        <p:nvSpPr>
          <p:cNvPr id="15" name="Text 13"/>
          <p:cNvSpPr/>
          <p:nvPr/>
        </p:nvSpPr>
        <p:spPr>
          <a:xfrm>
            <a:off x="3840480" y="2926080"/>
            <a:ext cx="5029200" cy="64008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DSO National Laboratories</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AI Agent Evaluation Report v4 — May 2026</a:t>
            </a:r>
            <a:endParaRPr lang="en-US" sz="1000" dirty="0"/>
          </a:p>
        </p:txBody>
      </p:sp>
      <p:sp>
        <p:nvSpPr>
          <p:cNvPr id="16" name="Text 14"/>
          <p:cNvSpPr/>
          <p:nvPr/>
        </p:nvSpPr>
        <p:spPr>
          <a:xfrm>
            <a:off x="3840480" y="3840480"/>
            <a:ext cx="5029200" cy="274320"/>
          </a:xfrm>
          <a:prstGeom prst="rect">
            <a:avLst/>
          </a:prstGeom>
          <a:noFill/>
          <a:ln/>
        </p:spPr>
        <p:txBody>
          <a:bodyPr wrap="square" rtlCol="0" anchor="ctr"/>
          <a:lstStyle/>
          <a:p>
            <a:pPr marL="0" indent="0">
              <a:buNone/>
            </a:pPr>
            <a:r>
              <a:rPr lang="en-US" sz="900" i="1" dirty="0">
                <a:solidFill>
                  <a:srgbClr val="4F9CF9"/>
                </a:solidFill>
                <a:latin typeface="Calibri" pitchFamily="34" charset="0"/>
                <a:ea typeface="Calibri" pitchFamily="34" charset="-122"/>
                <a:cs typeface="Calibri" pitchFamily="34" charset="-120"/>
              </a:rPr>
              <a:t>OFFICIAL (OPEN) • SENSITIVE NORMAL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409</TotalTime>
  <Words>4788</Words>
  <Application>Microsoft Office PowerPoint</Application>
  <PresentationFormat>On-screen Show (16:9)</PresentationFormat>
  <Paragraphs>549</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 Evaluation Report: Hermes Agent vs OpenClaw</dc:title>
  <dc:subject>PptxGenJS Presentation</dc:subject>
  <dc:creator>PptxGenJS</dc:creator>
  <cp:lastModifiedBy>Tan Dan Feng (IA)</cp:lastModifiedBy>
  <cp:revision>3</cp:revision>
  <dcterms:created xsi:type="dcterms:W3CDTF">2026-05-27T22:55:56Z</dcterms:created>
  <dcterms:modified xsi:type="dcterms:W3CDTF">2026-05-28T05:47:31Z</dcterms:modified>
</cp:coreProperties>
</file>